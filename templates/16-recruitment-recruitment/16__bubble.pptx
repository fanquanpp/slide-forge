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示例系列（右键→编辑数据）</c:v>
                </c:pt>
              </c:strCache>
            </c:strRef>
          </c:tx>
          <c:spPr>
            <a:solidFill>
              <a:srgbClr val="FF5FA2"/>
            </a:solidFill>
          </c:spPr>
          <c:cat>
            <c:strRef>
              <c:f>Sheet1!$A$2:$A$7</c:f>
              <c:strCache>
                <c:ptCount val="6"/>
                <c:pt idx="0">
                  <c:v>指标一</c:v>
                </c:pt>
                <c:pt idx="1">
                  <c:v>指标二</c:v>
                </c:pt>
                <c:pt idx="2">
                  <c:v>指标三</c:v>
                </c:pt>
                <c:pt idx="3">
                  <c:v>指标四</c:v>
                </c:pt>
                <c:pt idx="4">
                  <c:v>指标五</c:v>
                </c:pt>
                <c:pt idx="5">
                  <c:v>指标六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55</c:v>
                </c:pt>
                <c:pt idx="1">
                  <c:v>80</c:v>
                </c:pt>
                <c:pt idx="2">
                  <c:v>45</c:v>
                </c:pt>
                <c:pt idx="3">
                  <c:v>95</c:v>
                </c:pt>
                <c:pt idx="4">
                  <c:v>70</c:v>
                </c:pt>
                <c:pt idx="5">
                  <c:v>60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【页面定位】招新宣讲与纳新 —— 开场页：自我介绍或破题，停留时间可稍长。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【页面定位】OVERVIEW —— 概览页：快速带过结构，告诉听众接下来讲什么。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【页面定位】01 —— 内容页：逐条展开，配合动画节奏点击推进。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【页面定位】OVERVIEW —— 数据页：先说结论，再用图表佐证。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【页面定位】KEY POINTS —— 收尾页：总结要点并给出行动号召或联系方式。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【页面定位】METRICS —— 开场页：自我介绍或破题，停留时间可稍长。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【页面定位】PROCESS —— 概览页：快速带过结构，告诉听众接下来讲什么。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【页面定位】PROCESS —— 内容页：逐条展开，配合动画节奏点击推进。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【页面定位】DATA —— 数据页：先说结论，再用图表佐证。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【页面定位】DATA —— 收尾页：总结要点并给出行动号召或联系方式。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【页面定位】KEY POINTS —— 开场页：自我介绍或破题，停留时间可稍长。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【页面定位】02 —— 概览页：快速带过结构，告诉听众接下来讲什么。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【页面定位】在此输入一句招新口号。 —— 内容页：逐条展开，配合动画节奏点击推进。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【页面定位】TEAM —— 数据页：先说结论，再用图表佐证。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【页面定位】STEPS —— 收尾页：总结要点并给出行动号召或联系方式。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【页面定位】GLOSSARY —— 开场页：自我介绍或破题，停留时间可稍长。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【页面定位】HIGHLIGHT —— 概览页：快速带过结构，告诉听众接下来讲什么。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【页面定位】谢谢观看 —— 内容页：逐条展开，配合动画节奏点击推进。</a:t>
            </a:r>
          </a:p>
          <a:p>
            <a:r>
              <a:t>【放映】本页元素按“背景→主体→标注”顺序错峰入场（约 2 秒完成）；开启“使用计时器”后本页停留 8 秒自动翻页。</a:t>
            </a:r>
          </a:p>
          <a:p>
            <a:r>
              <a:t>【编辑】直接点击文本框替换占位文字；在“设计→变体”中一键换配色；图片占位框右键“更改图片”即可替换。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914400"/>
            <a:ext cx="2926080" cy="2926080"/>
          </a:xfrm>
          <a:prstGeom prst="ellipse">
            <a:avLst/>
          </a:prstGeom>
          <a:solidFill>
            <a:srgbClr val="FF5FA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81360" y="1371600"/>
            <a:ext cx="1920240" cy="1920240"/>
          </a:xfrm>
          <a:prstGeom prst="ellipse">
            <a:avLst/>
          </a:prstGeom>
          <a:solidFill>
            <a:srgbClr val="FFD24D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418320" y="2926080"/>
            <a:ext cx="1371600" cy="1371600"/>
          </a:xfrm>
          <a:prstGeom prst="rect">
            <a:avLst/>
          </a:prstGeom>
          <a:solidFill>
            <a:srgbClr val="3EC6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874519"/>
            <a:ext cx="822960" cy="91440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96926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44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招新宣讲与纳新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94760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招新宣讲与纳新 · 在此输入副标题 / 项目名称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3949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团队 / 姓名  ·  YYYY-MM-DD</a:t>
            </a:r>
          </a:p>
        </p:txBody>
      </p:sp>
    </p:spTree>
  </p:cSld>
  <p:clrMapOvr>
    <a:masterClrMapping/>
  </p:clrMapOvr>
  <p:transition spd="med" advClick="1" advTm="8000">
    <p:split orient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4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2" presetClass="entr" presetSubtype="8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37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9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52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1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1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3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2" presetClass="entr" presetSubtype="4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5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9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目录 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2430703" cy="219456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社团介绍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7983" y="2377440"/>
            <a:ext cx="2430703" cy="219456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8023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8023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部门与岗位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2377440"/>
            <a:ext cx="2430703" cy="219456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047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成长路径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38031" y="2377440"/>
            <a:ext cx="2430703" cy="219456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58071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8071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报名方式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泡泡堂风  ·  Bubble Pop</a:t>
            </a:r>
          </a:p>
        </p:txBody>
      </p:sp>
    </p:spTree>
  </p:cSld>
  <p:clrMapOvr>
    <a:masterClrMapping/>
  </p:clrMapOvr>
  <p:transition spd="med" advClick="1" advTm="8000">
    <p:blinds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2" presetClass="entr" presetSubtype="8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37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52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1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2" presetClass="entr" presetSubtype="4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3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9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22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7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18" presetClass="entr" presetSubtype="1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9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22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1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42" presetClass="entr" presetSubtype="1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3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43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5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21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7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10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9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2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31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914400"/>
            <a:ext cx="2926080" cy="2926080"/>
          </a:xfrm>
          <a:prstGeom prst="ellipse">
            <a:avLst/>
          </a:prstGeom>
          <a:solidFill>
            <a:srgbClr val="FF5FA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81360" y="1371600"/>
            <a:ext cx="1920240" cy="1920240"/>
          </a:xfrm>
          <a:prstGeom prst="ellipse">
            <a:avLst/>
          </a:prstGeom>
          <a:solidFill>
            <a:srgbClr val="FFD24D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418320" y="2926080"/>
            <a:ext cx="1371600" cy="1371600"/>
          </a:xfrm>
          <a:prstGeom prst="rect">
            <a:avLst/>
          </a:prstGeom>
          <a:solidFill>
            <a:srgbClr val="3EC6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1F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社团介绍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泡泡堂风  ·  Bubble Pop</a:t>
            </a:r>
          </a:p>
        </p:txBody>
      </p:sp>
    </p:spTree>
  </p:cSld>
  <p:clrMapOvr>
    <a:masterClrMapping/>
  </p:clrMapOvr>
  <p:transition spd="med" advClick="1" advTm="8000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37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52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1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9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2" presetClass="entr" presetSubtype="4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1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9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22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5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18" presetClass="entr" presetSubtype="1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7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22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9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42" presetClass="entr" presetSubtype="1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1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社团介绍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424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在此输入「社团介绍」的要点一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在此输入「社团介绍」的要点二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在此输入「社团介绍」的要点三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在此输入「社团介绍」的要点四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泡泡堂风  ·  Bubble Pop</a:t>
            </a:r>
          </a:p>
        </p:txBody>
      </p:sp>
    </p:spTree>
  </p:cSld>
  <p:clrMapOvr>
    <a:masterClrMapping/>
  </p:clrMapOvr>
  <p:transition spd="med" advClick="1" advTm="8000">
    <p:comb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52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21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2" presetClass="entr" presetSubtype="4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9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2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18" presetClass="entr" presetSubtype="1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5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部门与岗位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384048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5029200" cy="109728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A · 社团介绍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5029200" cy="384048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103120"/>
            <a:ext cx="5029200" cy="109728"/>
          </a:xfrm>
          <a:prstGeom prst="rect">
            <a:avLst/>
          </a:prstGeom>
          <a:solidFill>
            <a:srgbClr val="3EC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B · 部门与岗位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3EC6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3EC6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3EC6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4" name="Oval 13"/>
          <p:cNvSpPr/>
          <p:nvPr/>
        </p:nvSpPr>
        <p:spPr>
          <a:xfrm>
            <a:off x="5711799" y="3703320"/>
            <a:ext cx="768096" cy="768096"/>
          </a:xfrm>
          <a:prstGeom prst="ellipse">
            <a:avLst/>
          </a:prstGeom>
          <a:solidFill>
            <a:srgbClr val="1F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1799" y="3703320"/>
            <a:ext cx="7680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DF8"/>
                </a:solidFill>
                <a:latin typeface="Segoe UI"/>
                <a:ea typeface="微软雅黑"/>
                <a:cs typeface="微软雅黑"/>
              </a:rPr>
              <a:t>VS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泡泡堂风  ·  Bubble Pop</a:t>
            </a:r>
          </a:p>
        </p:txBody>
      </p:sp>
    </p:spTree>
  </p:cSld>
  <p:clrMapOvr>
    <a:masterClrMapping/>
  </p:clrMapOvr>
  <p:transition spd="med" advClick="1" advTm="8000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21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2" presetClass="entr" presetSubtype="4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9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2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18" presetClass="entr" presetSubtype="1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2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5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42" presetClass="entr" presetSubtype="1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7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43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9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21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1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10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3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2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5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4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7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22" presetClass="entr" presetSubtype="8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9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37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31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关键数据一览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430703" cy="388620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79"/>
            <a:ext cx="457200" cy="54864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指标一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7983" y="2103120"/>
            <a:ext cx="2430703" cy="388620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8023" y="2468879"/>
            <a:ext cx="457200" cy="54864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8023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023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指标二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23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30703" cy="388620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3047" y="2468879"/>
            <a:ext cx="457200" cy="54864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指标三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8031" y="2103120"/>
            <a:ext cx="2430703" cy="388620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8071" y="2468879"/>
            <a:ext cx="457200" cy="54864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指标四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泡泡堂风  ·  Bubble Pop</a:t>
            </a:r>
          </a:p>
        </p:txBody>
      </p:sp>
    </p:spTree>
  </p:cSld>
  <p:clrMapOvr>
    <a:masterClrMapping/>
  </p:clrMapOvr>
  <p:transition spd="med" advClick="1" advTm="8000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2" presetClass="entr" presetSubtype="4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9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2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18" presetClass="entr" presetSubtype="1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2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3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42" presetClass="entr" presetSubtype="1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5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43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71" dur="45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21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9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10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1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2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3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4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51" dur="45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22" presetClass="entr" presetSubtype="8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7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37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9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52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311" dur="81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排期 / 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34440" y="3063240"/>
            <a:ext cx="9722815" cy="0"/>
          </a:xfrm>
          <a:prstGeom prst="line">
            <a:avLst/>
          </a:prstGeom>
          <a:ln w="25400">
            <a:solidFill>
              <a:srgbClr val="F0E9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8136" y="2916936"/>
            <a:ext cx="292608" cy="292608"/>
          </a:xfrm>
          <a:prstGeom prst="ellipse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社团介绍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Oval 10"/>
          <p:cNvSpPr/>
          <p:nvPr/>
        </p:nvSpPr>
        <p:spPr>
          <a:xfrm>
            <a:off x="4329074" y="2916936"/>
            <a:ext cx="292608" cy="292608"/>
          </a:xfrm>
          <a:prstGeom prst="ellipse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9618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0978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部门与岗位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0978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5" name="Oval 14"/>
          <p:cNvSpPr/>
          <p:nvPr/>
        </p:nvSpPr>
        <p:spPr>
          <a:xfrm>
            <a:off x="7570012" y="2916936"/>
            <a:ext cx="292608" cy="292608"/>
          </a:xfrm>
          <a:prstGeom prst="ellipse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0556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1916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成长路径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1916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9" name="Oval 18"/>
          <p:cNvSpPr/>
          <p:nvPr/>
        </p:nvSpPr>
        <p:spPr>
          <a:xfrm>
            <a:off x="10810951" y="2916936"/>
            <a:ext cx="292608" cy="292608"/>
          </a:xfrm>
          <a:prstGeom prst="ellipse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91495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报名方式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泡泡堂风  ·  Bubble Pop</a:t>
            </a:r>
          </a:p>
        </p:txBody>
      </p:sp>
    </p:spTree>
  </p:cSld>
  <p:clrMapOvr>
    <a:masterClrMapping/>
  </p:clrMapOvr>
  <p:transition spd="med" advClick="1" advTm="8000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9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2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18" presetClass="entr" presetSubtype="1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2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1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42" presetClass="entr" presetSubtype="1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3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43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5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21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71" dur="57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10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9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2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1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4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22" presetClass="entr" presetSubtype="8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5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37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7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52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91" dur="81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21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3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工作流程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F5FA2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宣讲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241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16553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7721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报名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9835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0147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F5FA2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5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面试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3429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3741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4909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入社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泡泡堂风  ·  Bubble Pop</a:t>
            </a:r>
          </a:p>
        </p:txBody>
      </p:sp>
    </p:spTree>
  </p:cSld>
  <p:clrMapOvr>
    <a:masterClrMapping/>
  </p:clrMapOvr>
  <p:transition spd="med" advClick="1" advTm="8000">
    <p:checker dir="across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2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18" presetClass="entr" presetSubtype="1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2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42" presetClass="entr" presetSubtype="1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43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3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1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5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10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7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2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9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4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1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22" presetClass="entr" presetSubtype="8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3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37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5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52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7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21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9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22" presetClass="entr" presetSubtype="4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31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数据图表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7680960" cy="388620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1188720" y="2331720"/>
          <a:ext cx="5852160" cy="3429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280160" y="562356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原生可编辑图表 · 右键图表 → 编辑数据 即可替换数值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关键结论 / 解读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274320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泡泡堂风  ·  Bubble Pop</a:t>
            </a:r>
          </a:p>
        </p:txBody>
      </p:sp>
    </p:spTree>
  </p:cSld>
  <p:clrMapOvr>
    <a:masterClrMapping/>
  </p:clrMapOvr>
  <p:transition spd="med" advClick="1" advTm="8000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18" presetClass="entr" presetSubtype="1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2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42" presetClass="entr" presetSubtype="1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43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1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3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10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5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7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4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9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22" presetClass="entr" presetSubtype="8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1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37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3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明细表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40080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098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6356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22960" y="2788920"/>
            <a:ext cx="10545775" cy="0"/>
          </a:xfrm>
          <a:prstGeom prst="line">
            <a:avLst/>
          </a:prstGeom>
          <a:ln w="7620">
            <a:solidFill>
              <a:srgbClr val="F0E9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项一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429000"/>
            <a:ext cx="10545775" cy="0"/>
          </a:xfrm>
          <a:prstGeom prst="line">
            <a:avLst/>
          </a:prstGeom>
          <a:ln w="7620">
            <a:solidFill>
              <a:srgbClr val="F0E9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项二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69079"/>
            <a:ext cx="105457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" y="4069079"/>
            <a:ext cx="10545775" cy="0"/>
          </a:xfrm>
          <a:prstGeom prst="line">
            <a:avLst/>
          </a:prstGeom>
          <a:ln w="7620">
            <a:solidFill>
              <a:srgbClr val="F0E9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项三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6356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泡泡堂风  ·  Bubble Pop</a:t>
            </a:r>
          </a:p>
        </p:txBody>
      </p:sp>
    </p:spTree>
  </p:cSld>
  <p:clrMapOvr>
    <a:masterClrMapping/>
  </p:clrMapOvr>
  <p:transition spd="med" advClick="1" advTm="8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2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42" presetClass="entr" presetSubtype="1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43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1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10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5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4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7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22" presetClass="entr" presetSubtype="8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9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37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1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52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3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21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5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22" presetClass="entr" presetSubtype="4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7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9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9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22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1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图集 / 案例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9F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作品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9F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作品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6356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9F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6356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作品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9F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作品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9658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9F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658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作品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356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9F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作品 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泡泡堂风  ·  Bubble Pop</a:t>
            </a:r>
          </a:p>
        </p:txBody>
      </p:sp>
    </p:spTree>
  </p:cSld>
  <p:clrMapOvr>
    <a:masterClrMapping/>
  </p:clrMapOvr>
  <p:transition spd="med" advClick="1" advTm="8000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42" presetClass="entr" presetSubtype="1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43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1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10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3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4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5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22" presetClass="entr" presetSubtype="8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7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37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9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52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1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21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3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22" presetClass="entr" presetSubtype="4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5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9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22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9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18" presetClass="entr" presetSubtype="1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31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914400"/>
            <a:ext cx="2926080" cy="2926080"/>
          </a:xfrm>
          <a:prstGeom prst="ellipse">
            <a:avLst/>
          </a:prstGeom>
          <a:solidFill>
            <a:srgbClr val="FF5FA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81360" y="1371600"/>
            <a:ext cx="1920240" cy="1920240"/>
          </a:xfrm>
          <a:prstGeom prst="ellipse">
            <a:avLst/>
          </a:prstGeom>
          <a:solidFill>
            <a:srgbClr val="FFD24D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418320" y="2926080"/>
            <a:ext cx="1371600" cy="1371600"/>
          </a:xfrm>
          <a:prstGeom prst="rect">
            <a:avLst/>
          </a:prstGeom>
          <a:solidFill>
            <a:srgbClr val="3EC6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1F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成长路径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泡泡堂风  ·  Bubble Pop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43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21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10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9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1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4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2" presetClass="entr" presetSubtype="8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37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7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52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9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21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1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914400"/>
            <a:ext cx="2926080" cy="2926080"/>
          </a:xfrm>
          <a:prstGeom prst="ellipse">
            <a:avLst/>
          </a:prstGeom>
          <a:solidFill>
            <a:srgbClr val="FF5FA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81360" y="1371600"/>
            <a:ext cx="1920240" cy="1920240"/>
          </a:xfrm>
          <a:prstGeom prst="ellipse">
            <a:avLst/>
          </a:prstGeom>
          <a:solidFill>
            <a:srgbClr val="FFD24D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418320" y="2926080"/>
            <a:ext cx="1371600" cy="1371600"/>
          </a:xfrm>
          <a:prstGeom prst="rect">
            <a:avLst/>
          </a:prstGeom>
          <a:solidFill>
            <a:srgbClr val="3EC6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6517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600" b="0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在此输入一句招新口号。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4754880"/>
            <a:ext cx="566928" cy="54864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4937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— 署名 / 出处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泡泡堂风  ·  Bubble Pop</a:t>
            </a:r>
          </a:p>
        </p:txBody>
      </p:sp>
    </p:spTree>
  </p:cSld>
  <p:clrMapOvr>
    <a:masterClrMapping/>
  </p:clrMapOvr>
  <p:transition spd="med" advClick="1" advTm="800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21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10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9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4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1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2" presetClass="entr" presetSubtype="8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3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37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5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52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7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21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9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22" presetClass="entr" presetSubtype="4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1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团队 / 分工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301898" cy="329184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9549" y="2697480"/>
            <a:ext cx="1188720" cy="1188720"/>
          </a:xfrm>
          <a:prstGeom prst="ellipse">
            <a:avLst/>
          </a:prstGeom>
          <a:solidFill>
            <a:srgbClr val="F0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9549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角色一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329184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01487" y="2697480"/>
            <a:ext cx="1188720" cy="1188720"/>
          </a:xfrm>
          <a:prstGeom prst="ellipse">
            <a:avLst/>
          </a:prstGeom>
          <a:solidFill>
            <a:srgbClr val="F0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1487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角色二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286000"/>
            <a:ext cx="3301898" cy="329184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23426" y="2697480"/>
            <a:ext cx="1188720" cy="1188720"/>
          </a:xfrm>
          <a:prstGeom prst="ellipse">
            <a:avLst/>
          </a:prstGeom>
          <a:solidFill>
            <a:srgbClr val="F0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3426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9716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角色三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泡泡堂风  ·  Bubble Pop</a:t>
            </a:r>
          </a:p>
        </p:txBody>
      </p:sp>
    </p:spTree>
  </p:cSld>
  <p:clrMapOvr>
    <a:masterClrMapping/>
  </p:clrMapOvr>
  <p:transition spd="med" advClick="1" advTm="8000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10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4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2" presetClass="entr" presetSubtype="8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37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3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52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5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21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7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22" presetClass="entr" presetSubtype="4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9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9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22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3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18" presetClass="entr" presetSubtype="1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51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22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71" dur="57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42" presetClass="entr" presetSubtype="1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9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43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31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分步说明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371600" y="2286000"/>
            <a:ext cx="0" cy="2331720"/>
          </a:xfrm>
          <a:prstGeom prst="line">
            <a:avLst/>
          </a:prstGeom>
          <a:ln w="20320">
            <a:solidFill>
              <a:srgbClr val="F0E9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197864" y="2212848"/>
            <a:ext cx="347472" cy="347472"/>
          </a:xfrm>
          <a:prstGeom prst="ellipse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97864" y="221284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1488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社团介绍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48716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在此输入步骤说明（占位）</a:t>
            </a:r>
          </a:p>
        </p:txBody>
      </p:sp>
      <p:sp>
        <p:nvSpPr>
          <p:cNvPr id="11" name="Oval 10"/>
          <p:cNvSpPr/>
          <p:nvPr/>
        </p:nvSpPr>
        <p:spPr>
          <a:xfrm>
            <a:off x="1197864" y="2990088"/>
            <a:ext cx="347472" cy="347472"/>
          </a:xfrm>
          <a:prstGeom prst="ellipse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97864" y="299008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9260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部门与岗位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26440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在此输入步骤说明（占位）</a:t>
            </a:r>
          </a:p>
        </p:txBody>
      </p:sp>
      <p:sp>
        <p:nvSpPr>
          <p:cNvPr id="15" name="Oval 14"/>
          <p:cNvSpPr/>
          <p:nvPr/>
        </p:nvSpPr>
        <p:spPr>
          <a:xfrm>
            <a:off x="1197864" y="3767327"/>
            <a:ext cx="347472" cy="347472"/>
          </a:xfrm>
          <a:prstGeom prst="ellipse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97864" y="3767327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7033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成长路径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04164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在此输入步骤说明（占位）</a:t>
            </a:r>
          </a:p>
        </p:txBody>
      </p:sp>
      <p:sp>
        <p:nvSpPr>
          <p:cNvPr id="19" name="Oval 18"/>
          <p:cNvSpPr/>
          <p:nvPr/>
        </p:nvSpPr>
        <p:spPr>
          <a:xfrm>
            <a:off x="1197864" y="4544567"/>
            <a:ext cx="347472" cy="347472"/>
          </a:xfrm>
          <a:prstGeom prst="ellipse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97864" y="4544567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480559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报名方式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81888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在此输入步骤说明（占位）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泡泡堂风  ·  Bubble Pop</a:t>
            </a:r>
          </a:p>
        </p:txBody>
      </p:sp>
    </p:spTree>
  </p:cSld>
  <p:clrMapOvr>
    <a:masterClrMapping/>
  </p:clrMapOvr>
  <p:transition spd="med" advClick="1" advTm="8000">
    <p:split orient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4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2" presetClass="entr" presetSubtype="8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37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1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52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21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5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22" presetClass="entr" presetSubtype="4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7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9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22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1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18" presetClass="entr" presetSubtype="1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3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22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5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42" presetClass="entr" presetSubtype="1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7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43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9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21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31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GLOSSARY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术语表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术语一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2103120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在此输入释义（占位）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22960" y="2633472"/>
            <a:ext cx="10515600" cy="0"/>
          </a:xfrm>
          <a:prstGeom prst="line">
            <a:avLst/>
          </a:prstGeom>
          <a:ln w="7620">
            <a:solidFill>
              <a:srgbClr val="F0E9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2960" y="2761487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术语二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2761487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在此输入释义（占位）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2960" y="3291839"/>
            <a:ext cx="10515600" cy="0"/>
          </a:xfrm>
          <a:prstGeom prst="line">
            <a:avLst/>
          </a:prstGeom>
          <a:ln w="7620">
            <a:solidFill>
              <a:srgbClr val="F0E9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419856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术语三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3419856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在此输入释义（占位）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22960" y="3950207"/>
            <a:ext cx="10515600" cy="0"/>
          </a:xfrm>
          <a:prstGeom prst="line">
            <a:avLst/>
          </a:prstGeom>
          <a:ln w="7620">
            <a:solidFill>
              <a:srgbClr val="F0E9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60" y="4078224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术语四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4078224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在此输入释义（占位）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22960" y="4608576"/>
            <a:ext cx="10515600" cy="0"/>
          </a:xfrm>
          <a:prstGeom prst="line">
            <a:avLst/>
          </a:prstGeom>
          <a:ln w="7620">
            <a:solidFill>
              <a:srgbClr val="F0E9F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泡泡堂风  ·  Bubble Pop</a:t>
            </a:r>
          </a:p>
        </p:txBody>
      </p:sp>
    </p:spTree>
  </p:cSld>
  <p:clrMapOvr>
    <a:masterClrMapping/>
  </p:clrMapOvr>
  <p:transition spd="med" advClick="1" advTm="8000">
    <p:blinds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4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22" presetClass="entr" presetSubtype="8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37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52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1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2" presetClass="entr" presetSubtype="4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5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9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22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9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18" presetClass="entr" presetSubtype="1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1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22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3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42" presetClass="entr" presetSubtype="1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5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43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7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21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9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10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31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HIGHLIGHT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关键指标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4572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7200" b="1" i="0">
                <a:solidFill>
                  <a:srgbClr val="FF5FA2"/>
                </a:solidFill>
                <a:latin typeface="Segoe UI"/>
                <a:ea typeface="微软雅黑"/>
                <a:cs typeface="微软雅黑"/>
              </a:rPr>
              <a:t>00%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749039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在此输入指标说明 · 占位文本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0" y="2194560"/>
            <a:ext cx="5394960" cy="356616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F0E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4370832"/>
            <a:ext cx="438912" cy="1024127"/>
          </a:xfrm>
          <a:prstGeom prst="rect">
            <a:avLst/>
          </a:prstGeom>
          <a:solidFill>
            <a:srgbClr val="FF5FA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04304" y="3730752"/>
            <a:ext cx="438912" cy="1664207"/>
          </a:xfrm>
          <a:prstGeom prst="rect">
            <a:avLst/>
          </a:prstGeom>
          <a:solidFill>
            <a:srgbClr val="3EC6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99248" y="4114800"/>
            <a:ext cx="438912" cy="1280160"/>
          </a:xfrm>
          <a:prstGeom prst="rect">
            <a:avLst/>
          </a:prstGeom>
          <a:solidFill>
            <a:srgbClr val="FF5FA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94192" y="3218688"/>
            <a:ext cx="438912" cy="2176272"/>
          </a:xfrm>
          <a:prstGeom prst="rect">
            <a:avLst/>
          </a:prstGeom>
          <a:solidFill>
            <a:srgbClr val="3EC6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089136" y="3858768"/>
            <a:ext cx="438912" cy="1536192"/>
          </a:xfrm>
          <a:prstGeom prst="rect">
            <a:avLst/>
          </a:prstGeom>
          <a:solidFill>
            <a:srgbClr val="FF5FA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784080" y="2962656"/>
            <a:ext cx="438912" cy="2432303"/>
          </a:xfrm>
          <a:prstGeom prst="rect">
            <a:avLst/>
          </a:prstGeom>
          <a:solidFill>
            <a:srgbClr val="3EC6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479024" y="3602736"/>
            <a:ext cx="438912" cy="1792223"/>
          </a:xfrm>
          <a:prstGeom prst="rect">
            <a:avLst/>
          </a:prstGeom>
          <a:solidFill>
            <a:srgbClr val="FF5FA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泡泡堂风  ·  Bubble Pop</a:t>
            </a:r>
          </a:p>
        </p:txBody>
      </p:sp>
    </p:spTree>
  </p:cSld>
  <p:clrMapOvr>
    <a:masterClrMapping/>
  </p:clrMapOvr>
  <p:transition spd="med" advClick="1" advTm="8000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22" presetClass="entr" presetSubtype="8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37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52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1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2" presetClass="entr" presetSubtype="4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3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9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2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7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18" presetClass="entr" presetSubtype="1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9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22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1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42" presetClass="entr" presetSubtype="1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43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5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21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7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10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9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2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31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914400"/>
            <a:ext cx="2926080" cy="2926080"/>
          </a:xfrm>
          <a:prstGeom prst="ellipse">
            <a:avLst/>
          </a:prstGeom>
          <a:solidFill>
            <a:srgbClr val="FF5FA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81360" y="1371600"/>
            <a:ext cx="1920240" cy="1920240"/>
          </a:xfrm>
          <a:prstGeom prst="ellipse">
            <a:avLst/>
          </a:prstGeom>
          <a:solidFill>
            <a:srgbClr val="FFD24D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418320" y="2926080"/>
            <a:ext cx="1371600" cy="1371600"/>
          </a:xfrm>
          <a:prstGeom prst="rect">
            <a:avLst/>
          </a:prstGeom>
          <a:solidFill>
            <a:srgbClr val="3EC6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65176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1F1B2E"/>
                </a:solidFill>
                <a:latin typeface="Segoe UI"/>
                <a:ea typeface="微软雅黑"/>
                <a:cs typeface="微软雅黑"/>
              </a:rPr>
              <a:t>谢谢观看</a:t>
            </a:r>
          </a:p>
        </p:txBody>
      </p:sp>
      <p:sp>
        <p:nvSpPr>
          <p:cNvPr id="7" name="Rectangle 6"/>
          <p:cNvSpPr/>
          <p:nvPr/>
        </p:nvSpPr>
        <p:spPr>
          <a:xfrm>
            <a:off x="5684367" y="3931920"/>
            <a:ext cx="822960" cy="91440"/>
          </a:xfrm>
          <a:prstGeom prst="rect">
            <a:avLst/>
          </a:prstGeom>
          <a:solidFill>
            <a:srgbClr val="FF5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在此输入联系方式 / 二维码 / 致谢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6A0"/>
                </a:solidFill>
                <a:latin typeface="Segoe UI"/>
                <a:ea typeface="微软雅黑"/>
                <a:cs typeface="微软雅黑"/>
              </a:rPr>
              <a:t>泡泡堂风  ·  Bubble Pop</a:t>
            </a:r>
          </a:p>
        </p:txBody>
      </p:sp>
    </p:spTree>
  </p:cSld>
  <p:clrMapOvr>
    <a:masterClrMapping/>
  </p:clrMapOvr>
  <p:transition spd="med" advClick="1" advTm="8000">
    <p:comb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37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52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1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9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2" presetClass="entr" presetSubtype="4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1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9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2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5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18" presetClass="entr" presetSubtype="1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7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22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9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