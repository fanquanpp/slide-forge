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示例趋势（右键 → 编辑数据）</c:v>
                </c:pt>
              </c:strCache>
            </c:strRef>
          </c:tx>
          <c:spPr>
            <a:ln w="31750">
              <a:solidFill>
                <a:srgbClr val="6C8CFF"/>
              </a:solidFill>
            </a:ln>
          </c:spPr>
          <c:cat>
            <c:strRef>
              <c:f>Sheet1!$A$2:$A$7</c:f>
              <c:strCache>
                <c:ptCount val="6"/>
                <c:pt idx="0">
                  <c:v>一月</c:v>
                </c:pt>
                <c:pt idx="1">
                  <c:v>二月</c:v>
                </c:pt>
                <c:pt idx="2">
                  <c:v>三月</c:v>
                </c:pt>
                <c:pt idx="3">
                  <c:v>四月</c:v>
                </c:pt>
                <c:pt idx="4">
                  <c:v>五月</c:v>
                </c:pt>
                <c:pt idx="5">
                  <c:v>六月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44</c:v>
                </c:pt>
                <c:pt idx="2">
                  <c:v>40</c:v>
                </c:pt>
                <c:pt idx="3">
                  <c:v>56</c:v>
                </c:pt>
                <c:pt idx="4">
                  <c:v>50</c:v>
                </c:pt>
                <c:pt idx="5">
                  <c:v>66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【页面定位】比赛答辩与路演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【页面定位】在此输入一句项目一句话介绍。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【页面定位】RISK MATRIX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【页面定位】OPTIONS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比赛答辩与路演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比赛答辩与路演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6000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方案与创新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成果与验证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价值与应用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在此输入「项目背景」的要点一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在此输入「项目背景」的要点二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在此输入「项目背景」的要点三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在此输入「项目背景」的要点四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方案与创新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A · 项目背景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B · 方案与创新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69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方案与创新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成果与验证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价值与应用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6C8CFF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研发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6C8CFF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路演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litter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vortex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成果与验证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在此输入一句项目一句话介绍。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RISK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风险与应对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2148840"/>
            <a:ext cx="2194560" cy="896112"/>
          </a:xfrm>
          <a:prstGeom prst="rect">
            <a:avLst/>
          </a:prstGeom>
          <a:solidFill>
            <a:srgbClr val="FF8FB1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61104" y="2148840"/>
            <a:ext cx="2194560" cy="896112"/>
          </a:xfrm>
          <a:prstGeom prst="rect">
            <a:avLst/>
          </a:prstGeom>
          <a:solidFill>
            <a:srgbClr val="FF8FB1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10528" y="2148840"/>
            <a:ext cx="2194560" cy="896112"/>
          </a:xfrm>
          <a:prstGeom prst="rect">
            <a:avLst/>
          </a:prstGeom>
          <a:solidFill>
            <a:srgbClr val="FF8FB1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759952" y="2148840"/>
            <a:ext cx="2194560" cy="896112"/>
          </a:xfrm>
          <a:prstGeom prst="rect">
            <a:avLst/>
          </a:prstGeom>
          <a:solidFill>
            <a:srgbClr val="6C8CFF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0" y="3099816"/>
            <a:ext cx="2194560" cy="896112"/>
          </a:xfrm>
          <a:prstGeom prst="rect">
            <a:avLst/>
          </a:prstGeom>
          <a:solidFill>
            <a:srgbClr val="FF8FB1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61104" y="3099816"/>
            <a:ext cx="2194560" cy="896112"/>
          </a:xfrm>
          <a:prstGeom prst="rect">
            <a:avLst/>
          </a:prstGeom>
          <a:solidFill>
            <a:srgbClr val="FF8FB1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0528" y="3099816"/>
            <a:ext cx="2194560" cy="896112"/>
          </a:xfrm>
          <a:prstGeom prst="rect">
            <a:avLst/>
          </a:prstGeom>
          <a:solidFill>
            <a:srgbClr val="6C8CFF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759952" y="3099816"/>
            <a:ext cx="2194560" cy="896112"/>
          </a:xfrm>
          <a:prstGeom prst="rect">
            <a:avLst/>
          </a:prstGeom>
          <a:solidFill>
            <a:srgbClr val="6C8CFF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0" y="4050791"/>
            <a:ext cx="2194560" cy="896112"/>
          </a:xfrm>
          <a:prstGeom prst="rect">
            <a:avLst/>
          </a:prstGeom>
          <a:solidFill>
            <a:srgbClr val="FF8FB1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61104" y="4050791"/>
            <a:ext cx="2194560" cy="896112"/>
          </a:xfrm>
          <a:prstGeom prst="rect">
            <a:avLst/>
          </a:prstGeom>
          <a:solidFill>
            <a:srgbClr val="6C8CFF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10528" y="4050791"/>
            <a:ext cx="2194560" cy="896112"/>
          </a:xfrm>
          <a:prstGeom prst="rect">
            <a:avLst/>
          </a:prstGeom>
          <a:solidFill>
            <a:srgbClr val="6C8CFF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59952" y="4050791"/>
            <a:ext cx="2194560" cy="896112"/>
          </a:xfrm>
          <a:prstGeom prst="rect">
            <a:avLst/>
          </a:prstGeom>
          <a:solidFill>
            <a:srgbClr val="EEF2FF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011680" y="5001768"/>
            <a:ext cx="2194560" cy="896112"/>
          </a:xfrm>
          <a:prstGeom prst="rect">
            <a:avLst/>
          </a:prstGeom>
          <a:solidFill>
            <a:srgbClr val="6C8CFF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61104" y="5001768"/>
            <a:ext cx="2194560" cy="896112"/>
          </a:xfrm>
          <a:prstGeom prst="rect">
            <a:avLst/>
          </a:prstGeom>
          <a:solidFill>
            <a:srgbClr val="6C8CFF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10528" y="5001768"/>
            <a:ext cx="2194560" cy="896112"/>
          </a:xfrm>
          <a:prstGeom prst="rect">
            <a:avLst/>
          </a:prstGeom>
          <a:solidFill>
            <a:srgbClr val="EEF2FF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59952" y="5001768"/>
            <a:ext cx="2194560" cy="896112"/>
          </a:xfrm>
          <a:prstGeom prst="rect">
            <a:avLst/>
          </a:prstGeom>
          <a:solidFill>
            <a:srgbClr val="EEF2FF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01752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影响 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59436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概率 →</a:t>
            </a:r>
          </a:p>
        </p:txBody>
      </p:sp>
      <p:sp>
        <p:nvSpPr>
          <p:cNvPr id="24" name="Oval 23"/>
          <p:cNvSpPr/>
          <p:nvPr/>
        </p:nvSpPr>
        <p:spPr>
          <a:xfrm>
            <a:off x="5202936" y="2441448"/>
            <a:ext cx="310896" cy="31089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02936" y="24414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21945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1 · 在此输入要点</a:t>
            </a:r>
          </a:p>
        </p:txBody>
      </p:sp>
      <p:sp>
        <p:nvSpPr>
          <p:cNvPr id="27" name="Oval 26"/>
          <p:cNvSpPr/>
          <p:nvPr/>
        </p:nvSpPr>
        <p:spPr>
          <a:xfrm>
            <a:off x="7452360" y="3392424"/>
            <a:ext cx="310896" cy="31089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33924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27614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2 · 在此输入要点</a:t>
            </a:r>
          </a:p>
        </p:txBody>
      </p:sp>
      <p:sp>
        <p:nvSpPr>
          <p:cNvPr id="30" name="Oval 29"/>
          <p:cNvSpPr/>
          <p:nvPr/>
        </p:nvSpPr>
        <p:spPr>
          <a:xfrm>
            <a:off x="9701784" y="4343400"/>
            <a:ext cx="310896" cy="31089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01784" y="43434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3328415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3 · 在此输入要点</a:t>
            </a:r>
          </a:p>
        </p:txBody>
      </p:sp>
      <p:sp>
        <p:nvSpPr>
          <p:cNvPr id="33" name="Oval 32"/>
          <p:cNvSpPr/>
          <p:nvPr/>
        </p:nvSpPr>
        <p:spPr>
          <a:xfrm>
            <a:off x="2953512" y="3392424"/>
            <a:ext cx="310896" cy="31089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53512" y="33924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09960" y="3895344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4 · 在此输入要点</a:t>
            </a:r>
          </a:p>
        </p:txBody>
      </p:sp>
      <p:sp>
        <p:nvSpPr>
          <p:cNvPr id="3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litter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81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45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57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69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flip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0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18000"/>
            </a:avLst>
          </a:prstGeom>
          <a:solidFill>
            <a:srgbClr val="6C8CFF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6" name="motion:hero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00" fill="hold" nodeType="afterEffect" grpId="0" presetID="6" presetClass="emph" presetSubtype="0">
                            <p:stCondLst>
                              <p:cond delay="820"/>
                            </p:stCondLst>
                            <p:childTnLst>
                              <p:animScale>
                                <p:cBhvr>
                                  <p:cTn id="81" dur="500" fill="hold"/>
                                  <p:tgtEl>
                                    <p:spTgt spid="6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渐变流体">
  <a:themeElements>
    <a:clrScheme name="SlideForge 渐变流体">
      <a:dk1>
        <a:srgbClr val="EEF2FF"/>
      </a:dk1>
      <a:lt1>
        <a:srgbClr val="141A2E"/>
      </a:lt1>
      <a:dk2>
        <a:srgbClr val="9AA7CC"/>
      </a:dk2>
      <a:lt2>
        <a:srgbClr val="1E2740"/>
      </a:lt2>
      <a:accent1>
        <a:srgbClr val="6C8CFF"/>
      </a:accent1>
      <a:accent2>
        <a:srgbClr val="FF8FB1"/>
      </a:accent2>
      <a:accent3>
        <a:srgbClr val="FF8FB1"/>
      </a:accent3>
      <a:accent4>
        <a:srgbClr val="2A3556"/>
      </a:accent4>
      <a:accent5>
        <a:srgbClr val="9AA7CC"/>
      </a:accent5>
      <a:accent6>
        <a:srgbClr val="1E2740"/>
      </a:accent6>
      <a:hlink>
        <a:srgbClr val="6C8CFF"/>
      </a:hlink>
      <a:folHlink>
        <a:srgbClr val="9AA7CC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