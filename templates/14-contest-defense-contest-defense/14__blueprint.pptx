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示例构成（右键 → 编辑数据）</c:v>
                </c:pt>
              </c:strCache>
            </c:strRef>
          </c:tx>
          <c:dPt>
            <c:idx val="0"/>
            <c:spPr>
              <a:solidFill>
                <a:srgbClr val="6FD3FF"/>
              </a:solidFill>
            </c:spPr>
          </c:dPt>
          <c:dPt>
            <c:idx val="1"/>
            <c:spPr>
              <a:solidFill>
                <a:srgbClr val="FFD166"/>
              </a:solidFill>
            </c:spPr>
          </c:dPt>
          <c:dPt>
            <c:idx val="2"/>
            <c:spPr>
              <a:solidFill>
                <a:srgbClr val="6FD3FF"/>
              </a:solidFill>
            </c:spPr>
          </c:dPt>
          <c:dPt>
            <c:idx val="3"/>
            <c:spPr>
              <a:solidFill>
                <a:srgbClr val="FFD166"/>
              </a:solidFill>
            </c:spPr>
          </c:dPt>
          <c:cat>
            <c:strRef>
              <c:f>Sheet1!$A$2:$A$5</c:f>
              <c:strCache>
                <c:ptCount val="4"/>
                <c:pt idx="0">
                  <c:v>板块一</c:v>
                </c:pt>
                <c:pt idx="1">
                  <c:v>板块二</c:v>
                </c:pt>
                <c:pt idx="2">
                  <c:v>板块三</c:v>
                </c:pt>
                <c:pt idx="3">
                  <c:v>板块四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【页面定位】RISK MATRIX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收尾页：总结要点并给出行动号召或联系方式。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【页面定位】QUOTES —— 开场页：自我介绍或破题，停留时间可稍长。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【页面定位】SWOT —— 概览页：快速带过结构，告诉听众接下来讲什么。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【页面定位】VENN —— 内容页：逐条展开，配合动画节奏点击推进。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数据页：先说结论，再用图表佐证。</a:t>
            </a:r>
          </a:p>
          <a:p>
            <a:r>
              <a:t>【放映】内容元素按层次错峰入场（装饰与页脚保持静态，不抢戏）；开启“使用计时器”后按本页驻留时长（6/8/10 秒）自动翻页。</a:t>
            </a:r>
          </a:p>
          <a:p>
            <a:r>
              <a:t>【编辑】直接点击文本框替换占位文字；「设计 → 变体 → 颜色」可一键换成本套内置主题色；图片占位框右键“更改图片”即可替换。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6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2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4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8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2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2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4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8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2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0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2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4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6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8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2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4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01" dur="690"/>
                                  <p:tgtEl>
                                    <p:spTgt spid="2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8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4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0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2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6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0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路演</a:t>
            </a:r>
          </a:p>
        </p:txBody>
      </p:sp>
      <p:sp>
        <p:nvSpPr>
          <p:cNvPr id="17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4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6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8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0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4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6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8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371600" y="2286000"/>
          <a:ext cx="5486400" cy="3520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0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2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4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10000">
    <p:wheel spokes="1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6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2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4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6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8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0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pan dir="l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0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2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6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2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6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8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0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6000">
        <p14:reveal dir="r"/>
      </p:transition>
    </mc:Choice>
    <mc:Fallback>
      <p:transition spd="med" advClick="1" advTm="6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4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6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8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0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4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6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8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RISK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风险与应对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011680" y="2148840"/>
            <a:ext cx="2194560" cy="896112"/>
          </a:xfrm>
          <a:prstGeom prst="rect">
            <a:avLst/>
          </a:prstGeom>
          <a:solidFill>
            <a:srgbClr val="FFD166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61104" y="2148840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510528" y="2148840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759952" y="2148840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099816"/>
            <a:ext cx="2194560" cy="896112"/>
          </a:xfrm>
          <a:prstGeom prst="rect">
            <a:avLst/>
          </a:prstGeom>
          <a:solidFill>
            <a:srgbClr val="FFD166">
              <a:alpha val="24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61104" y="3099816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10528" y="3099816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759952" y="3099816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011680" y="4050791"/>
            <a:ext cx="2194560" cy="896112"/>
          </a:xfrm>
          <a:prstGeom prst="rect">
            <a:avLst/>
          </a:prstGeom>
          <a:solidFill>
            <a:srgbClr val="FFD166">
              <a:alpha val="32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61104" y="4050791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510528" y="4050791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759952" y="4050791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11680" y="5001768"/>
            <a:ext cx="2194560" cy="896112"/>
          </a:xfrm>
          <a:prstGeom prst="rect">
            <a:avLst/>
          </a:prstGeom>
          <a:solidFill>
            <a:srgbClr val="6FD3FF">
              <a:alpha val="41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5001768"/>
            <a:ext cx="2194560" cy="896112"/>
          </a:xfrm>
          <a:prstGeom prst="rect">
            <a:avLst/>
          </a:prstGeom>
          <a:solidFill>
            <a:srgbClr val="6FD3FF">
              <a:alpha val="49333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510528" y="5001768"/>
            <a:ext cx="2194560" cy="896112"/>
          </a:xfrm>
          <a:prstGeom prst="rect">
            <a:avLst/>
          </a:prstGeom>
          <a:solidFill>
            <a:srgbClr val="EAF3FF">
              <a:alpha val="57667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759952" y="5001768"/>
            <a:ext cx="2194560" cy="896112"/>
          </a:xfrm>
          <a:prstGeom prst="rect">
            <a:avLst/>
          </a:prstGeom>
          <a:solidFill>
            <a:srgbClr val="EAF3FF">
              <a:alpha val="6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017520"/>
            <a:ext cx="1097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影响 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594360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00" b="1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概率 →</a:t>
            </a:r>
          </a:p>
        </p:txBody>
      </p:sp>
      <p:sp>
        <p:nvSpPr>
          <p:cNvPr id="24" name="Oval 23"/>
          <p:cNvSpPr/>
          <p:nvPr/>
        </p:nvSpPr>
        <p:spPr>
          <a:xfrm>
            <a:off x="5202936" y="2441448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02936" y="2441448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09960" y="2194560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1 · 在此输入要点</a:t>
            </a:r>
          </a:p>
        </p:txBody>
      </p:sp>
      <p:sp>
        <p:nvSpPr>
          <p:cNvPr id="27" name="Oval 26"/>
          <p:cNvSpPr/>
          <p:nvPr/>
        </p:nvSpPr>
        <p:spPr>
          <a:xfrm>
            <a:off x="7452360" y="3392424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09960" y="27614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2 · 在此输入要点</a:t>
            </a:r>
          </a:p>
        </p:txBody>
      </p:sp>
      <p:sp>
        <p:nvSpPr>
          <p:cNvPr id="30" name="Oval 29"/>
          <p:cNvSpPr/>
          <p:nvPr/>
        </p:nvSpPr>
        <p:spPr>
          <a:xfrm>
            <a:off x="9701784" y="4343400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701784" y="4343400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09960" y="3328415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3 · 在此输入要点</a:t>
            </a:r>
          </a:p>
        </p:txBody>
      </p:sp>
      <p:sp>
        <p:nvSpPr>
          <p:cNvPr id="33" name="Oval 32"/>
          <p:cNvSpPr/>
          <p:nvPr/>
        </p:nvSpPr>
        <p:spPr>
          <a:xfrm>
            <a:off x="2953512" y="3392424"/>
            <a:ext cx="310896" cy="310896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953512" y="3392424"/>
            <a:ext cx="310896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09960" y="3895344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4 · 在此输入要点</a:t>
            </a:r>
          </a:p>
        </p:txBody>
      </p:sp>
      <p:sp>
        <p:nvSpPr>
          <p:cNvPr id="3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ripple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4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6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8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2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4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61" dur="810"/>
                                  <p:tgtEl>
                                    <p:spTgt spid="2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81" dur="450"/>
                                  <p:tgtEl>
                                    <p:spTgt spid="2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01" dur="570"/>
                                  <p:tgtEl>
                                    <p:spTgt spid="2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21" dur="690"/>
                                  <p:tgtEl>
                                    <p:spTgt spid="2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4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6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8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0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gallery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4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6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8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0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2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4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6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8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0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2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4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6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8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0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金句墙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在此输入短句五</a:t>
            </a:r>
          </a:p>
        </p:txBody>
      </p:sp>
      <p:sp>
        <p:nvSpPr>
          <p:cNvPr id="21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advClick="1" advTm="10000">
        <p14:conveyor dir="r"/>
      </p:transition>
    </mc:Choice>
    <mc:Fallback>
      <p:transition spd="med" advClick="1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4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8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0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2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4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6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8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0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4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6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8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0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SWOT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四象限分析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109728" cy="18288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优势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55080" y="210312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2103120"/>
            <a:ext cx="109728" cy="18288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9400" y="224942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FFD166"/>
                </a:solidFill>
                <a:latin typeface="Consolas"/>
                <a:ea typeface="等线"/>
                <a:cs typeface="等线"/>
              </a:rPr>
              <a:t>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377439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劣势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288036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69080"/>
            <a:ext cx="109728" cy="1828800"/>
          </a:xfrm>
          <a:prstGeom prst="rect">
            <a:avLst/>
          </a:prstGeom>
          <a:solidFill>
            <a:srgbClr val="8FB3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机会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55080" y="406908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55080" y="4069080"/>
            <a:ext cx="109728" cy="18288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15384"/>
            <a:ext cx="731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343400"/>
            <a:ext cx="3474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挑战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846320"/>
            <a:ext cx="44805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500"/>
              </a:spcAft>
            </a:pPr>
            <a:r>
              <a:rPr sz="80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1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要点</a:t>
            </a:r>
          </a:p>
        </p:txBody>
      </p:sp>
      <p:sp>
        <p:nvSpPr>
          <p:cNvPr id="26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4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6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8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0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2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4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6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8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0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2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4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4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6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6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8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8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0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0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VENN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三圆交集</a:t>
            </a:r>
          </a:p>
        </p:txBody>
      </p:sp>
      <p:sp>
        <p:nvSpPr>
          <p:cNvPr id="5" name="!!brand-band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606040" y="868680"/>
            <a:ext cx="2834640" cy="2834640"/>
          </a:xfrm>
          <a:prstGeom prst="ellipse">
            <a:avLst/>
          </a:prstGeom>
          <a:solidFill>
            <a:srgbClr val="6FD3FF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01752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主题一</a:t>
            </a:r>
          </a:p>
        </p:txBody>
      </p:sp>
      <p:sp>
        <p:nvSpPr>
          <p:cNvPr id="8" name="Oval 7"/>
          <p:cNvSpPr/>
          <p:nvPr/>
        </p:nvSpPr>
        <p:spPr>
          <a:xfrm>
            <a:off x="4617720" y="868680"/>
            <a:ext cx="2834640" cy="2834640"/>
          </a:xfrm>
          <a:prstGeom prst="ellipse">
            <a:avLst/>
          </a:prstGeom>
          <a:solidFill>
            <a:srgbClr val="FFD166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0" y="13715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主题二</a:t>
            </a:r>
          </a:p>
        </p:txBody>
      </p:sp>
      <p:sp>
        <p:nvSpPr>
          <p:cNvPr id="10" name="Oval 9"/>
          <p:cNvSpPr/>
          <p:nvPr/>
        </p:nvSpPr>
        <p:spPr>
          <a:xfrm>
            <a:off x="3611880" y="2423160"/>
            <a:ext cx="2834640" cy="2834640"/>
          </a:xfrm>
          <a:prstGeom prst="ellipse">
            <a:avLst/>
          </a:prstGeom>
          <a:solidFill>
            <a:srgbClr val="8FB3D9">
              <a:alpha val="4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466344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主题三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3383280"/>
            <a:ext cx="1463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交集 / 协同点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778240" y="2377440"/>
            <a:ext cx="26517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主题一：在此输入一句要点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主题二：在此输入一句要点</a:t>
            </a:r>
          </a:p>
          <a:p>
            <a:pPr>
              <a:lnSpc>
                <a:spcPct val="115000"/>
              </a:lnSpc>
              <a:spcAft>
                <a:spcPts val="1200"/>
              </a:spcAft>
            </a:pPr>
            <a:r>
              <a:rPr sz="839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0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主题三：在此输入一句要点</a:t>
            </a:r>
          </a:p>
        </p:txBody>
      </p:sp>
      <p:sp>
        <p:nvSpPr>
          <p:cNvPr id="14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4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6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8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0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0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2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2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4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4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6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6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8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1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8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0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0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2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2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hrome:bg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hrome:decor-1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hrome:decor-2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chrome:decor-3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rome:decor-4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rome:decor-5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chrome:decor-6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hrome:decor-7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rome:decor-8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chrome:decor-9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chrome:decor-10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rome:decor-11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chrome:decor-12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chrome:decor-13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!!footer-rule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chrome:footer-l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4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6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6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8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8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SlideForge 工程蓝图">
  <a:themeElements>
    <a:clrScheme name="SlideForge 工程蓝图">
      <a:dk1>
        <a:srgbClr val="EAF3FF"/>
      </a:dk1>
      <a:lt1>
        <a:srgbClr val="0E2A47"/>
      </a:lt1>
      <a:dk2>
        <a:srgbClr val="8FB3D9"/>
      </a:dk2>
      <a:lt2>
        <a:srgbClr val="123456"/>
      </a:lt2>
      <a:accent1>
        <a:srgbClr val="6FD3FF"/>
      </a:accent1>
      <a:accent2>
        <a:srgbClr val="FFD166"/>
      </a:accent2>
      <a:accent3>
        <a:srgbClr val="FFD166"/>
      </a:accent3>
      <a:accent4>
        <a:srgbClr val="1E4470"/>
      </a:accent4>
      <a:accent5>
        <a:srgbClr val="8FB3D9"/>
      </a:accent5>
      <a:accent6>
        <a:srgbClr val="123456"/>
      </a:accent6>
      <a:hlink>
        <a:srgbClr val="6FD3FF"/>
      </a:hlink>
      <a:folHlink>
        <a:srgbClr val="8FB3D9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