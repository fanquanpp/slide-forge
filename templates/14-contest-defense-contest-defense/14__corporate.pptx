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1"/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示例趋势（右键 → 编辑数据）</c:v>
                </c:pt>
              </c:strCache>
            </c:strRef>
          </c:tx>
          <c:spPr>
            <a:ln w="31750">
              <a:solidFill>
                <a:srgbClr val="1E5FBF"/>
              </a:solidFill>
            </a:ln>
          </c:spPr>
          <c:cat>
            <c:strRef>
              <c:f>Sheet1!$A$2:$A$7</c:f>
              <c:strCache>
                <c:ptCount val="6"/>
                <c:pt idx="0">
                  <c:v>一月</c:v>
                </c:pt>
                <c:pt idx="1">
                  <c:v>二月</c:v>
                </c:pt>
                <c:pt idx="2">
                  <c:v>三月</c:v>
                </c:pt>
                <c:pt idx="3">
                  <c:v>四月</c:v>
                </c:pt>
                <c:pt idx="4">
                  <c:v>五月</c:v>
                </c:pt>
                <c:pt idx="5">
                  <c:v>六月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35</c:v>
                </c:pt>
                <c:pt idx="1">
                  <c:v>44</c:v>
                </c:pt>
                <c:pt idx="2">
                  <c:v>40</c:v>
                </c:pt>
                <c:pt idx="3">
                  <c:v>56</c:v>
                </c:pt>
                <c:pt idx="4">
                  <c:v>50</c:v>
                </c:pt>
                <c:pt idx="5">
                  <c:v>66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【页面定位】比赛答辩与路演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【页面定位】在此输入一句项目一句话介绍。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【页面定位】RISK MATRIX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【页面定位】VENN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【页面定位】FAQ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【页面定位】ROADMAP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0" y="146304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377440"/>
            <a:ext cx="9966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400"/>
              </a:spcAft>
            </a:pPr>
            <a:r>
              <a:rPr sz="46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比赛答辩与路演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886200"/>
            <a:ext cx="822960" cy="91440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11480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比赛答辩与路演 · 在此输入副标题 / 项目名称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 advClick="1" advTm="6000">
    <p:split orient="horz" dir="ou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4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6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8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0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项目背景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60904"/>
            <a:ext cx="4160520" cy="0"/>
          </a:xfrm>
          <a:prstGeom prst="line">
            <a:avLst/>
          </a:prstGeom>
          <a:ln w="9525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3093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方案与创新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69480" y="2660904"/>
            <a:ext cx="4160520" cy="0"/>
          </a:xfrm>
          <a:prstGeom prst="line">
            <a:avLst/>
          </a:prstGeom>
          <a:ln w="9525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成果与验证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83080" y="3575304"/>
            <a:ext cx="4160520" cy="0"/>
          </a:xfrm>
          <a:prstGeom prst="line">
            <a:avLst/>
          </a:prstGeom>
          <a:ln w="9525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价值与应用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69480" y="3575304"/>
            <a:ext cx="4160520" cy="0"/>
          </a:xfrm>
          <a:prstGeom prst="line">
            <a:avLst/>
          </a:prstGeom>
          <a:ln w="9525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8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0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2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4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6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8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0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2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4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6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8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0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0" y="146304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0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项目背景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6000">
        <p14:flash/>
      </p:transition>
    </mc:Choice>
    <mc:Fallback>
      <p:transition spd="med" advClick="1" advTm="6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4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6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8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0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项目背景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64008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94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231136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在此输入「项目背景」的要点一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889503"/>
            <a:ext cx="10424160" cy="64008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3580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017520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在此输入「项目背景」的要点二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675887"/>
            <a:ext cx="10424160" cy="64008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822191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803903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在此输入「项目背景」的要点三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62272"/>
            <a:ext cx="10424160" cy="64008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60857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590288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在此输入「项目背景」的要点四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0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2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4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6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8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0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2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4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6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8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0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方案与创新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A · 项目背景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B · 方案与创新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2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4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6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8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0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2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ripple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0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2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41" dur="45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6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8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0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21" dur="45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4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6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8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01" dur="450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项目背景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方案与创新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成果与验证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价值与应用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8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0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2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4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6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8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0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2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4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61" dur="81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0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822960" y="2743200"/>
            <a:ext cx="2464993" cy="1371600"/>
          </a:xfrm>
          <a:prstGeom prst="chevron">
            <a:avLst/>
          </a:prstGeom>
          <a:solidFill>
            <a:srgbClr val="1E5FBF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Chevron 8"/>
          <p:cNvSpPr/>
          <p:nvPr/>
        </p:nvSpPr>
        <p:spPr>
          <a:xfrm>
            <a:off x="3516553" y="2743200"/>
            <a:ext cx="2464993" cy="1371600"/>
          </a:xfrm>
          <a:prstGeom prst="chevron">
            <a:avLst/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研发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Chevron 11"/>
          <p:cNvSpPr/>
          <p:nvPr/>
        </p:nvSpPr>
        <p:spPr>
          <a:xfrm>
            <a:off x="6210147" y="2743200"/>
            <a:ext cx="2464993" cy="1371600"/>
          </a:xfrm>
          <a:prstGeom prst="chevron">
            <a:avLst/>
          </a:prstGeom>
          <a:solidFill>
            <a:srgbClr val="1E5FBF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验证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Chevron 14"/>
          <p:cNvSpPr/>
          <p:nvPr/>
        </p:nvSpPr>
        <p:spPr>
          <a:xfrm>
            <a:off x="8903741" y="2743200"/>
            <a:ext cx="2464993" cy="1371600"/>
          </a:xfrm>
          <a:prstGeom prst="chevron">
            <a:avLst/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路演</a:t>
            </a:r>
          </a:p>
        </p:txBody>
      </p:sp>
      <p:sp>
        <p:nvSpPr>
          <p:cNvPr id="17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 advClick="1" advTm="8000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0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4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6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8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0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2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4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6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8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1188720" y="2331720"/>
          <a:ext cx="5852160" cy="3429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原生可编辑图表 · 右键图表 → 编辑数据 即可替换数值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ripple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2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4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6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 advClick="1" advTm="10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0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2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4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6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8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0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2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4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6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8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0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2F5FA"/>
          </a:solidFill>
          <a:ln w="12700">
            <a:solidFill>
              <a:srgbClr val="D7E0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2F5FA"/>
          </a:solidFill>
          <a:ln w="12700">
            <a:solidFill>
              <a:srgbClr val="D7E0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2F5FA"/>
          </a:solidFill>
          <a:ln w="12700">
            <a:solidFill>
              <a:srgbClr val="D7E0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2F5FA"/>
          </a:solidFill>
          <a:ln w="12700">
            <a:solidFill>
              <a:srgbClr val="D7E0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2F5FA"/>
          </a:solidFill>
          <a:ln w="12700">
            <a:solidFill>
              <a:srgbClr val="D7E0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2F5FA"/>
          </a:solidFill>
          <a:ln w="12700">
            <a:solidFill>
              <a:srgbClr val="D7E0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conveyor dir="r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0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2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4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6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8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0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2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4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6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8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0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0" y="146304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0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成果与验证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6000">
        <p14:flash/>
      </p:transition>
    </mc:Choice>
    <mc:Fallback>
      <p:transition spd="med" advClick="1" advTm="6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6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8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0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0" y="146304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在此输入一句项目一句话介绍。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9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4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6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8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0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RISK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风险与应对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1680" y="2148840"/>
            <a:ext cx="2194560" cy="896112"/>
          </a:xfrm>
          <a:prstGeom prst="rect">
            <a:avLst/>
          </a:prstGeom>
          <a:solidFill>
            <a:srgbClr val="C9A227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261104" y="2148840"/>
            <a:ext cx="2194560" cy="896112"/>
          </a:xfrm>
          <a:prstGeom prst="rect">
            <a:avLst/>
          </a:prstGeom>
          <a:solidFill>
            <a:srgbClr val="C9A227">
              <a:alpha val="2433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10528" y="2148840"/>
            <a:ext cx="2194560" cy="896112"/>
          </a:xfrm>
          <a:prstGeom prst="rect">
            <a:avLst/>
          </a:prstGeom>
          <a:solidFill>
            <a:srgbClr val="C9A227">
              <a:alpha val="3266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759952" y="2148840"/>
            <a:ext cx="2194560" cy="896112"/>
          </a:xfrm>
          <a:prstGeom prst="rect">
            <a:avLst/>
          </a:prstGeom>
          <a:solidFill>
            <a:srgbClr val="1E5FBF">
              <a:alpha val="4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011680" y="3099816"/>
            <a:ext cx="2194560" cy="896112"/>
          </a:xfrm>
          <a:prstGeom prst="rect">
            <a:avLst/>
          </a:prstGeom>
          <a:solidFill>
            <a:srgbClr val="C9A227">
              <a:alpha val="2433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61104" y="3099816"/>
            <a:ext cx="2194560" cy="896112"/>
          </a:xfrm>
          <a:prstGeom prst="rect">
            <a:avLst/>
          </a:prstGeom>
          <a:solidFill>
            <a:srgbClr val="C9A227">
              <a:alpha val="3266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10528" y="3099816"/>
            <a:ext cx="2194560" cy="896112"/>
          </a:xfrm>
          <a:prstGeom prst="rect">
            <a:avLst/>
          </a:prstGeom>
          <a:solidFill>
            <a:srgbClr val="1E5FBF">
              <a:alpha val="4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759952" y="3099816"/>
            <a:ext cx="2194560" cy="896112"/>
          </a:xfrm>
          <a:prstGeom prst="rect">
            <a:avLst/>
          </a:prstGeom>
          <a:solidFill>
            <a:srgbClr val="1E5FBF">
              <a:alpha val="4933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011680" y="4050791"/>
            <a:ext cx="2194560" cy="896112"/>
          </a:xfrm>
          <a:prstGeom prst="rect">
            <a:avLst/>
          </a:prstGeom>
          <a:solidFill>
            <a:srgbClr val="C9A227">
              <a:alpha val="3266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61104" y="4050791"/>
            <a:ext cx="2194560" cy="896112"/>
          </a:xfrm>
          <a:prstGeom prst="rect">
            <a:avLst/>
          </a:prstGeom>
          <a:solidFill>
            <a:srgbClr val="1E5FBF">
              <a:alpha val="4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10528" y="4050791"/>
            <a:ext cx="2194560" cy="896112"/>
          </a:xfrm>
          <a:prstGeom prst="rect">
            <a:avLst/>
          </a:prstGeom>
          <a:solidFill>
            <a:srgbClr val="1E5FBF">
              <a:alpha val="4933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59952" y="4050791"/>
            <a:ext cx="2194560" cy="896112"/>
          </a:xfrm>
          <a:prstGeom prst="rect">
            <a:avLst/>
          </a:prstGeom>
          <a:solidFill>
            <a:srgbClr val="10233F">
              <a:alpha val="5766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011680" y="5001768"/>
            <a:ext cx="2194560" cy="896112"/>
          </a:xfrm>
          <a:prstGeom prst="rect">
            <a:avLst/>
          </a:prstGeom>
          <a:solidFill>
            <a:srgbClr val="1E5FBF">
              <a:alpha val="4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61104" y="5001768"/>
            <a:ext cx="2194560" cy="896112"/>
          </a:xfrm>
          <a:prstGeom prst="rect">
            <a:avLst/>
          </a:prstGeom>
          <a:solidFill>
            <a:srgbClr val="1E5FBF">
              <a:alpha val="4933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510528" y="5001768"/>
            <a:ext cx="2194560" cy="896112"/>
          </a:xfrm>
          <a:prstGeom prst="rect">
            <a:avLst/>
          </a:prstGeom>
          <a:solidFill>
            <a:srgbClr val="10233F">
              <a:alpha val="5766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759952" y="5001768"/>
            <a:ext cx="2194560" cy="896112"/>
          </a:xfrm>
          <a:prstGeom prst="rect">
            <a:avLst/>
          </a:prstGeom>
          <a:solidFill>
            <a:srgbClr val="10233F">
              <a:alpha val="6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3017520"/>
            <a:ext cx="1097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影响 ↑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594360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概率 →</a:t>
            </a:r>
          </a:p>
        </p:txBody>
      </p:sp>
      <p:sp>
        <p:nvSpPr>
          <p:cNvPr id="24" name="Oval 23"/>
          <p:cNvSpPr/>
          <p:nvPr/>
        </p:nvSpPr>
        <p:spPr>
          <a:xfrm>
            <a:off x="5202936" y="2441448"/>
            <a:ext cx="310896" cy="310896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202936" y="2441448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09960" y="2194560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1 · 在此输入要点</a:t>
            </a:r>
          </a:p>
        </p:txBody>
      </p:sp>
      <p:sp>
        <p:nvSpPr>
          <p:cNvPr id="27" name="Oval 26"/>
          <p:cNvSpPr/>
          <p:nvPr/>
        </p:nvSpPr>
        <p:spPr>
          <a:xfrm>
            <a:off x="7452360" y="3392424"/>
            <a:ext cx="310896" cy="310896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52360" y="33924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09960" y="2761488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2 · 在此输入要点</a:t>
            </a:r>
          </a:p>
        </p:txBody>
      </p:sp>
      <p:sp>
        <p:nvSpPr>
          <p:cNvPr id="30" name="Oval 29"/>
          <p:cNvSpPr/>
          <p:nvPr/>
        </p:nvSpPr>
        <p:spPr>
          <a:xfrm>
            <a:off x="9701784" y="4343400"/>
            <a:ext cx="310896" cy="310896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701784" y="4343400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09960" y="3328415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3 · 在此输入要点</a:t>
            </a:r>
          </a:p>
        </p:txBody>
      </p:sp>
      <p:sp>
        <p:nvSpPr>
          <p:cNvPr id="33" name="Oval 32"/>
          <p:cNvSpPr/>
          <p:nvPr/>
        </p:nvSpPr>
        <p:spPr>
          <a:xfrm>
            <a:off x="2953512" y="3392424"/>
            <a:ext cx="310896" cy="310896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953512" y="33924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09960" y="3895344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4 · 在此输入要点</a:t>
            </a:r>
          </a:p>
        </p:txBody>
      </p:sp>
      <p:sp>
        <p:nvSpPr>
          <p:cNvPr id="3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 advClick="1" advTm="10000">
    <p:wheel spokes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0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2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4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61" dur="570"/>
                                  <p:tgtEl>
                                    <p:spTgt spid="2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81" dur="690"/>
                                  <p:tgtEl>
                                    <p:spTgt spid="2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01" dur="810"/>
                                  <p:tgtEl>
                                    <p:spTgt spid="2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21" dur="450"/>
                                  <p:tgtEl>
                                    <p:spTgt spid="2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41" dur="57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6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8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0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pan dir="l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0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2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4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6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8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0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2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4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6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8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01" dur="57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VENN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三圆交集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606040" y="868680"/>
            <a:ext cx="2834640" cy="2834640"/>
          </a:xfrm>
          <a:prstGeom prst="ellipse">
            <a:avLst/>
          </a:prstGeom>
          <a:solidFill>
            <a:srgbClr val="1E5FBF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17520" y="137159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主题一</a:t>
            </a:r>
          </a:p>
        </p:txBody>
      </p:sp>
      <p:sp>
        <p:nvSpPr>
          <p:cNvPr id="8" name="Oval 7"/>
          <p:cNvSpPr/>
          <p:nvPr/>
        </p:nvSpPr>
        <p:spPr>
          <a:xfrm>
            <a:off x="4617720" y="868680"/>
            <a:ext cx="2834640" cy="2834640"/>
          </a:xfrm>
          <a:prstGeom prst="ellipse">
            <a:avLst/>
          </a:prstGeom>
          <a:solidFill>
            <a:srgbClr val="C9A227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0" y="137159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主题二</a:t>
            </a:r>
          </a:p>
        </p:txBody>
      </p:sp>
      <p:sp>
        <p:nvSpPr>
          <p:cNvPr id="10" name="Oval 9"/>
          <p:cNvSpPr/>
          <p:nvPr/>
        </p:nvSpPr>
        <p:spPr>
          <a:xfrm>
            <a:off x="3611880" y="2423160"/>
            <a:ext cx="2834640" cy="2834640"/>
          </a:xfrm>
          <a:prstGeom prst="ellipse">
            <a:avLst/>
          </a:prstGeom>
          <a:solidFill>
            <a:srgbClr val="5B6B82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23360" y="4663440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主题三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6280" y="3383280"/>
            <a:ext cx="1463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交集 / 协同点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0" y="2377440"/>
            <a:ext cx="26517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839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0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主题一：在此输入一句要点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839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0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主题二：在此输入一句要点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839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0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主题三：在此输入一句要点</a:t>
            </a:r>
          </a:p>
        </p:txBody>
      </p:sp>
      <p:sp>
        <p:nvSpPr>
          <p:cNvPr id="1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4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6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8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0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2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4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6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8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0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2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常见问题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841248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0704" y="2322576"/>
            <a:ext cx="402336" cy="402336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32257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224942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在此输入问题一？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59689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063239"/>
            <a:ext cx="10424160" cy="841248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0704" y="3282696"/>
            <a:ext cx="402336" cy="402336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328269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320954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在此输入问题二？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557015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023360"/>
            <a:ext cx="10424160" cy="841248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60704" y="4242816"/>
            <a:ext cx="402336" cy="402336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0704" y="424281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16966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在此输入问题三？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451713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2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0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2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4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6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8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0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2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4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6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8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01" dur="81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多线路线图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36829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线一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286000" y="2971800"/>
            <a:ext cx="9052560" cy="0"/>
          </a:xfrm>
          <a:prstGeom prst="line">
            <a:avLst/>
          </a:prstGeom>
          <a:ln w="1270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37744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1E5FB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8716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1E5FB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8172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1E5FB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7628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01421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线二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286000" y="4617720"/>
            <a:ext cx="9052560" cy="0"/>
          </a:xfrm>
          <a:prstGeom prst="line">
            <a:avLst/>
          </a:prstGeom>
          <a:ln w="1270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37744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C9A227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8716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C9A227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172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20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8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0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2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4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6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8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0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2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4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6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8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01" dur="45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0" y="146304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4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6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8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SlideForge 商务蓝调">
  <a:themeElements>
    <a:clrScheme name="SlideForge 商务蓝调">
      <a:dk1>
        <a:srgbClr val="10233F"/>
      </a:dk1>
      <a:lt1>
        <a:srgbClr val="FFFFFF"/>
      </a:lt1>
      <a:dk2>
        <a:srgbClr val="5B6B82"/>
      </a:dk2>
      <a:lt2>
        <a:srgbClr val="F2F5FA"/>
      </a:lt2>
      <a:accent1>
        <a:srgbClr val="1E5FBF"/>
      </a:accent1>
      <a:accent2>
        <a:srgbClr val="C9A227"/>
      </a:accent2>
      <a:accent3>
        <a:srgbClr val="C9A227"/>
      </a:accent3>
      <a:accent4>
        <a:srgbClr val="D7E0EE"/>
      </a:accent4>
      <a:accent5>
        <a:srgbClr val="5B6B82"/>
      </a:accent5>
      <a:accent6>
        <a:srgbClr val="F2F5FA"/>
      </a:accent6>
      <a:hlink>
        <a:srgbClr val="1E5FBF"/>
      </a:hlink>
      <a:folHlink>
        <a:srgbClr val="5B6B8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