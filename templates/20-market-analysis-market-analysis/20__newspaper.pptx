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8C1D18"/>
              </a:solidFill>
            </c:spPr>
          </c:dPt>
          <c:dPt>
            <c:idx val="1"/>
            <c:spPr>
              <a:solidFill>
                <a:srgbClr val="2A2A28"/>
              </a:solidFill>
            </c:spPr>
          </c:dPt>
          <c:dPt>
            <c:idx val="2"/>
            <c:spPr>
              <a:solidFill>
                <a:srgbClr val="8C1D18"/>
              </a:solidFill>
            </c:spPr>
          </c:dPt>
          <c:dPt>
            <c:idx val="3"/>
            <c:spPr>
              <a:solidFill>
                <a:srgbClr val="2A2A28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【页面定位】在此输入一条市场判断。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【页面定位】VENN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8C1D1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市场与竞品分析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市场与竞品分析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市场概览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竞品对比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机会与风险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策略建议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市场概览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市场概览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在此输入「市场概览」的要点一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在此输入「市场概览」的要点二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在此输入「市场概览」的要点三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在此输入「市场概览」的要点四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竞品对比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A · 市场概览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B · 竞品对比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BF9F4"/>
                </a:solidFill>
                <a:latin typeface="Georgia"/>
                <a:ea typeface="宋体"/>
                <a:cs typeface="宋体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对标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决策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机会与风险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在此输入一条市场判断。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态势分析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1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1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1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1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6E6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1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1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1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1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VENN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三圆交集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8C1D18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主题一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2A2A28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主题二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6E675B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主题三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主题一：在此输入一句要点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主题二：在此输入一句要点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主题三：在此输入一句要点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多线路线图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报纸排版">
  <a:themeElements>
    <a:clrScheme name="SlideForge 报纸排版">
      <a:dk1>
        <a:srgbClr val="16130E"/>
      </a:dk1>
      <a:lt1>
        <a:srgbClr val="FBF9F4"/>
      </a:lt1>
      <a:dk2>
        <a:srgbClr val="6E675B"/>
      </a:dk2>
      <a:lt2>
        <a:srgbClr val="FFFFFF"/>
      </a:lt2>
      <a:accent1>
        <a:srgbClr val="8C1D18"/>
      </a:accent1>
      <a:accent2>
        <a:srgbClr val="2A2A28"/>
      </a:accent2>
      <a:accent3>
        <a:srgbClr val="2A2A28"/>
      </a:accent3>
      <a:accent4>
        <a:srgbClr val="DDD6C8"/>
      </a:accent4>
      <a:accent5>
        <a:srgbClr val="6E675B"/>
      </a:accent5>
      <a:accent6>
        <a:srgbClr val="FFFFFF"/>
      </a:accent6>
      <a:hlink>
        <a:srgbClr val="8C1D18"/>
      </a:hlink>
      <a:folHlink>
        <a:srgbClr val="6E675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