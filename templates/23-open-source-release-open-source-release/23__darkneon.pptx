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示例构成（右键 → 编辑数据）</c:v>
                </c:pt>
              </c:strCache>
            </c:strRef>
          </c:tx>
          <c:dPt>
            <c:idx val="0"/>
            <c:spPr>
              <a:solidFill>
                <a:srgbClr val="22D3EE"/>
              </a:solidFill>
            </c:spPr>
          </c:dPt>
          <c:dPt>
            <c:idx val="1"/>
            <c:spPr>
              <a:solidFill>
                <a:srgbClr val="F472B6"/>
              </a:solidFill>
            </c:spPr>
          </c:dPt>
          <c:dPt>
            <c:idx val="2"/>
            <c:spPr>
              <a:solidFill>
                <a:srgbClr val="22D3EE"/>
              </a:solidFill>
            </c:spPr>
          </c:dPt>
          <c:dPt>
            <c:idx val="3"/>
            <c:spPr>
              <a:solidFill>
                <a:srgbClr val="F472B6"/>
              </a:solidFill>
            </c:spPr>
          </c:dPt>
          <c:cat>
            <c:strRef>
              <c:f>Sheet1!$A$2:$A$5</c:f>
              <c:strCache>
                <c:ptCount val="4"/>
                <c:pt idx="0">
                  <c:v>板块一</c:v>
                </c:pt>
                <c:pt idx="1">
                  <c:v>板块二</c:v>
                </c:pt>
                <c:pt idx="2">
                  <c:v>板块三</c:v>
                </c:pt>
                <c:pt idx="3">
                  <c:v>板块四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25</c:v>
                </c:pt>
                <c:pt idx="2">
                  <c:v>20</c:v>
                </c:pt>
                <c:pt idx="3">
                  <c:v>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【页面定位】SECTION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【页面定位】在此输入一句项目口号。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【页面定位】LEVELS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【页面定位】VENN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【页面定位】FAQ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【页面定位】ROADMAP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22D3EE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开源项目发布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开源项目发布 · 在此输入副标题 / 项目名称</a:t>
            </a:r>
          </a:p>
        </p:txBody>
      </p:sp>
    </p:spTree>
  </p:cSld>
  <p:clrMapOvr>
    <a:masterClrMapping/>
  </p:clrMapOvr>
  <p:transition spd="med" advClick="1" advTm="6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项目简介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新特性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安装与使用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路线图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0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4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8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项目简介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r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项目简介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在此输入「项目简介」的要点一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在此输入「项目简介」的要点二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在此输入「项目简介」的要点三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在此输入「项目简介」的要点四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新特性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A · 项目简介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B · 新特性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 advTm="8000">
        <p159:morph option="byObject"/>
      </p:transition>
    </mc:Choice>
    <mc:Fallback>
      <p:transition spd="med" advClick="1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8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6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8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01" dur="45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项目简介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新特性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安装与使用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路线图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22D3EE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开发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测试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22D3EE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发布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维护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 advTm="8000">
        <p159:morph option="byObject"/>
      </p:transition>
    </mc:Choice>
    <mc:Fallback>
      <p:transition spd="med" advClick="1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6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371600" y="2286000"/>
          <a:ext cx="5486400" cy="3520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vortex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allery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4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6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8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安装与使用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r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在此输入一句项目口号。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LEVELS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分层结构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>
            <a:off x="4907127" y="2240280"/>
            <a:ext cx="2377440" cy="1078992"/>
          </a:xfrm>
          <a:prstGeom prst="triangl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07127" y="262432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层级一</a:t>
            </a:r>
          </a:p>
        </p:txBody>
      </p:sp>
      <p:sp>
        <p:nvSpPr>
          <p:cNvPr id="8" name="Trapezoid 7"/>
          <p:cNvSpPr/>
          <p:nvPr/>
        </p:nvSpPr>
        <p:spPr>
          <a:xfrm>
            <a:off x="3809847" y="3447288"/>
            <a:ext cx="4572000" cy="1078992"/>
          </a:xfrm>
          <a:prstGeom prst="trapezoid">
            <a:avLst>
              <a:gd name="adj" fmla="val 22000"/>
            </a:avLst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7047" y="3813048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层级二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10447" y="379476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1" name="Trapezoid 10"/>
          <p:cNvSpPr/>
          <p:nvPr/>
        </p:nvSpPr>
        <p:spPr>
          <a:xfrm>
            <a:off x="2712567" y="4654296"/>
            <a:ext cx="6766560" cy="1078992"/>
          </a:xfrm>
          <a:prstGeom prst="trapezoid">
            <a:avLst>
              <a:gd name="adj" fmla="val 22000"/>
            </a:avLst>
          </a:prstGeom>
          <a:solidFill>
            <a:srgbClr val="94A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69767" y="5020056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层级三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07727" y="500176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 advTm="8000">
        <p159:morph option="byObject"/>
      </p:transition>
    </mc:Choice>
    <mc:Fallback>
      <p:transition spd="med" advClick="1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0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pan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4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6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8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0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VENN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三圆交集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606040" y="868680"/>
            <a:ext cx="2834640" cy="2834640"/>
          </a:xfrm>
          <a:prstGeom prst="ellipse">
            <a:avLst/>
          </a:prstGeom>
          <a:solidFill>
            <a:srgbClr val="22D3EE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0" y="13715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主题一</a:t>
            </a:r>
          </a:p>
        </p:txBody>
      </p:sp>
      <p:sp>
        <p:nvSpPr>
          <p:cNvPr id="8" name="Oval 7"/>
          <p:cNvSpPr/>
          <p:nvPr/>
        </p:nvSpPr>
        <p:spPr>
          <a:xfrm>
            <a:off x="4617720" y="868680"/>
            <a:ext cx="2834640" cy="2834640"/>
          </a:xfrm>
          <a:prstGeom prst="ellipse">
            <a:avLst/>
          </a:prstGeom>
          <a:solidFill>
            <a:srgbClr val="F472B6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13715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主题二</a:t>
            </a:r>
          </a:p>
        </p:txBody>
      </p:sp>
      <p:sp>
        <p:nvSpPr>
          <p:cNvPr id="10" name="Oval 9"/>
          <p:cNvSpPr/>
          <p:nvPr/>
        </p:nvSpPr>
        <p:spPr>
          <a:xfrm>
            <a:off x="3611880" y="2423160"/>
            <a:ext cx="2834640" cy="2834640"/>
          </a:xfrm>
          <a:prstGeom prst="ellipse">
            <a:avLst/>
          </a:prstGeom>
          <a:solidFill>
            <a:srgbClr val="94A3C4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466344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主题三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3383280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交集 / 协同点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2377440"/>
            <a:ext cx="2651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主题一：在此输入一句要点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主题二：在此输入一句要点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主题三：在此输入一句要点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 advTm="8000">
        <p159:morph option="byObject"/>
      </p:transition>
    </mc:Choice>
    <mc:Fallback>
      <p:transition spd="med" advClick="1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0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2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4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0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2D3E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2D3E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2D3E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472B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472B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 advTm="8000">
        <p159:morph option="byObject"/>
      </p:transition>
    </mc:Choice>
    <mc:Fallback>
      <p:transition spd="med" advClick="1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4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6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8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0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暗黑霓虹">
  <a:themeElements>
    <a:clrScheme name="SlideForge 暗黑霓虹">
      <a:dk1>
        <a:srgbClr val="EAF2FF"/>
      </a:dk1>
      <a:lt1>
        <a:srgbClr val="0B0F1A"/>
      </a:lt1>
      <a:dk2>
        <a:srgbClr val="94A3C4"/>
      </a:dk2>
      <a:lt2>
        <a:srgbClr val="151B2B"/>
      </a:lt2>
      <a:accent1>
        <a:srgbClr val="22D3EE"/>
      </a:accent1>
      <a:accent2>
        <a:srgbClr val="F472B6"/>
      </a:accent2>
      <a:accent3>
        <a:srgbClr val="F472B6"/>
      </a:accent3>
      <a:accent4>
        <a:srgbClr val="26314B"/>
      </a:accent4>
      <a:accent5>
        <a:srgbClr val="94A3C4"/>
      </a:accent5>
      <a:accent6>
        <a:srgbClr val="151B2B"/>
      </a:accent6>
      <a:hlink>
        <a:srgbClr val="22D3EE"/>
      </a:hlink>
      <a:folHlink>
        <a:srgbClr val="94A3C4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