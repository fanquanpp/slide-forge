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【页面定位】开源项目发布 —— 开场页：自我介绍或破题，停留时间可稍长。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【页面定位】OVERVIEW —— 概览页：快速带过结构，告诉听众接下来讲什么。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【页面定位】01 —— 内容页：逐条展开，配合动画节奏点击推进。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【页面定位】OVERVIEW —— 数据页：先说结论，再用图表佐证。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【页面定位】KEY POINTS —— 收尾页：总结要点并给出行动号召或联系方式。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【页面定位】METRICS —— 开场页：自我介绍或破题，停留时间可稍长。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【页面定位】PROCESS —— 概览页：快速带过结构，告诉听众接下来讲什么。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【页面定位】PROCESS —— 内容页：逐条展开，配合动画节奏点击推进。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【页面定位】DATA —— 数据页：先说结论，再用图表佐证。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【页面定位】DATA —— 收尾页：总结要点并给出行动号召或联系方式。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【页面定位】KEY POINTS —— 开场页：自我介绍或破题，停留时间可稍长。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【页面定位】02 —— 概览页：快速带过结构，告诉听众接下来讲什么。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【页面定位】在此输入一句项目口号。 —— 内容页：逐条展开，配合动画节奏点击推进。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【页面定位】TEAM —— 数据页：先说结论，再用图表佐证。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【页面定位】HIGHLIGHT —— 收尾页：总结要点并给出行动号召或联系方式。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【页面定位】QUOTES —— 开场页：自我介绍或破题，停留时间可稍长。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【页面定位】FAQ —— 概览页：快速带过结构，告诉听众接下来讲什么。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【页面定位】谢谢观看 —— 内容页：逐条展开，配合动画节奏点击推进。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280160"/>
            <a:ext cx="5486400" cy="5486400"/>
          </a:xfrm>
          <a:prstGeom prst="ellipse">
            <a:avLst/>
          </a:prstGeom>
          <a:solidFill>
            <a:srgbClr val="6C8C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498079" y="2377440"/>
            <a:ext cx="6583680" cy="6583680"/>
          </a:xfrm>
          <a:prstGeom prst="ellipse">
            <a:avLst/>
          </a:prstGeom>
          <a:solidFill>
            <a:srgbClr val="FF8FB1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377440"/>
            <a:ext cx="9966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2000"/>
              </a:lnSpc>
              <a:spcAft>
                <a:spcPts val="400"/>
              </a:spcAft>
            </a:pPr>
            <a:r>
              <a:rPr sz="46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开源项目发布</a:t>
            </a:r>
          </a:p>
        </p:txBody>
      </p:sp>
      <p:sp>
        <p:nvSpPr>
          <p:cNvPr id="6" name="Rectangle 5"/>
          <p:cNvSpPr/>
          <p:nvPr/>
        </p:nvSpPr>
        <p:spPr>
          <a:xfrm>
            <a:off x="5684367" y="3886200"/>
            <a:ext cx="822960" cy="91440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114800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开源项目发布 · 在此输入副标题 / 项目名称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669280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团队 / 姓名  ·  YYYY-MM-DD</a:t>
            </a:r>
          </a:p>
        </p:txBody>
      </p:sp>
    </p:spTree>
  </p:cSld>
  <p:clrMapOvr>
    <a:masterClrMapping/>
  </p:clrMapOvr>
  <p:transition spd="med" advClick="1" advTm="8000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7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9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9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目录 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2430703" cy="2194560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项目简介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7983" y="2377440"/>
            <a:ext cx="2430703" cy="2194560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8023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8023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新特性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2377440"/>
            <a:ext cx="2430703" cy="2194560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安装与使用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38031" y="2377440"/>
            <a:ext cx="2430703" cy="2194560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8071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8071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路线图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渐变流体  ·  Gradient Flow</a:t>
            </a:r>
          </a:p>
        </p:txBody>
      </p:sp>
    </p:spTree>
  </p:cSld>
  <p:clrMapOvr>
    <a:masterClrMapping/>
  </p:clrMapOvr>
  <p:transition spd="med" advClick="1" advTm="8000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2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5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18" presetClass="entr" presetSubtype="1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7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2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9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42" presetClass="entr" presetSubtype="1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1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43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3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21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5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10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7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2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9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4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31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280160"/>
            <a:ext cx="5486400" cy="5486400"/>
          </a:xfrm>
          <a:prstGeom prst="ellipse">
            <a:avLst/>
          </a:prstGeom>
          <a:solidFill>
            <a:srgbClr val="6C8C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498079" y="2377440"/>
            <a:ext cx="6583680" cy="6583680"/>
          </a:xfrm>
          <a:prstGeom prst="ellipse">
            <a:avLst/>
          </a:prstGeom>
          <a:solidFill>
            <a:srgbClr val="FF8FB1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项目简介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渐变流体  ·  Gradient Flow</a:t>
            </a:r>
          </a:p>
        </p:txBody>
      </p:sp>
    </p:spTree>
  </p:cSld>
  <p:clrMapOvr>
    <a:masterClrMapping/>
  </p:clrMapOvr>
  <p:transition spd="med" advClick="1" advTm="8000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7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9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2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18" presetClass="entr" presetSubtype="1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2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42" presetClass="entr" presetSubtype="1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9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项目简介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424160" cy="640080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49424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231136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在此输入「项目简介」的要点一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889503"/>
            <a:ext cx="10424160" cy="640080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035808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017520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在此输入「项目简介」的要点二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675887"/>
            <a:ext cx="10424160" cy="640080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22191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803903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在此输入「项目简介」的要点三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462272"/>
            <a:ext cx="10424160" cy="640080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608576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590288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在此输入「项目简介」的要点四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渐变流体  ·  Gradient Flow</a:t>
            </a:r>
          </a:p>
        </p:txBody>
      </p:sp>
    </p:spTree>
  </p:cSld>
  <p:clrMapOvr>
    <a:masterClrMapping/>
  </p:clrMapOvr>
  <p:transition spd="med" advClick="1" advTm="8000">
    <p:checker dir="across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18" presetClass="entr" presetSubtype="1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3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2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5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42" presetClass="entr" presetSubtype="1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43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9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21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1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10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3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2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5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4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7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22" presetClass="entr" presetSubtype="8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9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37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31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新特性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A · 项目简介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FF8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B · 新特性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F8FB1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F8FB1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F8FB1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Oval 13"/>
          <p:cNvSpPr/>
          <p:nvPr/>
        </p:nvSpPr>
        <p:spPr>
          <a:xfrm>
            <a:off x="5711799" y="3703320"/>
            <a:ext cx="768096" cy="768096"/>
          </a:xfrm>
          <a:prstGeom prst="ellipse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1799" y="3703320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41A2E"/>
                </a:solidFill>
                <a:latin typeface="Segoe UI"/>
                <a:ea typeface="微软雅黑"/>
                <a:cs typeface="微软雅黑"/>
              </a:rPr>
              <a:t>VS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渐变流体  ·  Gradient Flow</a:t>
            </a:r>
          </a:p>
        </p:txBody>
      </p:sp>
    </p:spTree>
  </p:cSld>
  <p:clrMapOvr>
    <a:masterClrMapping/>
  </p:clrMapOvr>
  <p:transition spd="med" advClick="1" advTm="8000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2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42" presetClass="entr" presetSubtype="1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5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43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7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1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9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10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1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2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3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4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5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2" presetClass="entr" presetSubtype="8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7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37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9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52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3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关键数据一览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渐变流体  ·  Gradient Flow</a:t>
            </a:r>
          </a:p>
        </p:txBody>
      </p:sp>
    </p:spTree>
  </p:cSld>
  <p:clrMapOvr>
    <a:masterClrMapping/>
  </p:clrMapOvr>
  <p:transition spd="med" advClick="1" advTm="8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42" presetClass="entr" presetSubtype="1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3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43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5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1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71" dur="69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10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9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2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1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4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3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22" presetClass="entr" presetSubtype="8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51" dur="69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37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7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52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9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21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311" dur="57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排期 / 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2A35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项目简介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新特性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安装与使用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路线图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渐变流体  ·  Gradient Flow</a:t>
            </a:r>
          </a:p>
        </p:txBody>
      </p:sp>
    </p:spTree>
  </p:cSld>
  <p:clrMapOvr>
    <a:masterClrMapping/>
  </p:clrMapOvr>
  <p:transition spd="med" advClick="1" advTm="8000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1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43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3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1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5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10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71" dur="81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2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9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4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1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22" presetClass="entr" presetSubtype="8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37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5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52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7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21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91" dur="57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22" presetClass="entr" presetSubtype="4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3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工作流程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6C8CFF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开发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16553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测试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7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6C8CFF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发布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3741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维护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渐变流体  ·  Gradient Flow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1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3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10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5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2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7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4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9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22" presetClass="entr" presetSubtype="8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1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37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3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52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5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21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7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22" presetClass="entr" presetSubtype="4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9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9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数据图表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1463040" y="3840480"/>
            <a:ext cx="1280160" cy="914400"/>
          </a:xfrm>
          <a:prstGeom prst="line">
            <a:avLst/>
          </a:prstGeom>
          <a:ln w="31750">
            <a:solidFill>
              <a:srgbClr val="6C8C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743200" y="3840480"/>
            <a:ext cx="1280160" cy="457200"/>
          </a:xfrm>
          <a:prstGeom prst="line">
            <a:avLst/>
          </a:prstGeom>
          <a:ln w="31750">
            <a:solidFill>
              <a:srgbClr val="6C8C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4023360" y="3108960"/>
            <a:ext cx="1280160" cy="1188720"/>
          </a:xfrm>
          <a:prstGeom prst="line">
            <a:avLst/>
          </a:prstGeom>
          <a:ln w="31750">
            <a:solidFill>
              <a:srgbClr val="6C8C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303520" y="3108960"/>
            <a:ext cx="1280160" cy="457200"/>
          </a:xfrm>
          <a:prstGeom prst="line">
            <a:avLst/>
          </a:prstGeom>
          <a:ln w="31750">
            <a:solidFill>
              <a:srgbClr val="6C8C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583680" y="2743200"/>
            <a:ext cx="1280160" cy="822960"/>
          </a:xfrm>
          <a:prstGeom prst="line">
            <a:avLst/>
          </a:prstGeom>
          <a:ln w="31750">
            <a:solidFill>
              <a:srgbClr val="6C8C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399032" y="4690872"/>
            <a:ext cx="128016" cy="128016"/>
          </a:xfrm>
          <a:prstGeom prst="ellipse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679192" y="3776472"/>
            <a:ext cx="128016" cy="128016"/>
          </a:xfrm>
          <a:prstGeom prst="ellipse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959352" y="4233672"/>
            <a:ext cx="128016" cy="128016"/>
          </a:xfrm>
          <a:prstGeom prst="ellipse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239512" y="3044952"/>
            <a:ext cx="128016" cy="128016"/>
          </a:xfrm>
          <a:prstGeom prst="ellipse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19672" y="3502152"/>
            <a:ext cx="128016" cy="128016"/>
          </a:xfrm>
          <a:prstGeom prst="ellipse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99831" y="2679192"/>
            <a:ext cx="128016" cy="128016"/>
          </a:xfrm>
          <a:prstGeom prst="ellipse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原生可编辑图表 · 右键图表 → 编辑数据 即可替换数值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关键结论 / 解读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渐变流体  ·  Gradient Flow</a:t>
            </a:r>
          </a:p>
        </p:txBody>
      </p:sp>
    </p:spTree>
  </p:cSld>
  <p:clrMapOvr>
    <a:masterClrMapping/>
  </p:clrMapOvr>
  <p:transition spd="med" advClick="1" advTm="8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10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31" dur="81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5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4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7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2" presetClass="entr" presetSubtype="8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91" dur="69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37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1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52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3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21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5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2" presetClass="entr" presetSubtype="4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7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9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9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22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1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明细表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1E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2A35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2A35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1E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2A35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渐变流体  ·  Gradient Flow</a:t>
            </a:r>
          </a:p>
        </p:txBody>
      </p:sp>
    </p:spTree>
  </p:cSld>
  <p:clrMapOvr>
    <a:masterClrMapping/>
  </p:clrMapOvr>
  <p:transition spd="med" advClick="1" advTm="8000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4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2" presetClass="entr" presetSubtype="8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37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9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52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1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21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3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22" presetClass="entr" presetSubtype="4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5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9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22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9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18" presetClass="entr" presetSubtype="1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31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图集 / 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1E2740"/>
          </a:solidFill>
          <a:ln w="12700">
            <a:solidFill>
              <a:srgbClr val="2A355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1E2740"/>
          </a:solidFill>
          <a:ln w="12700">
            <a:solidFill>
              <a:srgbClr val="2A355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1E2740"/>
          </a:solidFill>
          <a:ln w="12700">
            <a:solidFill>
              <a:srgbClr val="2A355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1E2740"/>
          </a:solidFill>
          <a:ln w="12700">
            <a:solidFill>
              <a:srgbClr val="2A355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1E2740"/>
          </a:solidFill>
          <a:ln w="12700">
            <a:solidFill>
              <a:srgbClr val="2A355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1E2740"/>
          </a:solidFill>
          <a:ln w="12700">
            <a:solidFill>
              <a:srgbClr val="2A355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渐变流体  ·  Gradient Flow</a:t>
            </a:r>
          </a:p>
        </p:txBody>
      </p:sp>
    </p:spTree>
  </p:cSld>
  <p:clrMapOvr>
    <a:masterClrMapping/>
  </p:clrMapOvr>
  <p:transition spd="med" advClick="1" advTm="8000">
    <p:split orient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4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3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2" presetClass="entr" presetSubtype="8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37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7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52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9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21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1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22" presetClass="entr" presetSubtype="4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3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9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22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7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18" presetClass="entr" presetSubtype="1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9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22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1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280160"/>
            <a:ext cx="5486400" cy="5486400"/>
          </a:xfrm>
          <a:prstGeom prst="ellipse">
            <a:avLst/>
          </a:prstGeom>
          <a:solidFill>
            <a:srgbClr val="6C8C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498079" y="2377440"/>
            <a:ext cx="6583680" cy="6583680"/>
          </a:xfrm>
          <a:prstGeom prst="ellipse">
            <a:avLst/>
          </a:prstGeom>
          <a:solidFill>
            <a:srgbClr val="FF8FB1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安装与使用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渐变流体  ·  Gradient Flow</a:t>
            </a:r>
          </a:p>
        </p:txBody>
      </p:sp>
    </p:spTree>
  </p:cSld>
  <p:clrMapOvr>
    <a:masterClrMapping/>
  </p:clrMapOvr>
  <p:transition spd="med" advClick="1" advTm="8000">
    <p:blinds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1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10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7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9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4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2" presetClass="entr" presetSubtype="8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37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52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1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9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280160"/>
            <a:ext cx="5486400" cy="5486400"/>
          </a:xfrm>
          <a:prstGeom prst="ellipse">
            <a:avLst/>
          </a:prstGeom>
          <a:solidFill>
            <a:srgbClr val="6C8C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498079" y="2377440"/>
            <a:ext cx="6583680" cy="6583680"/>
          </a:xfrm>
          <a:prstGeom prst="ellipse">
            <a:avLst/>
          </a:prstGeom>
          <a:solidFill>
            <a:srgbClr val="FF8FB1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在此输入一句项目口号。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渐变流体  ·  Gradient Flow</a:t>
            </a:r>
          </a:p>
        </p:txBody>
      </p:sp>
    </p:spTree>
  </p:cSld>
  <p:clrMapOvr>
    <a:masterClrMapping/>
  </p:clrMapOvr>
  <p:transition spd="med" advClick="1" advTm="8000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10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7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4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9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2" presetClass="entr" presetSubtype="8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37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52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1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2" presetClass="entr" presetSubtype="4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9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团队 / 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渐变流体  ·  Gradient Flow</a:t>
            </a:r>
          </a:p>
        </p:txBody>
      </p:sp>
    </p:spTree>
  </p:cSld>
  <p:clrMapOvr>
    <a:masterClrMapping/>
  </p:clrMapOvr>
  <p:transition spd="med" advClick="1" advTm="8000">
    <p:comb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37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52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3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1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5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2" presetClass="entr" presetSubtype="4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7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9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22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1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18" presetClass="entr" presetSubtype="1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3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22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5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42" presetClass="entr" presetSubtype="1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71" dur="81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43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9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21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31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HIGHLIGHT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关键指标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4572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72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749039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在此输入指标说明 · 占位文本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0" y="2194560"/>
            <a:ext cx="5394960" cy="3566160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4370832"/>
            <a:ext cx="438912" cy="1024127"/>
          </a:xfrm>
          <a:prstGeom prst="rect">
            <a:avLst/>
          </a:prstGeom>
          <a:solidFill>
            <a:srgbClr val="6C8C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04304" y="3730752"/>
            <a:ext cx="438912" cy="1664207"/>
          </a:xfrm>
          <a:prstGeom prst="rect">
            <a:avLst/>
          </a:prstGeom>
          <a:solidFill>
            <a:srgbClr val="FF8FB1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99248" y="4114800"/>
            <a:ext cx="438912" cy="1280160"/>
          </a:xfrm>
          <a:prstGeom prst="rect">
            <a:avLst/>
          </a:prstGeom>
          <a:solidFill>
            <a:srgbClr val="6C8C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94192" y="3218688"/>
            <a:ext cx="438912" cy="2176272"/>
          </a:xfrm>
          <a:prstGeom prst="rect">
            <a:avLst/>
          </a:prstGeom>
          <a:solidFill>
            <a:srgbClr val="FF8FB1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089136" y="3858768"/>
            <a:ext cx="438912" cy="1536192"/>
          </a:xfrm>
          <a:prstGeom prst="rect">
            <a:avLst/>
          </a:prstGeom>
          <a:solidFill>
            <a:srgbClr val="6C8C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784080" y="2962656"/>
            <a:ext cx="438912" cy="2432303"/>
          </a:xfrm>
          <a:prstGeom prst="rect">
            <a:avLst/>
          </a:prstGeom>
          <a:solidFill>
            <a:srgbClr val="FF8FB1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479024" y="3602736"/>
            <a:ext cx="438912" cy="1792223"/>
          </a:xfrm>
          <a:prstGeom prst="rect">
            <a:avLst/>
          </a:prstGeom>
          <a:solidFill>
            <a:srgbClr val="6C8C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渐变流体  ·  Gradient Flow</a:t>
            </a:r>
          </a:p>
        </p:txBody>
      </p:sp>
    </p:spTree>
  </p:cSld>
  <p:clrMapOvr>
    <a:masterClrMapping/>
  </p:clrMapOvr>
  <p:transition spd="med" advClick="1" advTm="8000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1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3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2" presetClass="entr" presetSubtype="4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5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9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22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9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18" presetClass="entr" presetSubtype="1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1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22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42" presetClass="entr" presetSubtype="1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5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43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7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21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9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10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31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QUOTES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金句墙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3344570" cy="1815084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221284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743200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在此输入短句一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3562" y="2103120"/>
            <a:ext cx="3344570" cy="1815084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79594" y="221284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16170" y="2743200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在此输入短句二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4164" y="2103120"/>
            <a:ext cx="3344570" cy="1815084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0196" y="221284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6772" y="2743200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在此输入短句三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174235"/>
            <a:ext cx="3344570" cy="1815084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4283964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4814316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在此输入短句四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23562" y="4174235"/>
            <a:ext cx="3344570" cy="1815084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79594" y="4283964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16170" y="4814316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在此输入短句五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渐变流体  ·  Gradient Flow</a:t>
            </a:r>
          </a:p>
        </p:txBody>
      </p:sp>
    </p:spTree>
  </p:cSld>
  <p:clrMapOvr>
    <a:masterClrMapping/>
  </p:clrMapOvr>
  <p:transition spd="med" advClick="1" advTm="8000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3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9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22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7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18" presetClass="entr" presetSubtype="1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9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22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1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42" presetClass="entr" presetSubtype="1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3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43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5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21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7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10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9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2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311" dur="81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常见问题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424160" cy="841248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0704" y="2322576"/>
            <a:ext cx="402336" cy="402336"/>
          </a:xfrm>
          <a:prstGeom prst="ellipse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" y="232257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249424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在此输入问题一？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596896"/>
            <a:ext cx="9235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在此输入回答（占位）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063239"/>
            <a:ext cx="10424160" cy="841248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60704" y="3282696"/>
            <a:ext cx="402336" cy="402336"/>
          </a:xfrm>
          <a:prstGeom prst="ellipse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328269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209544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在此输入问题二？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557015"/>
            <a:ext cx="9235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在此输入回答（占位）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023360"/>
            <a:ext cx="10424160" cy="841248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60704" y="4242816"/>
            <a:ext cx="402336" cy="402336"/>
          </a:xfrm>
          <a:prstGeom prst="ellipse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" y="424281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Q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169664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在此输入问题三？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517136"/>
            <a:ext cx="9235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在此输入回答（占位）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渐变流体  ·  Gradient Flow</a:t>
            </a:r>
          </a:p>
        </p:txBody>
      </p:sp>
    </p:spTree>
  </p:cSld>
  <p:clrMapOvr>
    <a:masterClrMapping/>
  </p:clrMapOvr>
  <p:transition spd="med" advClick="1" advTm="8000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2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5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18" presetClass="entr" presetSubtype="1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7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2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9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42" presetClass="entr" presetSubtype="1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1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43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3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21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5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10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7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2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9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4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3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280160"/>
            <a:ext cx="5486400" cy="5486400"/>
          </a:xfrm>
          <a:prstGeom prst="ellipse">
            <a:avLst/>
          </a:prstGeom>
          <a:solidFill>
            <a:srgbClr val="6C8C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498079" y="2377440"/>
            <a:ext cx="6583680" cy="6583680"/>
          </a:xfrm>
          <a:prstGeom prst="ellipse">
            <a:avLst/>
          </a:prstGeom>
          <a:solidFill>
            <a:srgbClr val="FF8FB1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谢谢观看</a:t>
            </a:r>
          </a:p>
        </p:txBody>
      </p:sp>
      <p:sp>
        <p:nvSpPr>
          <p:cNvPr id="6" name="Rectangle 5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渐变流体  ·  Gradient Flow</a:t>
            </a:r>
          </a:p>
        </p:txBody>
      </p:sp>
    </p:spTree>
  </p:cSld>
  <p:clrMapOvr>
    <a:masterClrMapping/>
  </p:clrMapOvr>
  <p:transition spd="med" advClick="1" advTm="8000">
    <p:checker dir="across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2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18" presetClass="entr" presetSubtype="1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2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