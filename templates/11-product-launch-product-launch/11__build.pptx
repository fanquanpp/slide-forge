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1"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示例趋势（右键 → 编辑数据）</c:v>
                </c:pt>
              </c:strCache>
            </c:strRef>
          </c:tx>
          <c:spPr>
            <a:ln w="31750">
              <a:solidFill>
                <a:srgbClr val="2F6BFF"/>
              </a:solidFill>
            </a:ln>
          </c:spPr>
          <c:cat>
            <c:strRef>
              <c:f>Sheet1!$A$2:$A$7</c:f>
              <c:strCache>
                <c:ptCount val="6"/>
                <c:pt idx="0">
                  <c:v>一月</c:v>
                </c:pt>
                <c:pt idx="1">
                  <c:v>二月</c:v>
                </c:pt>
                <c:pt idx="2">
                  <c:v>三月</c:v>
                </c:pt>
                <c:pt idx="3">
                  <c:v>四月</c:v>
                </c:pt>
                <c:pt idx="4">
                  <c:v>五月</c:v>
                </c:pt>
                <c:pt idx="5">
                  <c:v>六月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</c:v>
                </c:pt>
                <c:pt idx="1">
                  <c:v>44</c:v>
                </c:pt>
                <c:pt idx="2">
                  <c:v>40</c:v>
                </c:pt>
                <c:pt idx="3">
                  <c:v>56</c:v>
                </c:pt>
                <c:pt idx="4">
                  <c:v>50</c:v>
                </c:pt>
                <c:pt idx="5">
                  <c:v>66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【页面定位】产品发布与介绍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【页面定位】在此输入一句产品主张。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【页面定位】HIGHLIGHTS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【页面定位】STEPS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【页面定位】FUNNEL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产品发布与介绍</a:t>
            </a:r>
          </a:p>
        </p:txBody>
      </p:sp>
      <p:sp>
        <p:nvSpPr>
          <p:cNvPr id="4" name="Rectangle 3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产品发布与介绍 · 在此输入副标题 / 项目名称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 advClick="1" advTm="6000">
    <p:split orient="horz" dir="ou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8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0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产品定位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核心亮点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演示与对比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发布计划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8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0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4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8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0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2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4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6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8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产品定位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flash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8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产品定位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在此输入「产品定位」的要点一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在此输入「产品定位」的要点二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在此输入「产品定位」的要点三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在此输入「产品定位」的要点四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0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2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4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6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8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0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2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4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6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8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0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核心亮点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A · 产品定位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B · 核心亮点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2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4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6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8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0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2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0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2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41" dur="45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6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8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21" dur="45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4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6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8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01" dur="45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产品定位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核心亮点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演示与对比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发布计划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8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2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4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6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8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2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4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6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0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2F6B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公测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2F6B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发布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迭代</a:t>
            </a:r>
          </a:p>
        </p:txBody>
      </p:sp>
      <p:sp>
        <p:nvSpPr>
          <p:cNvPr id="1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0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2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4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6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8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0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2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4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6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8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188720" y="2331720"/>
          <a:ext cx="5852160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0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2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4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6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2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4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6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8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0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2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4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6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8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conveyor dir="r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0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2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4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6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8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0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2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4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6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8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演示与对比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flash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8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0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在此输入一句产品主张。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8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0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HIGHLIGHTS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关键数字 / 速览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2430703" cy="3566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97280" y="2423160"/>
            <a:ext cx="38404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motion:hero"/>
          <p:cNvSpPr txBox="1"/>
          <p:nvPr/>
        </p:nvSpPr>
        <p:spPr>
          <a:xfrm>
            <a:off x="1097280" y="2606040"/>
            <a:ext cx="1882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566160"/>
            <a:ext cx="1882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950208"/>
            <a:ext cx="188206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趋势 / 备注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5093207"/>
            <a:ext cx="219456" cy="256032"/>
          </a:xfrm>
          <a:prstGeom prst="rect">
            <a:avLst/>
          </a:prstGeom>
          <a:solidFill>
            <a:srgbClr val="2F6B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408176" y="4965192"/>
            <a:ext cx="219456" cy="384048"/>
          </a:xfrm>
          <a:prstGeom prst="rect">
            <a:avLst/>
          </a:prstGeom>
          <a:solidFill>
            <a:srgbClr val="1A1A1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19072" y="4837175"/>
            <a:ext cx="219456" cy="512064"/>
          </a:xfrm>
          <a:prstGeom prst="rect">
            <a:avLst/>
          </a:prstGeom>
          <a:solidFill>
            <a:srgbClr val="2F6B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29967" y="4709159"/>
            <a:ext cx="219456" cy="640080"/>
          </a:xfrm>
          <a:prstGeom prst="rect">
            <a:avLst/>
          </a:prstGeom>
          <a:solidFill>
            <a:srgbClr val="1A1A1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340864" y="5093207"/>
            <a:ext cx="219456" cy="256032"/>
          </a:xfrm>
          <a:prstGeom prst="rect">
            <a:avLst/>
          </a:prstGeom>
          <a:solidFill>
            <a:srgbClr val="2F6B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527983" y="2148840"/>
            <a:ext cx="2430703" cy="3566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02303" y="2423160"/>
            <a:ext cx="384048" cy="50292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ontent:kpi"/>
          <p:cNvSpPr txBox="1"/>
          <p:nvPr/>
        </p:nvSpPr>
        <p:spPr>
          <a:xfrm>
            <a:off x="3802303" y="2606040"/>
            <a:ext cx="1882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02303" y="3566160"/>
            <a:ext cx="1882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02303" y="3950208"/>
            <a:ext cx="188206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趋势 / 备注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02303" y="4965192"/>
            <a:ext cx="219456" cy="384048"/>
          </a:xfrm>
          <a:prstGeom prst="rect">
            <a:avLst/>
          </a:prstGeom>
          <a:solidFill>
            <a:srgbClr val="1A1A1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13199" y="4837175"/>
            <a:ext cx="219456" cy="512064"/>
          </a:xfrm>
          <a:prstGeom prst="rect">
            <a:avLst/>
          </a:prstGeom>
          <a:solidFill>
            <a:srgbClr val="2F6B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24095" y="4709159"/>
            <a:ext cx="219456" cy="640080"/>
          </a:xfrm>
          <a:prstGeom prst="rect">
            <a:avLst/>
          </a:prstGeom>
          <a:solidFill>
            <a:srgbClr val="1A1A1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734991" y="5093207"/>
            <a:ext cx="219456" cy="256032"/>
          </a:xfrm>
          <a:prstGeom prst="rect">
            <a:avLst/>
          </a:prstGeom>
          <a:solidFill>
            <a:srgbClr val="2F6B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45887" y="4965192"/>
            <a:ext cx="219456" cy="384048"/>
          </a:xfrm>
          <a:prstGeom prst="rect">
            <a:avLst/>
          </a:prstGeom>
          <a:solidFill>
            <a:srgbClr val="1A1A1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233007" y="2148840"/>
            <a:ext cx="2430703" cy="3566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07327" y="2423160"/>
            <a:ext cx="38404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content:kpi"/>
          <p:cNvSpPr txBox="1"/>
          <p:nvPr/>
        </p:nvSpPr>
        <p:spPr>
          <a:xfrm>
            <a:off x="6507327" y="2606040"/>
            <a:ext cx="1882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07327" y="3566160"/>
            <a:ext cx="1882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07327" y="3950208"/>
            <a:ext cx="188206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趋势 / 备注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07327" y="4837175"/>
            <a:ext cx="219456" cy="512064"/>
          </a:xfrm>
          <a:prstGeom prst="rect">
            <a:avLst/>
          </a:prstGeom>
          <a:solidFill>
            <a:srgbClr val="2F6B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818223" y="4709159"/>
            <a:ext cx="219456" cy="640080"/>
          </a:xfrm>
          <a:prstGeom prst="rect">
            <a:avLst/>
          </a:prstGeom>
          <a:solidFill>
            <a:srgbClr val="1A1A1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129119" y="5093207"/>
            <a:ext cx="219456" cy="256032"/>
          </a:xfrm>
          <a:prstGeom prst="rect">
            <a:avLst/>
          </a:prstGeom>
          <a:solidFill>
            <a:srgbClr val="2F6B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40015" y="4965192"/>
            <a:ext cx="219456" cy="384048"/>
          </a:xfrm>
          <a:prstGeom prst="rect">
            <a:avLst/>
          </a:prstGeom>
          <a:solidFill>
            <a:srgbClr val="1A1A1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50911" y="4837175"/>
            <a:ext cx="219456" cy="512064"/>
          </a:xfrm>
          <a:prstGeom prst="rect">
            <a:avLst/>
          </a:prstGeom>
          <a:solidFill>
            <a:srgbClr val="2F6B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938031" y="2148840"/>
            <a:ext cx="2430703" cy="3566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212351" y="2423160"/>
            <a:ext cx="384048" cy="50292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content:kpi"/>
          <p:cNvSpPr txBox="1"/>
          <p:nvPr/>
        </p:nvSpPr>
        <p:spPr>
          <a:xfrm>
            <a:off x="9212351" y="2606040"/>
            <a:ext cx="1882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12351" y="3566160"/>
            <a:ext cx="1882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维度四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12351" y="3950208"/>
            <a:ext cx="188206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趋势 / 备注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212351" y="4709159"/>
            <a:ext cx="219456" cy="640080"/>
          </a:xfrm>
          <a:prstGeom prst="rect">
            <a:avLst/>
          </a:prstGeom>
          <a:solidFill>
            <a:srgbClr val="1A1A1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523247" y="5093207"/>
            <a:ext cx="219456" cy="256032"/>
          </a:xfrm>
          <a:prstGeom prst="rect">
            <a:avLst/>
          </a:prstGeom>
          <a:solidFill>
            <a:srgbClr val="2F6B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834143" y="4965192"/>
            <a:ext cx="219456" cy="384048"/>
          </a:xfrm>
          <a:prstGeom prst="rect">
            <a:avLst/>
          </a:prstGeom>
          <a:solidFill>
            <a:srgbClr val="1A1A1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0145039" y="4837175"/>
            <a:ext cx="219456" cy="512064"/>
          </a:xfrm>
          <a:prstGeom prst="rect">
            <a:avLst/>
          </a:prstGeom>
          <a:solidFill>
            <a:srgbClr val="2F6B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455935" y="4709159"/>
            <a:ext cx="219456" cy="640080"/>
          </a:xfrm>
          <a:prstGeom prst="rect">
            <a:avLst/>
          </a:prstGeom>
          <a:solidFill>
            <a:srgbClr val="1A1A1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10000">
    <p:wheel spokes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0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21" dur="810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41" dur="450"/>
                                  <p:tgtEl>
                                    <p:spTgt spid="3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6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01" dur="810"/>
                                  <p:tgtEl>
                                    <p:spTgt spid="2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21" dur="450"/>
                                  <p:tgtEl>
                                    <p:spTgt spid="3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4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00" fill="hold" nodeType="afterEffect" grpId="0" presetID="6" presetClass="emph" presetSubtype="0">
                            <p:stCondLst>
                              <p:cond delay="1870"/>
                            </p:stCondLst>
                            <p:childTnLst>
                              <p:animScale>
                                <p:cBhvr>
                                  <p:cTn id="261" dur="500" fill="hold"/>
                                  <p:tgtEl>
                                    <p:spTgt spid="8"/>
                                  </p:tgtEl>
                                </p:cBhvr>
                                <p:by x="108000" y="108000"/>
                              </p:animScale>
                            </p:childTnLst>
                          </p:cTn>
                        </p:par>
                        <p:par>
                          <p:cTn id="27" dur="69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810"/>
                                  <p:tgtEl>
                                    <p:spTgt spid="2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450"/>
                                  <p:tgtEl>
                                    <p:spTgt spid="3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pan dir="l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0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2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4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8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0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2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4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6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8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0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82296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motion:hero"/>
          <p:cNvSpPr txBox="1"/>
          <p:nvPr/>
        </p:nvSpPr>
        <p:spPr>
          <a:xfrm>
            <a:off x="822960" y="17373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977639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在此输入关键数字的含义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75488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在此输入补充说明（占位）</a:t>
            </a:r>
          </a:p>
        </p:txBody>
      </p:sp>
      <p:sp>
        <p:nvSpPr>
          <p:cNvPr id="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00" fill="hold" nodeType="afterEffect" grpId="0" presetID="6" presetClass="emph" presetSubtype="0">
                            <p:stCondLst>
                              <p:cond delay="820"/>
                            </p:stCondLst>
                            <p:childTnLst>
                              <p:animScale>
                                <p:cBhvr>
                                  <p:cTn id="81" dur="500" fill="hold"/>
                                  <p:tgtEl>
                                    <p:spTgt spid="4"/>
                                  </p:tgtEl>
                                </p:cBhvr>
                                <p:by x="108000" y="108000"/>
                              </p:animScale>
                            </p:childTnLst>
                          </p:cTn>
                        </p:par>
                        <p:par>
                          <p:cTn id="9" dur="81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分步说明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371600" y="2286000"/>
            <a:ext cx="0" cy="2331720"/>
          </a:xfrm>
          <a:prstGeom prst="line">
            <a:avLst/>
          </a:prstGeom>
          <a:ln w="203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97864" y="2212848"/>
            <a:ext cx="347472" cy="347472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97864" y="221284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1488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产品定位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48716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1" name="Oval 10"/>
          <p:cNvSpPr/>
          <p:nvPr/>
        </p:nvSpPr>
        <p:spPr>
          <a:xfrm>
            <a:off x="1197864" y="2990088"/>
            <a:ext cx="347472" cy="347472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97864" y="299008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926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核心亮点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26440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5" name="Oval 14"/>
          <p:cNvSpPr/>
          <p:nvPr/>
        </p:nvSpPr>
        <p:spPr>
          <a:xfrm>
            <a:off x="1197864" y="3767327"/>
            <a:ext cx="347472" cy="347472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97864" y="376732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7033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演示与对比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4164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9" name="Oval 18"/>
          <p:cNvSpPr/>
          <p:nvPr/>
        </p:nvSpPr>
        <p:spPr>
          <a:xfrm>
            <a:off x="1197864" y="4544567"/>
            <a:ext cx="347472" cy="347472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97864" y="454456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80559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发布计划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81888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23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8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4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6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8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0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2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4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6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8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0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FUNNEL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转化漏斗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706727" y="2194560"/>
            <a:ext cx="8778240" cy="786384"/>
          </a:xfrm>
          <a:prstGeom prst="roundRect">
            <a:avLst>
              <a:gd name="adj" fmla="val 18000"/>
            </a:avLst>
          </a:prstGeom>
          <a:solidFill>
            <a:srgbClr val="2F6BFF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2487" y="2414015"/>
            <a:ext cx="67665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层级一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367" y="2414015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100%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21127" y="3127248"/>
            <a:ext cx="6949440" cy="786384"/>
          </a:xfrm>
          <a:prstGeom prst="roundRect">
            <a:avLst>
              <a:gd name="adj" fmla="val 18000"/>
            </a:avLst>
          </a:prstGeom>
          <a:solidFill>
            <a:srgbClr val="1A1A1A">
              <a:alpha val="8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86887" y="3346704"/>
            <a:ext cx="49377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层级二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8967" y="3346704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35527" y="4059935"/>
            <a:ext cx="5120640" cy="786384"/>
          </a:xfrm>
          <a:prstGeom prst="roundRect">
            <a:avLst>
              <a:gd name="adj" fmla="val 18000"/>
            </a:avLst>
          </a:prstGeom>
          <a:solidFill>
            <a:srgbClr val="2F6BFF">
              <a:alpha val="7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01287" y="4279392"/>
            <a:ext cx="31089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层级三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84567" y="4279392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49927" y="4992624"/>
            <a:ext cx="3291840" cy="786384"/>
          </a:xfrm>
          <a:prstGeom prst="roundRect">
            <a:avLst>
              <a:gd name="adj" fmla="val 18000"/>
            </a:avLst>
          </a:prstGeom>
          <a:solidFill>
            <a:srgbClr val="1A1A1A">
              <a:alpha val="6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15687" y="5212080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层级四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0167" y="5212080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2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4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6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8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0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2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4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6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8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4" name="Rectangle 3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SlideForge 呼吸留白极简">
  <a:themeElements>
    <a:clrScheme name="SlideForge 呼吸留白极简">
      <a:dk1>
        <a:srgbClr val="1A1A1A"/>
      </a:dk1>
      <a:lt1>
        <a:srgbClr val="FBFBFA"/>
      </a:lt1>
      <a:dk2>
        <a:srgbClr val="8A8A8A"/>
      </a:dk2>
      <a:lt2>
        <a:srgbClr val="FFFFFF"/>
      </a:lt2>
      <a:accent1>
        <a:srgbClr val="2F6BFF"/>
      </a:accent1>
      <a:accent2>
        <a:srgbClr val="1A1A1A"/>
      </a:accent2>
      <a:accent3>
        <a:srgbClr val="1A1A1A"/>
      </a:accent3>
      <a:accent4>
        <a:srgbClr val="E6E6E6"/>
      </a:accent4>
      <a:accent5>
        <a:srgbClr val="8A8A8A"/>
      </a:accent5>
      <a:accent6>
        <a:srgbClr val="FFFFFF"/>
      </a:accent6>
      <a:hlink>
        <a:srgbClr val="2F6BFF"/>
      </a:hlink>
      <a:folHlink>
        <a:srgbClr val="8A8A8A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