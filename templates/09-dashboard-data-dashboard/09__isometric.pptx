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示例趋势（右键 → 编辑数据）</c:v>
                </c:pt>
              </c:strCache>
            </c:strRef>
          </c:tx>
          <c:spPr>
            <a:ln w="31750">
              <a:solidFill>
                <a:srgbClr val="1FA97A"/>
              </a:solidFill>
            </a:ln>
          </c:spPr>
          <c:cat>
            <c:strRef>
              <c:f>Sheet1!$A$2:$A$7</c:f>
              <c:strCache>
                <c:ptCount val="6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  <c:pt idx="4">
                  <c:v>五月</c:v>
                </c:pt>
                <c:pt idx="5">
                  <c:v>六月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44</c:v>
                </c:pt>
                <c:pt idx="2">
                  <c:v>40</c:v>
                </c:pt>
                <c:pt idx="3">
                  <c:v>56</c:v>
                </c:pt>
                <c:pt idx="4">
                  <c:v>50</c:v>
                </c:pt>
                <c:pt idx="5">
                  <c:v>66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【页面定位】数据看板与指标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【页面定位】在此输入一条数据洞察。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【页面定位】HIGHLIGHTS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【页面定位】FUNNEL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【页面定位】PYRAMID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【页面定位】GLOSSARY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数据看板与指标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数据看板与指标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6000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总体概览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趋势分析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结论与行动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8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总体概览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flash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总体概览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在此输入「总体概览」的要点一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在此输入「总体概览」的要点二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在此输入「总体概览」的要点三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在此输入「总体概览」的要点四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4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0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A · 总体概览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B · 关键指标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2994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2994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2994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8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4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6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6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8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01" dur="69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总体概览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趋势分析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结论与行动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4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6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1FA97A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清洗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1FA97A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展示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 advClick="1" advTm="80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6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8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2331720"/>
          <a:ext cx="58521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conveyor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2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4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6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8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趋势分析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flash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在此输入一条数据洞察。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关键数字 / 速览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430703" cy="3566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423160"/>
            <a:ext cx="38404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otion:hero"/>
          <p:cNvSpPr txBox="1"/>
          <p:nvPr/>
        </p:nvSpPr>
        <p:spPr>
          <a:xfrm>
            <a:off x="1097280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5093207"/>
            <a:ext cx="219456" cy="256032"/>
          </a:xfrm>
          <a:prstGeom prst="rect">
            <a:avLst/>
          </a:prstGeom>
          <a:solidFill>
            <a:srgbClr val="1FA97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08176" y="4965192"/>
            <a:ext cx="219456" cy="384048"/>
          </a:xfrm>
          <a:prstGeom prst="rect">
            <a:avLst/>
          </a:prstGeom>
          <a:solidFill>
            <a:srgbClr val="F299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9072" y="4837175"/>
            <a:ext cx="219456" cy="512064"/>
          </a:xfrm>
          <a:prstGeom prst="rect">
            <a:avLst/>
          </a:prstGeom>
          <a:solidFill>
            <a:srgbClr val="1FA97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29967" y="4709159"/>
            <a:ext cx="219456" cy="640080"/>
          </a:xfrm>
          <a:prstGeom prst="rect">
            <a:avLst/>
          </a:prstGeom>
          <a:solidFill>
            <a:srgbClr val="F299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40864" y="5093207"/>
            <a:ext cx="219456" cy="256032"/>
          </a:xfrm>
          <a:prstGeom prst="rect">
            <a:avLst/>
          </a:prstGeom>
          <a:solidFill>
            <a:srgbClr val="1FA97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7983" y="2148840"/>
            <a:ext cx="2430703" cy="3566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2303" y="2423160"/>
            <a:ext cx="384048" cy="50292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ntent:kpi"/>
          <p:cNvSpPr txBox="1"/>
          <p:nvPr/>
        </p:nvSpPr>
        <p:spPr>
          <a:xfrm>
            <a:off x="3802303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2994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2303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2303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2303" y="4965192"/>
            <a:ext cx="219456" cy="384048"/>
          </a:xfrm>
          <a:prstGeom prst="rect">
            <a:avLst/>
          </a:prstGeom>
          <a:solidFill>
            <a:srgbClr val="F299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3199" y="4837175"/>
            <a:ext cx="219456" cy="512064"/>
          </a:xfrm>
          <a:prstGeom prst="rect">
            <a:avLst/>
          </a:prstGeom>
          <a:solidFill>
            <a:srgbClr val="1FA97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24095" y="4709159"/>
            <a:ext cx="219456" cy="640080"/>
          </a:xfrm>
          <a:prstGeom prst="rect">
            <a:avLst/>
          </a:prstGeom>
          <a:solidFill>
            <a:srgbClr val="F299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34991" y="5093207"/>
            <a:ext cx="219456" cy="256032"/>
          </a:xfrm>
          <a:prstGeom prst="rect">
            <a:avLst/>
          </a:prstGeom>
          <a:solidFill>
            <a:srgbClr val="1FA97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45887" y="4965192"/>
            <a:ext cx="219456" cy="384048"/>
          </a:xfrm>
          <a:prstGeom prst="rect">
            <a:avLst/>
          </a:prstGeom>
          <a:solidFill>
            <a:srgbClr val="F299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33007" y="2148840"/>
            <a:ext cx="2430703" cy="3566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07327" y="2423160"/>
            <a:ext cx="38404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ntent:kpi"/>
          <p:cNvSpPr txBox="1"/>
          <p:nvPr/>
        </p:nvSpPr>
        <p:spPr>
          <a:xfrm>
            <a:off x="6507327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7327" y="4837175"/>
            <a:ext cx="219456" cy="512064"/>
          </a:xfrm>
          <a:prstGeom prst="rect">
            <a:avLst/>
          </a:prstGeom>
          <a:solidFill>
            <a:srgbClr val="1FA97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18223" y="4709159"/>
            <a:ext cx="219456" cy="640080"/>
          </a:xfrm>
          <a:prstGeom prst="rect">
            <a:avLst/>
          </a:prstGeom>
          <a:solidFill>
            <a:srgbClr val="F299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29119" y="5093207"/>
            <a:ext cx="219456" cy="256032"/>
          </a:xfrm>
          <a:prstGeom prst="rect">
            <a:avLst/>
          </a:prstGeom>
          <a:solidFill>
            <a:srgbClr val="1FA97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40015" y="4965192"/>
            <a:ext cx="219456" cy="384048"/>
          </a:xfrm>
          <a:prstGeom prst="rect">
            <a:avLst/>
          </a:prstGeom>
          <a:solidFill>
            <a:srgbClr val="F299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50911" y="4837175"/>
            <a:ext cx="219456" cy="512064"/>
          </a:xfrm>
          <a:prstGeom prst="rect">
            <a:avLst/>
          </a:prstGeom>
          <a:solidFill>
            <a:srgbClr val="1FA97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38031" y="2148840"/>
            <a:ext cx="2430703" cy="3566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12351" y="2423160"/>
            <a:ext cx="384048" cy="50292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ntent:kpi"/>
          <p:cNvSpPr txBox="1"/>
          <p:nvPr/>
        </p:nvSpPr>
        <p:spPr>
          <a:xfrm>
            <a:off x="9212351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2994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2351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维度四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2351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12351" y="4709159"/>
            <a:ext cx="219456" cy="640080"/>
          </a:xfrm>
          <a:prstGeom prst="rect">
            <a:avLst/>
          </a:prstGeom>
          <a:solidFill>
            <a:srgbClr val="F299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23247" y="5093207"/>
            <a:ext cx="219456" cy="256032"/>
          </a:xfrm>
          <a:prstGeom prst="rect">
            <a:avLst/>
          </a:prstGeom>
          <a:solidFill>
            <a:srgbClr val="1FA97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34143" y="4965192"/>
            <a:ext cx="219456" cy="384048"/>
          </a:xfrm>
          <a:prstGeom prst="rect">
            <a:avLst/>
          </a:prstGeom>
          <a:solidFill>
            <a:srgbClr val="F299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45039" y="4837175"/>
            <a:ext cx="219456" cy="512064"/>
          </a:xfrm>
          <a:prstGeom prst="rect">
            <a:avLst/>
          </a:prstGeom>
          <a:solidFill>
            <a:srgbClr val="1FA97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55935" y="4709159"/>
            <a:ext cx="219456" cy="640080"/>
          </a:xfrm>
          <a:prstGeom prst="rect">
            <a:avLst/>
          </a:prstGeom>
          <a:solidFill>
            <a:srgbClr val="F299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57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69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57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69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4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00" fill="hold" nodeType="afterEffect" grpId="0" presetID="6" presetClass="emph" presetSubtype="0">
                            <p:stCondLst>
                              <p:cond delay="2110"/>
                            </p:stCondLst>
                            <p:childTnLst>
                              <p:animScale>
                                <p:cBhvr>
                                  <p:cTn id="261" dur="500" fill="hold"/>
                                  <p:tgtEl>
                                    <p:spTgt spid="8"/>
                                  </p:tgtEl>
                                </p:cBhvr>
                                <p:by x="108000" y="108000"/>
                              </p:animScale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57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69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pan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0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转化漏斗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6727" y="2194560"/>
            <a:ext cx="8778240" cy="786384"/>
          </a:xfrm>
          <a:prstGeom prst="roundRect">
            <a:avLst>
              <a:gd name="adj" fmla="val 18000"/>
            </a:avLst>
          </a:prstGeom>
          <a:solidFill>
            <a:srgbClr val="1FA97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2487" y="2414015"/>
            <a:ext cx="6766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层级一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367" y="2414015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1127" y="3127248"/>
            <a:ext cx="6949440" cy="786384"/>
          </a:xfrm>
          <a:prstGeom prst="roundRect">
            <a:avLst>
              <a:gd name="adj" fmla="val 18000"/>
            </a:avLst>
          </a:prstGeom>
          <a:solidFill>
            <a:srgbClr val="F2994A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6887" y="334670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层级二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8967" y="3346704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5527" y="4059935"/>
            <a:ext cx="5120640" cy="786384"/>
          </a:xfrm>
          <a:prstGeom prst="roundRect">
            <a:avLst>
              <a:gd name="adj" fmla="val 18000"/>
            </a:avLst>
          </a:prstGeom>
          <a:solidFill>
            <a:srgbClr val="1FA97A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1287" y="4279392"/>
            <a:ext cx="310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层级三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4567" y="4279392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9927" y="4992624"/>
            <a:ext cx="3291840" cy="786384"/>
          </a:xfrm>
          <a:prstGeom prst="roundRect">
            <a:avLst>
              <a:gd name="adj" fmla="val 18000"/>
            </a:avLst>
          </a:prstGeom>
          <a:solidFill>
            <a:srgbClr val="F2994A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5687" y="521208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层级四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521208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8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PYRAMID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金字塔结构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4907127" y="2240280"/>
            <a:ext cx="2377440" cy="1078992"/>
          </a:xfrm>
          <a:prstGeom prst="triangl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07127" y="262432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顶层</a:t>
            </a:r>
          </a:p>
        </p:txBody>
      </p:sp>
      <p:sp>
        <p:nvSpPr>
          <p:cNvPr id="8" name="Trapezoid 7"/>
          <p:cNvSpPr/>
          <p:nvPr/>
        </p:nvSpPr>
        <p:spPr>
          <a:xfrm>
            <a:off x="3809847" y="3447288"/>
            <a:ext cx="4572000" cy="1078992"/>
          </a:xfrm>
          <a:prstGeom prst="trapezoid">
            <a:avLst>
              <a:gd name="adj" fmla="val 22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7047" y="38130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中层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0447" y="37947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在此输入说明（占位）</a:t>
            </a:r>
          </a:p>
        </p:txBody>
      </p:sp>
      <p:sp>
        <p:nvSpPr>
          <p:cNvPr id="11" name="Trapezoid 10"/>
          <p:cNvSpPr/>
          <p:nvPr/>
        </p:nvSpPr>
        <p:spPr>
          <a:xfrm>
            <a:off x="2712567" y="4654296"/>
            <a:ext cx="6766560" cy="1078992"/>
          </a:xfrm>
          <a:prstGeom prst="trapezoid">
            <a:avLst>
              <a:gd name="adj" fmla="val 22000"/>
            </a:avLst>
          </a:prstGeom>
          <a:solidFill>
            <a:srgbClr val="7F8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9767" y="5020056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基础层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7727" y="500176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在此输入说明（占位）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 advClick="1" advTm="80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术语表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等距信息图">
  <a:themeElements>
    <a:clrScheme name="SlideForge 等距信息图">
      <a:dk1>
        <a:srgbClr val="1E2A26"/>
      </a:dk1>
      <a:lt1>
        <a:srgbClr val="F2F5F3"/>
      </a:lt1>
      <a:dk2>
        <a:srgbClr val="7F8C87"/>
      </a:dk2>
      <a:lt2>
        <a:srgbClr val="FFFFFF"/>
      </a:lt2>
      <a:accent1>
        <a:srgbClr val="1FA97A"/>
      </a:accent1>
      <a:accent2>
        <a:srgbClr val="F2994A"/>
      </a:accent2>
      <a:accent3>
        <a:srgbClr val="F2994A"/>
      </a:accent3>
      <a:accent4>
        <a:srgbClr val="DDE6E1"/>
      </a:accent4>
      <a:accent5>
        <a:srgbClr val="7F8C87"/>
      </a:accent5>
      <a:accent6>
        <a:srgbClr val="FFFFFF"/>
      </a:accent6>
      <a:hlink>
        <a:srgbClr val="1FA97A"/>
      </a:hlink>
      <a:folHlink>
        <a:srgbClr val="7F8C8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