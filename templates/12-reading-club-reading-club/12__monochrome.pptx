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0A0A0A"/>
              </a:solidFill>
            </c:spPr>
          </c:dPt>
          <c:dPt>
            <c:idx val="1"/>
            <c:spPr>
              <a:solidFill>
                <a:srgbClr val="3D3D3D"/>
              </a:solidFill>
            </c:spPr>
          </c:dPt>
          <c:dPt>
            <c:idx val="2"/>
            <c:spPr>
              <a:solidFill>
                <a:srgbClr val="0A0A0A"/>
              </a:solidFill>
            </c:spPr>
          </c:dPt>
          <c:dPt>
            <c:idx val="3"/>
            <c:spPr>
              <a:solidFill>
                <a:srgbClr val="3D3D3D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【页面定位】在此输入一句读后感。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【页面定位】INTERSECTION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【页面定位】FUNNEL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【页面定位】PYRAMID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读书会与共读分享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读书会与共读分享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在此输入「书目简介」的要点四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书目简介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核心观点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81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讨论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在此输入一句读后感。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三要素交集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0A0A0A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要素一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3D3D3D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要素二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C8C8C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要素三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要素一：在此输入一句要点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要素二：在此输入一句要点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要素三：在此输入一句要点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书目简介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核心观点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金句摘录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共读安排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FUNNEL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转化漏斗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706727" y="2194560"/>
            <a:ext cx="87782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9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72487" y="2414015"/>
            <a:ext cx="67665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13367" y="2414015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100%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21127" y="3127248"/>
            <a:ext cx="69494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8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887" y="3346704"/>
            <a:ext cx="49377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3346704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35527" y="4059935"/>
            <a:ext cx="5120640" cy="786384"/>
          </a:xfrm>
          <a:prstGeom prst="roundRect">
            <a:avLst>
              <a:gd name="adj" fmla="val 18000"/>
            </a:avLst>
          </a:prstGeom>
          <a:solidFill>
            <a:srgbClr val="0A0A0A">
              <a:alpha val="7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1287" y="4279392"/>
            <a:ext cx="3108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84567" y="4279392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49927" y="4992624"/>
            <a:ext cx="3291840" cy="786384"/>
          </a:xfrm>
          <a:prstGeom prst="roundRect">
            <a:avLst>
              <a:gd name="adj" fmla="val 18000"/>
            </a:avLst>
          </a:prstGeom>
          <a:solidFill>
            <a:srgbClr val="3D3D3D">
              <a:alpha val="6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5687" y="521208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层级四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0167" y="5212080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PYRAMID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金字塔结构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>
            <a:off x="4907127" y="2240280"/>
            <a:ext cx="2377440" cy="1078992"/>
          </a:xfrm>
          <a:prstGeom prst="triangl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07127" y="262432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顶层</a:t>
            </a:r>
          </a:p>
        </p:txBody>
      </p:sp>
      <p:sp>
        <p:nvSpPr>
          <p:cNvPr id="8" name="Trapezoid 7"/>
          <p:cNvSpPr/>
          <p:nvPr/>
        </p:nvSpPr>
        <p:spPr>
          <a:xfrm>
            <a:off x="3809847" y="3447288"/>
            <a:ext cx="4572000" cy="1078992"/>
          </a:xfrm>
          <a:prstGeom prst="trapezoid">
            <a:avLst>
              <a:gd name="adj" fmla="val 22000"/>
            </a:avLst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67047" y="3813048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中层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10447" y="379476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1" name="Trapezoid 10"/>
          <p:cNvSpPr/>
          <p:nvPr/>
        </p:nvSpPr>
        <p:spPr>
          <a:xfrm>
            <a:off x="2712567" y="4654296"/>
            <a:ext cx="6766560" cy="1078992"/>
          </a:xfrm>
          <a:prstGeom prst="trapezoid">
            <a:avLst>
              <a:gd name="adj" fmla="val 22000"/>
            </a:avLst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9767" y="5020056"/>
            <a:ext cx="5852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基础层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07727" y="5001768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在此输入说明（占位）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单色印刷极简">
  <a:themeElements>
    <a:clrScheme name="SlideForge 单色印刷极简">
      <a:dk1>
        <a:srgbClr val="0A0A0A"/>
      </a:dk1>
      <a:lt1>
        <a:srgbClr val="FFFFFF"/>
      </a:lt1>
      <a:dk2>
        <a:srgbClr val="8C8C8C"/>
      </a:dk2>
      <a:lt2>
        <a:srgbClr val="F4F4F4"/>
      </a:lt2>
      <a:accent1>
        <a:srgbClr val="0A0A0A"/>
      </a:accent1>
      <a:accent2>
        <a:srgbClr val="3D3D3D"/>
      </a:accent2>
      <a:accent3>
        <a:srgbClr val="3D3D3D"/>
      </a:accent3>
      <a:accent4>
        <a:srgbClr val="E0E0E0"/>
      </a:accent4>
      <a:accent5>
        <a:srgbClr val="8C8C8C"/>
      </a:accent5>
      <a:accent6>
        <a:srgbClr val="F4F4F4"/>
      </a:accent6>
      <a:hlink>
        <a:srgbClr val="0A0A0A"/>
      </a:hlink>
      <a:folHlink>
        <a:srgbClr val="8C8C8C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