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-1463040"/>
            <a:ext cx="5486400" cy="5486400"/>
          </a:xfrm>
          <a:prstGeom prst="ellipse">
            <a:avLst/>
          </a:prstGeom>
          <a:solidFill>
            <a:srgbClr val="F49AC1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377440"/>
            <a:ext cx="9966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2000"/>
              </a:lnSpc>
              <a:spcAft>
                <a:spcPts val="400"/>
              </a:spcAft>
            </a:pPr>
            <a:r>
              <a:rPr sz="46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读书会与共读分享</a:t>
            </a:r>
          </a:p>
        </p:txBody>
      </p:sp>
      <p:sp>
        <p:nvSpPr>
          <p:cNvPr id="5" name="Rectangle 4"/>
          <p:cNvSpPr/>
          <p:nvPr/>
        </p:nvSpPr>
        <p:spPr>
          <a:xfrm>
            <a:off x="5684367" y="3886200"/>
            <a:ext cx="822960" cy="91440"/>
          </a:xfrm>
          <a:prstGeom prst="rect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114800"/>
            <a:ext cx="9966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读书会与共读分享 · 在此输入副标题 / 项目名称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669280"/>
            <a:ext cx="9966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团队 / 姓名  ·  YYYY-MM-DD</a:t>
            </a:r>
          </a:p>
        </p:txBody>
      </p:sp>
    </p:spTree>
  </p:cSld>
  <p:clrMapOvr>
    <a:masterClrMapping/>
  </p:clrMapOvr>
  <p:transition spd="med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2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18" presetClass="entr" presetSubtype="1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2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42" presetClass="entr" presetSubtype="1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43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目录 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2430703" cy="219456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9525">
            <a:solidFill>
              <a:srgbClr val="F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书目简介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7983" y="2377440"/>
            <a:ext cx="2430703" cy="219456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9525">
            <a:solidFill>
              <a:srgbClr val="F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8023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8023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核心观点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2377440"/>
            <a:ext cx="2430703" cy="219456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9525">
            <a:solidFill>
              <a:srgbClr val="F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047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金句摘录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38031" y="2377440"/>
            <a:ext cx="2430703" cy="219456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9525">
            <a:solidFill>
              <a:srgbClr val="F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58071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8071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共读安排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马卡龙柔彩  ·  Pastel</a:t>
            </a:r>
          </a:p>
        </p:txBody>
      </p:sp>
    </p:spTree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18" presetClass="entr" presetSubtype="1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2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42" presetClass="entr" presetSubtype="1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43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1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3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10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5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7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4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9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22" presetClass="entr" presetSubtype="8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1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37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3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52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5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21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7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22" presetClass="entr" presetSubtype="4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9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9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-1463040"/>
            <a:ext cx="5486400" cy="5486400"/>
          </a:xfrm>
          <a:prstGeom prst="ellipse">
            <a:avLst/>
          </a:prstGeom>
          <a:solidFill>
            <a:srgbClr val="F49AC1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3A3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书目简介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马卡龙柔彩  ·  Pastel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2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42" presetClass="entr" presetSubtype="1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43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1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10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5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4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书目简介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424160" cy="64008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9525">
            <a:solidFill>
              <a:srgbClr val="F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49424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231136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在此输入「书目简介」的要点一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889503"/>
            <a:ext cx="10424160" cy="64008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9525">
            <a:solidFill>
              <a:srgbClr val="F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035808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017520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在此输入「书目简介」的要点二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675887"/>
            <a:ext cx="10424160" cy="64008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9525">
            <a:solidFill>
              <a:srgbClr val="F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822191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803903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在此输入「书目简介」的要点三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462272"/>
            <a:ext cx="10424160" cy="64008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9525">
            <a:solidFill>
              <a:srgbClr val="F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608576"/>
            <a:ext cx="640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590288"/>
            <a:ext cx="9144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在此输入「书目简介」的要点四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马卡龙柔彩  ·  Pastel</a:t>
            </a:r>
          </a:p>
        </p:txBody>
      </p:sp>
    </p:spTree>
  </p:cSld>
  <p:clrMapOvr>
    <a:masterClrMapping/>
  </p:clrMapOvr>
  <p:transition spd="med">
    <p:checker dir="across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42" presetClass="entr" presetSubtype="1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43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1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10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3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4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5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22" presetClass="entr" presetSubtype="8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7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37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9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52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1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21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3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22" presetClass="entr" presetSubtype="4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5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9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22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9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18" presetClass="entr" presetSubtype="1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31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核心观点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9525">
            <a:solidFill>
              <a:srgbClr val="F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A · 书目简介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9525">
            <a:solidFill>
              <a:srgbClr val="F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8FD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B · 核心观点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8FD3C7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8FD3C7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8FD3C7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4" name="Oval 13"/>
          <p:cNvSpPr/>
          <p:nvPr/>
        </p:nvSpPr>
        <p:spPr>
          <a:xfrm>
            <a:off x="5711799" y="3703320"/>
            <a:ext cx="768096" cy="768096"/>
          </a:xfrm>
          <a:prstGeom prst="ellipse">
            <a:avLst/>
          </a:prstGeom>
          <a:solidFill>
            <a:srgbClr val="3A3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1799" y="3703320"/>
            <a:ext cx="7680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DF7F9"/>
                </a:solidFill>
                <a:latin typeface="Segoe UI"/>
                <a:ea typeface="微软雅黑"/>
                <a:cs typeface="微软雅黑"/>
              </a:rPr>
              <a:t>VS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马卡龙柔彩  ·  Pastel</a:t>
            </a:r>
          </a:p>
        </p:txBody>
      </p:sp>
    </p:spTree>
  </p:cSld>
  <p:clrMapOvr>
    <a:masterClrMapping/>
  </p:clrMapOvr>
  <p:transition spd="med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43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1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10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4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2" presetClass="entr" presetSubtype="8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37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7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52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9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21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1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22" presetClass="entr" presetSubtype="4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3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9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22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7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18" presetClass="entr" presetSubtype="1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9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22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1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关键数据一览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9525">
            <a:solidFill>
              <a:srgbClr val="F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9525">
            <a:solidFill>
              <a:srgbClr val="F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9525">
            <a:solidFill>
              <a:srgbClr val="F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9525">
            <a:solidFill>
              <a:srgbClr val="F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马卡龙柔彩  ·  Pastel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1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10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4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2" presetClass="entr" presetSubtype="8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3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37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5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52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71" dur="69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21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9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22" presetClass="entr" presetSubtype="4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1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9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3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22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51" dur="69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18" presetClass="entr" presetSubtype="1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7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22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9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42" presetClass="entr" presetSubtype="1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311" dur="57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排期 / 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F0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书目简介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核心观点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金句摘录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共读安排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马卡龙柔彩  ·  Pastel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10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4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2" presetClass="entr" presetSubtype="8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1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37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3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52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5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1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71" dur="81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22" presetClass="entr" presetSubtype="4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9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9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22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18" presetClass="entr" presetSubtype="1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5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22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7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42" presetClass="entr" presetSubtype="1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91" dur="57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43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3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工作流程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49AC1"/>
          </a:solidFill>
          <a:ln w="9525">
            <a:solidFill>
              <a:srgbClr val="F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选书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16553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F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共读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147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49AC1"/>
          </a:solidFill>
          <a:ln w="9525">
            <a:solidFill>
              <a:srgbClr val="F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讨论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3741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F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输出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马卡龙柔彩  ·  Pastel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4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2" presetClass="entr" presetSubtype="8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37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52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3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1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5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22" presetClass="entr" presetSubtype="4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7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9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22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1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18" presetClass="entr" presetSubtype="1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3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22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5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42" presetClass="entr" presetSubtype="1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7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43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9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21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31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数据图表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9525">
            <a:solidFill>
              <a:srgbClr val="F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1463040" y="3840480"/>
            <a:ext cx="1280160" cy="914400"/>
          </a:xfrm>
          <a:prstGeom prst="line">
            <a:avLst/>
          </a:prstGeom>
          <a:ln w="31750">
            <a:solidFill>
              <a:srgbClr val="F49AC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743200" y="3840480"/>
            <a:ext cx="1280160" cy="457200"/>
          </a:xfrm>
          <a:prstGeom prst="line">
            <a:avLst/>
          </a:prstGeom>
          <a:ln w="31750">
            <a:solidFill>
              <a:srgbClr val="F49AC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4023360" y="3108960"/>
            <a:ext cx="1280160" cy="1188720"/>
          </a:xfrm>
          <a:prstGeom prst="line">
            <a:avLst/>
          </a:prstGeom>
          <a:ln w="31750">
            <a:solidFill>
              <a:srgbClr val="F49AC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303520" y="3108960"/>
            <a:ext cx="1280160" cy="457200"/>
          </a:xfrm>
          <a:prstGeom prst="line">
            <a:avLst/>
          </a:prstGeom>
          <a:ln w="31750">
            <a:solidFill>
              <a:srgbClr val="F49AC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583680" y="2743200"/>
            <a:ext cx="1280160" cy="822960"/>
          </a:xfrm>
          <a:prstGeom prst="line">
            <a:avLst/>
          </a:prstGeom>
          <a:ln w="31750">
            <a:solidFill>
              <a:srgbClr val="F49AC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399032" y="4690872"/>
            <a:ext cx="128016" cy="128016"/>
          </a:xfrm>
          <a:prstGeom prst="ellipse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679192" y="3776472"/>
            <a:ext cx="128016" cy="128016"/>
          </a:xfrm>
          <a:prstGeom prst="ellipse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959352" y="4233672"/>
            <a:ext cx="128016" cy="128016"/>
          </a:xfrm>
          <a:prstGeom prst="ellipse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239512" y="3044952"/>
            <a:ext cx="128016" cy="128016"/>
          </a:xfrm>
          <a:prstGeom prst="ellipse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19672" y="3502152"/>
            <a:ext cx="128016" cy="128016"/>
          </a:xfrm>
          <a:prstGeom prst="ellipse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99831" y="2679192"/>
            <a:ext cx="128016" cy="128016"/>
          </a:xfrm>
          <a:prstGeom prst="ellipse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图表占位 · 在 PowerPoint 中插入图表替换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关键结论 / 解读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马卡龙柔彩  ·  Pastel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4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2" presetClass="entr" presetSubtype="8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37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52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1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31" dur="81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2" presetClass="entr" presetSubtype="4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5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9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22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91" dur="690"/>
                                  <p:tgtEl>
                                    <p:spTgt spid="2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18" presetClass="entr" presetSubtype="1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1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22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3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42" presetClass="entr" presetSubtype="1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5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43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7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21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9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10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31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明细表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F0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F0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F0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马卡龙柔彩  ·  Pastel</a:t>
            </a:r>
          </a:p>
        </p:txBody>
      </p:sp>
    </p:spTree>
  </p:cSld>
  <p:clrMapOvr>
    <a:masterClrMapping/>
  </p:clrMapOvr>
  <p:transition spd="med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1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2" presetClass="entr" presetSubtype="4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9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2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7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18" presetClass="entr" presetSubtype="1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9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22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1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42" presetClass="entr" presetSubtype="1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3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43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5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21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7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10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9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2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31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图集 / 案例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3E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3E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3E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3E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3E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3E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作品 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马卡龙柔彩  ·  Pastel</a:t>
            </a:r>
          </a:p>
        </p:txBody>
      </p:sp>
    </p:spTree>
  </p:cSld>
  <p:clrMapOvr>
    <a:masterClrMapping/>
  </p:clrMapOvr>
  <p:transition spd="med">
    <p:split orient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37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52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1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2" presetClass="entr" presetSubtype="4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9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2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5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18" presetClass="entr" presetSubtype="1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7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22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9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42" presetClass="entr" presetSubtype="1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1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43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3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21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5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10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7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2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9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4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31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-1463040"/>
            <a:ext cx="5486400" cy="5486400"/>
          </a:xfrm>
          <a:prstGeom prst="ellipse">
            <a:avLst/>
          </a:prstGeom>
          <a:solidFill>
            <a:srgbClr val="F49AC1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3A3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金句摘录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马卡龙柔彩  ·  Pastel</a:t>
            </a:r>
          </a:p>
        </p:txBody>
      </p:sp>
    </p:spTree>
  </p:cSld>
  <p:clrMapOvr>
    <a:masterClrMapping/>
  </p:clrMapOvr>
  <p:transition spd="med">
    <p:blinds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52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1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2" presetClass="entr" presetSubtype="4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9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2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18" presetClass="entr" presetSubtype="1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22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7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-1463040"/>
            <a:ext cx="5486400" cy="5486400"/>
          </a:xfrm>
          <a:prstGeom prst="ellipse">
            <a:avLst/>
          </a:prstGeom>
          <a:solidFill>
            <a:srgbClr val="F49AC1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在此输入一句读后感。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— 署名 / 出处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马卡龙柔彩  ·  Pastel</a:t>
            </a:r>
          </a:p>
        </p:txBody>
      </p:sp>
    </p:spTree>
  </p:cSld>
  <p:clrMapOvr>
    <a:masterClrMapping/>
  </p:clrMapOvr>
  <p:transition spd="med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1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2" presetClass="entr" presetSubtype="4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9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2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18" presetClass="entr" presetSubtype="1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2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5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42" presetClass="entr" presetSubtype="1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团队 / 分工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9525">
            <a:solidFill>
              <a:srgbClr val="F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F0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9525">
            <a:solidFill>
              <a:srgbClr val="F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F0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9525">
            <a:solidFill>
              <a:srgbClr val="F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F0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角色三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马卡龙柔彩  ·  Pastel</a:t>
            </a:r>
          </a:p>
        </p:txBody>
      </p:sp>
    </p:spTree>
  </p:cSld>
  <p:clrMapOvr>
    <a:masterClrMapping/>
  </p:clrMapOvr>
  <p:transition spd="med">
    <p:comb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2" presetClass="entr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9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2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18" presetClass="entr" presetSubtype="1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2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3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42" presetClass="entr" presetSubtype="1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5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43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7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21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9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10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1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2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3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4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5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22" presetClass="entr" presetSubtype="8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71" dur="81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37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9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52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31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常见问题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424160" cy="841248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9525">
            <a:solidFill>
              <a:srgbClr val="F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0704" y="2322576"/>
            <a:ext cx="402336" cy="402336"/>
          </a:xfrm>
          <a:prstGeom prst="ellipse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" y="232257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249424"/>
            <a:ext cx="9235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在此输入问题一？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596896"/>
            <a:ext cx="9235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在此输入回答（占位）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063239"/>
            <a:ext cx="10424160" cy="841248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9525">
            <a:solidFill>
              <a:srgbClr val="F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60704" y="3282696"/>
            <a:ext cx="402336" cy="402336"/>
          </a:xfrm>
          <a:prstGeom prst="ellipse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328269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209544"/>
            <a:ext cx="9235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在此输入问题二？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557015"/>
            <a:ext cx="9235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在此输入回答（占位）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023360"/>
            <a:ext cx="10424160" cy="841248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 w="9525">
            <a:solidFill>
              <a:srgbClr val="F0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60704" y="4242816"/>
            <a:ext cx="402336" cy="402336"/>
          </a:xfrm>
          <a:prstGeom prst="ellipse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" y="424281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Q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4169664"/>
            <a:ext cx="9235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在此输入问题三？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517136"/>
            <a:ext cx="9235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在此输入回答（占位）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马卡龙柔彩  ·  Pastel</a:t>
            </a:r>
          </a:p>
        </p:txBody>
      </p:sp>
    </p:spTree>
  </p:cSld>
  <p:clrMapOvr>
    <a:masterClrMapping/>
  </p:clrMapOvr>
  <p:transition spd="med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9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2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18" presetClass="entr" presetSubtype="1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2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42" presetClass="entr" presetSubtype="1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3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43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5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1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7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10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9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2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1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4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3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22" presetClass="entr" presetSubtype="8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5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37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7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52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9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21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31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多线路线图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368296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线一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286000" y="2971800"/>
            <a:ext cx="9052560" cy="0"/>
          </a:xfrm>
          <a:prstGeom prst="line">
            <a:avLst/>
          </a:prstGeom>
          <a:ln w="12700">
            <a:solidFill>
              <a:srgbClr val="F0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377440" y="225856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F49AC1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87168" y="229514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25856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F49AC1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1728" y="229514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225856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F49AC1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76288" y="229514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14216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线二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286000" y="4617720"/>
            <a:ext cx="9052560" cy="0"/>
          </a:xfrm>
          <a:prstGeom prst="line">
            <a:avLst/>
          </a:prstGeom>
          <a:ln w="12700">
            <a:solidFill>
              <a:srgbClr val="F0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377440" y="390448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8FD3C7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87168" y="394106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390448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8FD3C7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81728" y="394106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马卡龙柔彩  ·  Pastel</a:t>
            </a:r>
          </a:p>
        </p:txBody>
      </p:sp>
    </p:spTree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2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18" presetClass="entr" presetSubtype="1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2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42" presetClass="entr" presetSubtype="1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1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43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3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1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5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10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7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2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9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4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1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22" presetClass="entr" presetSubtype="8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3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37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5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52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7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21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91" dur="69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22" presetClass="entr" presetSubtype="4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31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清单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148839"/>
            <a:ext cx="310896" cy="310896"/>
          </a:xfrm>
          <a:prstGeom prst="rect">
            <a:avLst/>
          </a:prstGeom>
          <a:noFill/>
          <a:ln w="17780">
            <a:solidFill>
              <a:srgbClr val="F49A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30551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10312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在此输入待办项一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554480" y="2615184"/>
            <a:ext cx="9784080" cy="0"/>
          </a:xfrm>
          <a:prstGeom prst="line">
            <a:avLst/>
          </a:prstGeom>
          <a:ln w="7620">
            <a:solidFill>
              <a:srgbClr val="F0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68680" y="2807207"/>
            <a:ext cx="310896" cy="310896"/>
          </a:xfrm>
          <a:prstGeom prst="rect">
            <a:avLst/>
          </a:prstGeom>
          <a:noFill/>
          <a:ln w="17780">
            <a:solidFill>
              <a:srgbClr val="F49A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788919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761487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在此输入待办项二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554480" y="3273551"/>
            <a:ext cx="9784080" cy="0"/>
          </a:xfrm>
          <a:prstGeom prst="line">
            <a:avLst/>
          </a:prstGeom>
          <a:ln w="7620">
            <a:solidFill>
              <a:srgbClr val="F0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868680" y="3465575"/>
            <a:ext cx="310896" cy="310896"/>
          </a:xfrm>
          <a:prstGeom prst="rect">
            <a:avLst/>
          </a:prstGeom>
          <a:noFill/>
          <a:ln w="17780">
            <a:solidFill>
              <a:srgbClr val="F49A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447287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419856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在此输入待办项三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554480" y="3931920"/>
            <a:ext cx="9784080" cy="0"/>
          </a:xfrm>
          <a:prstGeom prst="line">
            <a:avLst/>
          </a:prstGeom>
          <a:ln w="7620">
            <a:solidFill>
              <a:srgbClr val="F0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68680" y="4123944"/>
            <a:ext cx="310896" cy="310896"/>
          </a:xfrm>
          <a:prstGeom prst="rect">
            <a:avLst/>
          </a:prstGeom>
          <a:noFill/>
          <a:ln w="17780">
            <a:solidFill>
              <a:srgbClr val="F49A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105656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49AC1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078224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在此输入待办项四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554480" y="4590288"/>
            <a:ext cx="9784080" cy="0"/>
          </a:xfrm>
          <a:prstGeom prst="line">
            <a:avLst/>
          </a:prstGeom>
          <a:ln w="7620">
            <a:solidFill>
              <a:srgbClr val="F0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马卡龙柔彩  ·  Pastel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18" presetClass="entr" presetSubtype="1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2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42" presetClass="entr" presetSubtype="1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43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1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1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10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5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4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9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22" presetClass="entr" presetSubtype="8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1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37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3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52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5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21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7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22" presetClass="entr" presetSubtype="4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9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9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-1463040"/>
            <a:ext cx="5486400" cy="5486400"/>
          </a:xfrm>
          <a:prstGeom prst="ellipse">
            <a:avLst/>
          </a:prstGeom>
          <a:solidFill>
            <a:srgbClr val="F49AC1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3A3A44"/>
                </a:solidFill>
                <a:latin typeface="Segoe UI"/>
                <a:ea typeface="微软雅黑"/>
                <a:cs typeface="微软雅黑"/>
              </a:rPr>
              <a:t>谢谢观看</a:t>
            </a:r>
          </a:p>
        </p:txBody>
      </p:sp>
      <p:sp>
        <p:nvSpPr>
          <p:cNvPr id="5" name="Rectangle 4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F4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在此输入联系方式 / 二维码 / 致谢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F0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B94A8"/>
                </a:solidFill>
                <a:latin typeface="Segoe UI"/>
                <a:ea typeface="微软雅黑"/>
                <a:cs typeface="微软雅黑"/>
              </a:rPr>
              <a:t>马卡龙柔彩  ·  Pastel</a:t>
            </a:r>
          </a:p>
        </p:txBody>
      </p:sp>
    </p:spTree>
  </p:cSld>
  <p:clrMapOvr>
    <a:masterClrMapping/>
  </p:clrMapOvr>
  <p:transition spd="med">
    <p:checker dir="across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2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42" presetClass="entr" presetSubtype="1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43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1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10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5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