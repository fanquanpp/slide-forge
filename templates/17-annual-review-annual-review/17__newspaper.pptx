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8C1D18"/>
              </a:solidFill>
            </c:spPr>
          </c:dPt>
          <c:dPt>
            <c:idx val="1"/>
            <c:spPr>
              <a:solidFill>
                <a:srgbClr val="2A2A28"/>
              </a:solidFill>
            </c:spPr>
          </c:dPt>
          <c:dPt>
            <c:idx val="2"/>
            <c:spPr>
              <a:solidFill>
                <a:srgbClr val="8C1D18"/>
              </a:solidFill>
            </c:spPr>
          </c:dPt>
          <c:dPt>
            <c:idx val="3"/>
            <c:spPr>
              <a:solidFill>
                <a:srgbClr val="2A2A28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【页面定位】在此输入一句年度关键词。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【页面定位】FUNNEL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8C1D1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年度总结与规划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年度总结与规划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在此输入「年度回望」的要点一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在此输入「年度回望」的要点二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在此输入「年度回望」的要点三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在此输入「年度回望」的要点四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启动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在此输入一句年度关键词。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8C1D1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8C1D1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8C1D1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8C1D1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8C1D1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8C1D1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8C1D1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8C1D1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8C1D1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8C1D1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87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5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在此输入补充说明（占位）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82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5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转化漏斗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8C1D18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2A2A28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8C1D18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2A2A28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报纸排版">
  <a:themeElements>
    <a:clrScheme name="SlideForge 报纸排版">
      <a:dk1>
        <a:srgbClr val="16130E"/>
      </a:dk1>
      <a:lt1>
        <a:srgbClr val="FBF9F4"/>
      </a:lt1>
      <a:dk2>
        <a:srgbClr val="6E675B"/>
      </a:dk2>
      <a:lt2>
        <a:srgbClr val="FFFFFF"/>
      </a:lt2>
      <a:accent1>
        <a:srgbClr val="8C1D18"/>
      </a:accent1>
      <a:accent2>
        <a:srgbClr val="2A2A28"/>
      </a:accent2>
      <a:accent3>
        <a:srgbClr val="2A2A28"/>
      </a:accent3>
      <a:accent4>
        <a:srgbClr val="DDD6C8"/>
      </a:accent4>
      <a:accent5>
        <a:srgbClr val="6E675B"/>
      </a:accent5>
      <a:accent6>
        <a:srgbClr val="FFFFFF"/>
      </a:accent6>
      <a:hlink>
        <a:srgbClr val="8C1D18"/>
      </a:hlink>
      <a:folHlink>
        <a:srgbClr val="6E675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