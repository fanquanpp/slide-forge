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示例趋势（右键 → 编辑数据）</c:v>
                </c:pt>
              </c:strCache>
            </c:strRef>
          </c:tx>
          <c:spPr>
            <a:ln w="31750">
              <a:solidFill>
                <a:srgbClr val="3FA88C"/>
              </a:solidFill>
            </a:ln>
          </c:spPr>
          <c:cat>
            <c:strRef>
              <c:f>Sheet1!$A$2:$A$7</c:f>
              <c:strCache>
                <c:ptCount val="6"/>
                <c:pt idx="0">
                  <c:v>一月</c:v>
                </c:pt>
                <c:pt idx="1">
                  <c:v>二月</c:v>
                </c:pt>
                <c:pt idx="2">
                  <c:v>三月</c:v>
                </c:pt>
                <c:pt idx="3">
                  <c:v>四月</c:v>
                </c:pt>
                <c:pt idx="4">
                  <c:v>五月</c:v>
                </c:pt>
                <c:pt idx="5">
                  <c:v>六月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</c:v>
                </c:pt>
                <c:pt idx="1">
                  <c:v>44</c:v>
                </c:pt>
                <c:pt idx="2">
                  <c:v>40</c:v>
                </c:pt>
                <c:pt idx="3">
                  <c:v>56</c:v>
                </c:pt>
                <c:pt idx="4">
                  <c:v>50</c:v>
                </c:pt>
                <c:pt idx="5">
                  <c:v>66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【页面定位】学习笔记分享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【页面定位】在此输入一句学习方法论。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【页面定位】LEVELS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【页面定位】QUOTES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【页面定位】SWOT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学习笔记分享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学习笔记分享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6000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为什么学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知识地图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重点拆解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练习与延伸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为什么学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为什么学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在此输入「为什么学」的要点一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在此输入「为什么学」的要点二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在此输入「为什么学」的要点三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在此输入「为什么学」的要点四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0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知识地图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A · 为什么学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B · 知识地图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F3E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8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01" dur="81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为什么学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知识地图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重点拆解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练习与延伸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3FA88C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阅读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笔记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3FA88C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练习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输出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重点拆解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在此输入一句学习方法论。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LEVELS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分层结构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>
            <a:off x="4907127" y="2240280"/>
            <a:ext cx="2377440" cy="1078992"/>
          </a:xfrm>
          <a:prstGeom prst="triangl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07127" y="262432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层级一</a:t>
            </a:r>
          </a:p>
        </p:txBody>
      </p:sp>
      <p:sp>
        <p:nvSpPr>
          <p:cNvPr id="8" name="Trapezoid 7"/>
          <p:cNvSpPr/>
          <p:nvPr/>
        </p:nvSpPr>
        <p:spPr>
          <a:xfrm>
            <a:off x="3809847" y="3447288"/>
            <a:ext cx="4572000" cy="1078992"/>
          </a:xfrm>
          <a:prstGeom prst="trapezoid">
            <a:avLst>
              <a:gd name="adj" fmla="val 22000"/>
            </a:avLst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7047" y="3813048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层级二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10447" y="379476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1" name="Trapezoid 10"/>
          <p:cNvSpPr/>
          <p:nvPr/>
        </p:nvSpPr>
        <p:spPr>
          <a:xfrm>
            <a:off x="2712567" y="4654296"/>
            <a:ext cx="6766560" cy="1078992"/>
          </a:xfrm>
          <a:prstGeom prst="trapezoid">
            <a:avLst>
              <a:gd name="adj" fmla="val 22000"/>
            </a:avLst>
          </a:prstGeom>
          <a:solidFill>
            <a:srgbClr val="9A9A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69767" y="5020056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层级三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07727" y="500176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8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0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motion:hero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3FA8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E2A0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3FA8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E2A0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3FA8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E2A0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3FA8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00" fill="hold" nodeType="afterEffect" grpId="0" presetID="6" presetClass="emph" presetSubtype="0">
                            <p:stCondLst>
                              <p:cond delay="950"/>
                            </p:stCondLst>
                            <p:childTnLst>
                              <p:animScale>
                                <p:cBhvr>
                                  <p:cTn id="101" dur="500" fill="hold"/>
                                  <p:tgtEl>
                                    <p:spTgt spid="6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0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SWOT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四象限分析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18288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109728" cy="1828800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942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377439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优势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880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2103120"/>
            <a:ext cx="5029200" cy="18288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2103120"/>
            <a:ext cx="109728" cy="1828800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24942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377439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劣势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880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要点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69080"/>
            <a:ext cx="5029200" cy="18288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069080"/>
            <a:ext cx="109728" cy="1828800"/>
          </a:xfrm>
          <a:prstGeom prst="rect">
            <a:avLst/>
          </a:prstGeom>
          <a:solidFill>
            <a:srgbClr val="9A9A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1538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3434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机会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84632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要点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4069080"/>
            <a:ext cx="5029200" cy="18288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4069080"/>
            <a:ext cx="109728" cy="1828800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21538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3434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挑战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484632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要点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柔和科技图表">
  <a:themeElements>
    <a:clrScheme name="SlideForge 柔和科技图表">
      <a:dk1>
        <a:srgbClr val="2B2B2B"/>
      </a:dk1>
      <a:lt1>
        <a:srgbClr val="F5F3EF"/>
      </a:lt1>
      <a:dk2>
        <a:srgbClr val="9A9A93"/>
      </a:dk2>
      <a:lt2>
        <a:srgbClr val="FFFFFF"/>
      </a:lt2>
      <a:accent1>
        <a:srgbClr val="3FA88C"/>
      </a:accent1>
      <a:accent2>
        <a:srgbClr val="E2A03F"/>
      </a:accent2>
      <a:accent3>
        <a:srgbClr val="E2A03F"/>
      </a:accent3>
      <a:accent4>
        <a:srgbClr val="E4E0D8"/>
      </a:accent4>
      <a:accent5>
        <a:srgbClr val="9A9A93"/>
      </a:accent5>
      <a:accent6>
        <a:srgbClr val="FFFFFF"/>
      </a:accent6>
      <a:hlink>
        <a:srgbClr val="3FA88C"/>
      </a:hlink>
      <a:folHlink>
        <a:srgbClr val="9A9A93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