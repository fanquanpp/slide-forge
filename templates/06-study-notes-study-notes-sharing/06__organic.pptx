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 → 编辑数据）</c:v>
                </c:pt>
              </c:strCache>
            </c:strRef>
          </c:tx>
          <c:spPr>
            <a:solidFill>
              <a:srgbClr val="6B8E5A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【页面定位】学习笔记分享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【页面定位】在此输入一句学习方法论。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【页面定位】LEVELS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【页面定位】RISK MATRIX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学习笔记分享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学习笔记分享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l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知识地图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重点拆解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练习与延伸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在此输入「为什么学」的要点一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在此输入「为什么学」的要点二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在此输入「为什么学」的要点三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在此输入「为什么学」的要点四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知识地图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A · 为什么学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B · 知识地图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3EFE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知识地图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重点拆解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练习与延伸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笔记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练习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重点拆解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在此输入一句学习方法论。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分层结构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4907127" y="2240280"/>
            <a:ext cx="2377440" cy="1078992"/>
          </a:xfrm>
          <a:prstGeom prst="triangl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07127" y="2624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层级一</a:t>
            </a:r>
          </a:p>
        </p:txBody>
      </p:sp>
      <p:sp>
        <p:nvSpPr>
          <p:cNvPr id="8" name="Trapezoid 7"/>
          <p:cNvSpPr/>
          <p:nvPr/>
        </p:nvSpPr>
        <p:spPr>
          <a:xfrm>
            <a:off x="3809847" y="3447288"/>
            <a:ext cx="4572000" cy="1078992"/>
          </a:xfrm>
          <a:prstGeom prst="trapezoid">
            <a:avLst>
              <a:gd name="adj" fmla="val 22000"/>
            </a:avLst>
          </a:prstGeom>
          <a:solidFill>
            <a:srgbClr val="C9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047" y="3813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447" y="3794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Trapezoid 10"/>
          <p:cNvSpPr/>
          <p:nvPr/>
        </p:nvSpPr>
        <p:spPr>
          <a:xfrm>
            <a:off x="2712567" y="4654296"/>
            <a:ext cx="6766560" cy="1078992"/>
          </a:xfrm>
          <a:prstGeom prst="trapezoid">
            <a:avLst>
              <a:gd name="adj" fmla="val 22000"/>
            </a:avLst>
          </a:prstGeom>
          <a:solidFill>
            <a:srgbClr val="8C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9767" y="502005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层级三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7727" y="50017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概率 × 影响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148840"/>
            <a:ext cx="2194560" cy="896112"/>
          </a:xfrm>
          <a:prstGeom prst="rect">
            <a:avLst/>
          </a:prstGeom>
          <a:solidFill>
            <a:srgbClr val="C98A5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1104" y="2148840"/>
            <a:ext cx="2194560" cy="896112"/>
          </a:xfrm>
          <a:prstGeom prst="rect">
            <a:avLst/>
          </a:prstGeom>
          <a:solidFill>
            <a:srgbClr val="C98A5E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0528" y="2148840"/>
            <a:ext cx="2194560" cy="896112"/>
          </a:xfrm>
          <a:prstGeom prst="rect">
            <a:avLst/>
          </a:prstGeom>
          <a:solidFill>
            <a:srgbClr val="C98A5E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59952" y="2148840"/>
            <a:ext cx="2194560" cy="896112"/>
          </a:xfrm>
          <a:prstGeom prst="rect">
            <a:avLst/>
          </a:prstGeom>
          <a:solidFill>
            <a:srgbClr val="6B8E5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099816"/>
            <a:ext cx="2194560" cy="896112"/>
          </a:xfrm>
          <a:prstGeom prst="rect">
            <a:avLst/>
          </a:prstGeom>
          <a:solidFill>
            <a:srgbClr val="C98A5E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3099816"/>
            <a:ext cx="2194560" cy="896112"/>
          </a:xfrm>
          <a:prstGeom prst="rect">
            <a:avLst/>
          </a:prstGeom>
          <a:solidFill>
            <a:srgbClr val="C98A5E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3099816"/>
            <a:ext cx="2194560" cy="896112"/>
          </a:xfrm>
          <a:prstGeom prst="rect">
            <a:avLst/>
          </a:prstGeom>
          <a:solidFill>
            <a:srgbClr val="6B8E5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3099816"/>
            <a:ext cx="2194560" cy="896112"/>
          </a:xfrm>
          <a:prstGeom prst="rect">
            <a:avLst/>
          </a:prstGeom>
          <a:solidFill>
            <a:srgbClr val="6B8E5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4050791"/>
            <a:ext cx="2194560" cy="896112"/>
          </a:xfrm>
          <a:prstGeom prst="rect">
            <a:avLst/>
          </a:prstGeom>
          <a:solidFill>
            <a:srgbClr val="C98A5E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4050791"/>
            <a:ext cx="2194560" cy="896112"/>
          </a:xfrm>
          <a:prstGeom prst="rect">
            <a:avLst/>
          </a:prstGeom>
          <a:solidFill>
            <a:srgbClr val="6B8E5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4050791"/>
            <a:ext cx="2194560" cy="896112"/>
          </a:xfrm>
          <a:prstGeom prst="rect">
            <a:avLst/>
          </a:prstGeom>
          <a:solidFill>
            <a:srgbClr val="6B8E5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4050791"/>
            <a:ext cx="2194560" cy="896112"/>
          </a:xfrm>
          <a:prstGeom prst="rect">
            <a:avLst/>
          </a:prstGeom>
          <a:solidFill>
            <a:srgbClr val="33352E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001768"/>
            <a:ext cx="2194560" cy="896112"/>
          </a:xfrm>
          <a:prstGeom prst="rect">
            <a:avLst/>
          </a:prstGeom>
          <a:solidFill>
            <a:srgbClr val="6B8E5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5001768"/>
            <a:ext cx="2194560" cy="896112"/>
          </a:xfrm>
          <a:prstGeom prst="rect">
            <a:avLst/>
          </a:prstGeom>
          <a:solidFill>
            <a:srgbClr val="6B8E5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5001768"/>
            <a:ext cx="2194560" cy="896112"/>
          </a:xfrm>
          <a:prstGeom prst="rect">
            <a:avLst/>
          </a:prstGeom>
          <a:solidFill>
            <a:srgbClr val="33352E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5001768"/>
            <a:ext cx="2194560" cy="896112"/>
          </a:xfrm>
          <a:prstGeom prst="rect">
            <a:avLst/>
          </a:prstGeom>
          <a:solidFill>
            <a:srgbClr val="33352E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175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影响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概率 →</a:t>
            </a:r>
          </a:p>
        </p:txBody>
      </p:sp>
      <p:sp>
        <p:nvSpPr>
          <p:cNvPr id="24" name="Oval 23"/>
          <p:cNvSpPr/>
          <p:nvPr/>
        </p:nvSpPr>
        <p:spPr>
          <a:xfrm>
            <a:off x="5202936" y="2441448"/>
            <a:ext cx="310896" cy="31089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21945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1 · 风险一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3392424"/>
            <a:ext cx="310896" cy="31089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27614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2 · 风险二</a:t>
            </a:r>
          </a:p>
        </p:txBody>
      </p:sp>
      <p:sp>
        <p:nvSpPr>
          <p:cNvPr id="30" name="Oval 29"/>
          <p:cNvSpPr/>
          <p:nvPr/>
        </p:nvSpPr>
        <p:spPr>
          <a:xfrm>
            <a:off x="9701784" y="4343400"/>
            <a:ext cx="310896" cy="31089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4343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3328415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3 · 风险三</a:t>
            </a:r>
          </a:p>
        </p:txBody>
      </p:sp>
      <p:sp>
        <p:nvSpPr>
          <p:cNvPr id="33" name="Oval 32"/>
          <p:cNvSpPr/>
          <p:nvPr/>
        </p:nvSpPr>
        <p:spPr>
          <a:xfrm>
            <a:off x="2953512" y="2441448"/>
            <a:ext cx="310896" cy="31089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895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4 · 风险四</a:t>
            </a:r>
          </a:p>
        </p:txBody>
      </p:sp>
      <p:sp>
        <p:nvSpPr>
          <p:cNvPr id="3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69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81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4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57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69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81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2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自然有机">
  <a:themeElements>
    <a:clrScheme name="SlideForge 自然有机">
      <a:dk1>
        <a:srgbClr val="33352E"/>
      </a:dk1>
      <a:lt1>
        <a:srgbClr val="F3EFE6"/>
      </a:lt1>
      <a:dk2>
        <a:srgbClr val="8C8A78"/>
      </a:dk2>
      <a:lt2>
        <a:srgbClr val="FFFFFF"/>
      </a:lt2>
      <a:accent1>
        <a:srgbClr val="6B8E5A"/>
      </a:accent1>
      <a:accent2>
        <a:srgbClr val="C98A5E"/>
      </a:accent2>
      <a:accent3>
        <a:srgbClr val="C98A5E"/>
      </a:accent3>
      <a:accent4>
        <a:srgbClr val="E3DCCB"/>
      </a:accent4>
      <a:accent5>
        <a:srgbClr val="8C8A78"/>
      </a:accent5>
      <a:accent6>
        <a:srgbClr val="FFFFFF"/>
      </a:accent6>
      <a:hlink>
        <a:srgbClr val="6B8E5A"/>
      </a:hlink>
      <a:folHlink>
        <a:srgbClr val="8C8A7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