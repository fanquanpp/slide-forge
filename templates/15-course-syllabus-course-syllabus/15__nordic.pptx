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1"/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示例系列（右键 → 编辑数据）</c:v>
                </c:pt>
              </c:strCache>
            </c:strRef>
          </c:tx>
          <c:spPr>
            <a:solidFill>
              <a:srgbClr val="4C7CA8"/>
            </a:solidFill>
          </c:spPr>
          <c:cat>
            <c:strRef>
              <c:f>Sheet1!$A$2:$A$7</c:f>
              <c:strCache>
                <c:ptCount val="6"/>
                <c:pt idx="0">
                  <c:v>指标一</c:v>
                </c:pt>
                <c:pt idx="1">
                  <c:v>指标二</c:v>
                </c:pt>
                <c:pt idx="2">
                  <c:v>指标三</c:v>
                </c:pt>
                <c:pt idx="3">
                  <c:v>指标四</c:v>
                </c:pt>
                <c:pt idx="4">
                  <c:v>指标五</c:v>
                </c:pt>
                <c:pt idx="5">
                  <c:v>指标六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55</c:v>
                </c:pt>
                <c:pt idx="1">
                  <c:v>80</c:v>
                </c:pt>
                <c:pt idx="2">
                  <c:v>45</c:v>
                </c:pt>
                <c:pt idx="3">
                  <c:v>95</c:v>
                </c:pt>
                <c:pt idx="4">
                  <c:v>70</c:v>
                </c:pt>
                <c:pt idx="5">
                  <c:v>60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【页面定位】课程大纲与教学计划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【页面定位】在此输入一句教学理念。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【页面定位】LEVELS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【页面定位】HIGHLIGHT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【页面定位】QUOTES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【页面定位】SWOT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874519"/>
            <a:ext cx="822960" cy="91440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194560"/>
            <a:ext cx="9692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4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课程大纲与教学计划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94760"/>
            <a:ext cx="9144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课程大纲与教学计划 · 在此输入副标题 / 项目名称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3949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6000">
        <p14:reveal dir="l"/>
      </p:transition>
    </mc:Choice>
    <mc:Fallback>
      <p:transition spd="med" advClick="1" advTm="6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4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6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课程定位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教学目标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内容与周次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考核方式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0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2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4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6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8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0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2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4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6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8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0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223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课程定位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 advClick="1" advTm="6000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4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0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课程定位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10424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在此输入「课程定位」的要点一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在此输入「课程定位」的要点二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在此输入「课程定位」的要点三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在此输入「课程定位」的要点四</a:t>
            </a:r>
          </a:p>
        </p:txBody>
      </p:sp>
      <p:sp>
        <p:nvSpPr>
          <p:cNvPr id="7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教学目标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A · 课程定位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C285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B · 教学目标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285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285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285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223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7F8FA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0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2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4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6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8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0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2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4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6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 advClick="1" advTm="10000">
    <p:wheel spokes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0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2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41" dur="81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6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8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0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21" dur="81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4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6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8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01" dur="810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课程定位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教学目标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内容与周次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考核方式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8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0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2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4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6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8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0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2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4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61" dur="69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0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4C7CA8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授课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4C7CA8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作业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考核</a:t>
            </a:r>
          </a:p>
        </p:txBody>
      </p:sp>
      <p:sp>
        <p:nvSpPr>
          <p:cNvPr id="17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0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2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4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6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8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0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2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4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6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8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1188720" y="2331720"/>
          <a:ext cx="5852160" cy="3429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原生可编辑图表 · 右键图表 → 编辑数据 即可替换数值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 advClick="1" advTm="10000">
    <p:wheel spokes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0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2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4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6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ripple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2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4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6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8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0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2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4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6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8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0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gallery dir="r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0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2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4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6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8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0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2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4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6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8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0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223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内容与周次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 advClick="1" advTm="6000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4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6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0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在此输入一句教学理念。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4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6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0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LEVELS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分层结构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Isosceles Triangle 5"/>
          <p:cNvSpPr/>
          <p:nvPr/>
        </p:nvSpPr>
        <p:spPr>
          <a:xfrm>
            <a:off x="4907127" y="2240280"/>
            <a:ext cx="2377440" cy="1078992"/>
          </a:xfrm>
          <a:prstGeom prst="triangl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07127" y="2624328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层级一</a:t>
            </a:r>
          </a:p>
        </p:txBody>
      </p:sp>
      <p:sp>
        <p:nvSpPr>
          <p:cNvPr id="8" name="Trapezoid 7"/>
          <p:cNvSpPr/>
          <p:nvPr/>
        </p:nvSpPr>
        <p:spPr>
          <a:xfrm>
            <a:off x="3809847" y="3447288"/>
            <a:ext cx="4572000" cy="1078992"/>
          </a:xfrm>
          <a:prstGeom prst="trapezoid">
            <a:avLst>
              <a:gd name="adj" fmla="val 22000"/>
            </a:avLst>
          </a:prstGeom>
          <a:solidFill>
            <a:srgbClr val="C285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67047" y="3813048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层级二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10447" y="3794760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1" name="Trapezoid 10"/>
          <p:cNvSpPr/>
          <p:nvPr/>
        </p:nvSpPr>
        <p:spPr>
          <a:xfrm>
            <a:off x="2712567" y="4654296"/>
            <a:ext cx="6766560" cy="1078992"/>
          </a:xfrm>
          <a:prstGeom prst="trapezoid">
            <a:avLst>
              <a:gd name="adj" fmla="val 22000"/>
            </a:avLst>
          </a:prstGeom>
          <a:solidFill>
            <a:srgbClr val="7C8A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69767" y="5020056"/>
            <a:ext cx="5852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层级三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07727" y="5001768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2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4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6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8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0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2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conveyor dir="r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0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4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6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8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0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2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4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6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8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01" dur="45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HIGHLIGHT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关键指标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motion:hero"/>
          <p:cNvSpPr txBox="1"/>
          <p:nvPr/>
        </p:nvSpPr>
        <p:spPr>
          <a:xfrm>
            <a:off x="822960" y="2194560"/>
            <a:ext cx="4572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72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749039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在此输入指标说明 · 占位文本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2194560"/>
            <a:ext cx="5394960" cy="3566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09360" y="4370832"/>
            <a:ext cx="438912" cy="1024127"/>
          </a:xfrm>
          <a:prstGeom prst="rect">
            <a:avLst/>
          </a:prstGeom>
          <a:solidFill>
            <a:srgbClr val="4C7CA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04304" y="3730752"/>
            <a:ext cx="438912" cy="1664207"/>
          </a:xfrm>
          <a:prstGeom prst="rect">
            <a:avLst/>
          </a:prstGeom>
          <a:solidFill>
            <a:srgbClr val="C2857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99248" y="4114800"/>
            <a:ext cx="438912" cy="1280160"/>
          </a:xfrm>
          <a:prstGeom prst="rect">
            <a:avLst/>
          </a:prstGeom>
          <a:solidFill>
            <a:srgbClr val="4C7CA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394192" y="3218688"/>
            <a:ext cx="438912" cy="2176272"/>
          </a:xfrm>
          <a:prstGeom prst="rect">
            <a:avLst/>
          </a:prstGeom>
          <a:solidFill>
            <a:srgbClr val="C2857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089136" y="3858768"/>
            <a:ext cx="438912" cy="1536192"/>
          </a:xfrm>
          <a:prstGeom prst="rect">
            <a:avLst/>
          </a:prstGeom>
          <a:solidFill>
            <a:srgbClr val="4C7CA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784080" y="2962656"/>
            <a:ext cx="438912" cy="2432303"/>
          </a:xfrm>
          <a:prstGeom prst="rect">
            <a:avLst/>
          </a:prstGeom>
          <a:solidFill>
            <a:srgbClr val="C2857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479024" y="3602736"/>
            <a:ext cx="438912" cy="1792223"/>
          </a:xfrm>
          <a:prstGeom prst="rect">
            <a:avLst/>
          </a:prstGeom>
          <a:solidFill>
            <a:srgbClr val="4C7CA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ripple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00" fill="hold" nodeType="afterEffect" grpId="0" presetID="6" presetClass="emph" presetSubtype="0">
                            <p:stCondLst>
                              <p:cond delay="950"/>
                            </p:stCondLst>
                            <p:childTnLst>
                              <p:animScale>
                                <p:cBhvr>
                                  <p:cTn id="101" dur="500" fill="hold"/>
                                  <p:tgtEl>
                                    <p:spTgt spid="6"/>
                                  </p:tgtEl>
                                </p:cBhvr>
                                <p:by x="108000" y="108000"/>
                              </p:animScale>
                            </p:childTnLst>
                          </p:cTn>
                        </p:par>
                        <p:par>
                          <p:cTn id="11" dur="81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1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3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5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QUOTES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金句墙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3344570" cy="18150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在此输入短句一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23562" y="2103120"/>
            <a:ext cx="3344570" cy="18150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79594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16170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在此输入短句二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24164" y="2103120"/>
            <a:ext cx="3344570" cy="18150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80196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16772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在此输入短句三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174235"/>
            <a:ext cx="3344570" cy="18150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在此输入短句四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23562" y="4174235"/>
            <a:ext cx="3344570" cy="18150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79594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16170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在此输入短句五</a:t>
            </a:r>
          </a:p>
        </p:txBody>
      </p:sp>
      <p:sp>
        <p:nvSpPr>
          <p:cNvPr id="2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gallery dir="r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0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2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4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6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8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0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2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4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6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8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0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SWOT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四象限分析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109728" cy="1828800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249424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377439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优势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880360"/>
            <a:ext cx="4480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55080" y="2103120"/>
            <a:ext cx="5029200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2103120"/>
            <a:ext cx="109728" cy="1828800"/>
          </a:xfrm>
          <a:prstGeom prst="rect">
            <a:avLst/>
          </a:prstGeom>
          <a:solidFill>
            <a:srgbClr val="C285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29400" y="2249424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C2857A"/>
                </a:solidFill>
                <a:latin typeface="Segoe UI"/>
                <a:ea typeface="微软雅黑"/>
                <a:cs typeface="微软雅黑"/>
              </a:rPr>
              <a:t>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0920" y="2377439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劣势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2880360"/>
            <a:ext cx="4480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C285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C285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要点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069080"/>
            <a:ext cx="5029200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2960" y="4069080"/>
            <a:ext cx="109728" cy="1828800"/>
          </a:xfrm>
          <a:prstGeom prst="rect">
            <a:avLst/>
          </a:prstGeom>
          <a:solidFill>
            <a:srgbClr val="7C8A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4215384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4343400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机会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4846320"/>
            <a:ext cx="4480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要点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55080" y="4069080"/>
            <a:ext cx="5029200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55080" y="4069080"/>
            <a:ext cx="109728" cy="1828800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29400" y="4215384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60920" y="4343400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挑战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0" y="4846320"/>
            <a:ext cx="4480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要点</a:t>
            </a:r>
          </a:p>
        </p:txBody>
      </p:sp>
      <p:sp>
        <p:nvSpPr>
          <p:cNvPr id="2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2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4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6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8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0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2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4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6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8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0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7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6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SlideForge 北欧灰蓝">
  <a:themeElements>
    <a:clrScheme name="SlideForge 北欧灰蓝">
      <a:dk1>
        <a:srgbClr val="22303C"/>
      </a:dk1>
      <a:lt1>
        <a:srgbClr val="F7F8FA"/>
      </a:lt1>
      <a:dk2>
        <a:srgbClr val="7C8A99"/>
      </a:dk2>
      <a:lt2>
        <a:srgbClr val="FFFFFF"/>
      </a:lt2>
      <a:accent1>
        <a:srgbClr val="4C7CA8"/>
      </a:accent1>
      <a:accent2>
        <a:srgbClr val="C2857A"/>
      </a:accent2>
      <a:accent3>
        <a:srgbClr val="C2857A"/>
      </a:accent3>
      <a:accent4>
        <a:srgbClr val="E2E7EC"/>
      </a:accent4>
      <a:accent5>
        <a:srgbClr val="7C8A99"/>
      </a:accent5>
      <a:accent6>
        <a:srgbClr val="FFFFFF"/>
      </a:accent6>
      <a:hlink>
        <a:srgbClr val="4C7CA8"/>
      </a:hlink>
      <a:folHlink>
        <a:srgbClr val="7C8A99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