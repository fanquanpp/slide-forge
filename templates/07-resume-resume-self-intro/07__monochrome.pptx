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示例系列（右键 → 编辑数据）</c:v>
                </c:pt>
              </c:strCache>
            </c:strRef>
          </c:tx>
          <c:spPr>
            <a:solidFill>
              <a:srgbClr val="0A0A0A"/>
            </a:solidFill>
          </c:spPr>
          <c:cat>
            <c:strRef>
              <c:f>Sheet1!$A$2:$A$7</c:f>
              <c:strCache>
                <c:ptCount val="6"/>
                <c:pt idx="0">
                  <c:v>指标一</c:v>
                </c:pt>
                <c:pt idx="1">
                  <c:v>指标二</c:v>
                </c:pt>
                <c:pt idx="2">
                  <c:v>指标三</c:v>
                </c:pt>
                <c:pt idx="3">
                  <c:v>指标四</c:v>
                </c:pt>
                <c:pt idx="4">
                  <c:v>指标五</c:v>
                </c:pt>
                <c:pt idx="5">
                  <c:v>指标六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</c:v>
                </c:pt>
                <c:pt idx="1">
                  <c:v>80</c:v>
                </c:pt>
                <c:pt idx="2">
                  <c:v>45</c:v>
                </c:pt>
                <c:pt idx="3">
                  <c:v>95</c:v>
                </c:pt>
                <c:pt idx="4">
                  <c:v>70</c:v>
                </c:pt>
                <c:pt idx="5">
                  <c:v>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【页面定位】求职简历与自我介绍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【页面定位】在此输入一句个人宣言。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【页面定位】HIGHLIGHTS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【页面定位】STEPS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【页面定位】FUNNEL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74519"/>
            <a:ext cx="822960" cy="9144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求职简历与自我介绍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求职简历与自我介绍 · 在此输入副标题 / 项目名称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reveal dir="l"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4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关于我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技能栈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项目经历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求职意向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8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0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2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6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8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0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2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4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6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8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0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关于我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6000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4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6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关于我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在此输入「关于我」的要点一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在此输入「关于我」的要点二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在此输入「关于我」的要点三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在此输入「关于我」的要点四</a:t>
            </a:r>
          </a:p>
        </p:txBody>
      </p:sp>
      <p:sp>
        <p:nvSpPr>
          <p:cNvPr id="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技能栈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A · 关于我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B · 技能栈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D3D3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D3D3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D3D3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2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4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6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8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0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2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10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0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41" dur="4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6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8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21" dur="4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4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6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8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01" dur="45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关于我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技能栈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项目经历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求职意向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8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2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4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6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8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0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2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4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61" dur="81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0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0A0A0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投递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笔试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0A0A0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面试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入职</a:t>
            </a:r>
          </a:p>
        </p:txBody>
      </p:sp>
      <p:sp>
        <p:nvSpPr>
          <p:cNvPr id="1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0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2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4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6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8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0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2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4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6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8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188720" y="2331720"/>
          <a:ext cx="585216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10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0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2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4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6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ripple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0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2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4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6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0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2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4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6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0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gallery dir="r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0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2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4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6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8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0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2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4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8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项目经历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6000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4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6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0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在此输入一句个人宣言。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4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6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关键数字 / 速览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2430703" cy="35661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2423160"/>
            <a:ext cx="38404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otion:hero"/>
          <p:cNvSpPr txBox="1"/>
          <p:nvPr/>
        </p:nvSpPr>
        <p:spPr>
          <a:xfrm>
            <a:off x="1097280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维度一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5093207"/>
            <a:ext cx="219456" cy="256032"/>
          </a:xfrm>
          <a:prstGeom prst="rect">
            <a:avLst/>
          </a:prstGeom>
          <a:solidFill>
            <a:srgbClr val="0A0A0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08176" y="4965192"/>
            <a:ext cx="219456" cy="384048"/>
          </a:xfrm>
          <a:prstGeom prst="rect">
            <a:avLst/>
          </a:prstGeom>
          <a:solidFill>
            <a:srgbClr val="3D3D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9072" y="4837175"/>
            <a:ext cx="219456" cy="512064"/>
          </a:xfrm>
          <a:prstGeom prst="rect">
            <a:avLst/>
          </a:prstGeom>
          <a:solidFill>
            <a:srgbClr val="0A0A0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29967" y="4709159"/>
            <a:ext cx="219456" cy="640080"/>
          </a:xfrm>
          <a:prstGeom prst="rect">
            <a:avLst/>
          </a:prstGeom>
          <a:solidFill>
            <a:srgbClr val="3D3D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40864" y="5093207"/>
            <a:ext cx="219456" cy="256032"/>
          </a:xfrm>
          <a:prstGeom prst="rect">
            <a:avLst/>
          </a:prstGeom>
          <a:solidFill>
            <a:srgbClr val="0A0A0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27983" y="2148840"/>
            <a:ext cx="2430703" cy="35661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02303" y="2423160"/>
            <a:ext cx="384048" cy="50292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ntent:kpi"/>
          <p:cNvSpPr txBox="1"/>
          <p:nvPr/>
        </p:nvSpPr>
        <p:spPr>
          <a:xfrm>
            <a:off x="3802303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D3D3D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2303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维度二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2303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02303" y="4965192"/>
            <a:ext cx="219456" cy="384048"/>
          </a:xfrm>
          <a:prstGeom prst="rect">
            <a:avLst/>
          </a:prstGeom>
          <a:solidFill>
            <a:srgbClr val="3D3D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3199" y="4837175"/>
            <a:ext cx="219456" cy="512064"/>
          </a:xfrm>
          <a:prstGeom prst="rect">
            <a:avLst/>
          </a:prstGeom>
          <a:solidFill>
            <a:srgbClr val="0A0A0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24095" y="4709159"/>
            <a:ext cx="219456" cy="640080"/>
          </a:xfrm>
          <a:prstGeom prst="rect">
            <a:avLst/>
          </a:prstGeom>
          <a:solidFill>
            <a:srgbClr val="3D3D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34991" y="5093207"/>
            <a:ext cx="219456" cy="256032"/>
          </a:xfrm>
          <a:prstGeom prst="rect">
            <a:avLst/>
          </a:prstGeom>
          <a:solidFill>
            <a:srgbClr val="0A0A0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45887" y="4965192"/>
            <a:ext cx="219456" cy="384048"/>
          </a:xfrm>
          <a:prstGeom prst="rect">
            <a:avLst/>
          </a:prstGeom>
          <a:solidFill>
            <a:srgbClr val="3D3D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33007" y="2148840"/>
            <a:ext cx="2430703" cy="35661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07327" y="2423160"/>
            <a:ext cx="38404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ntent:kpi"/>
          <p:cNvSpPr txBox="1"/>
          <p:nvPr/>
        </p:nvSpPr>
        <p:spPr>
          <a:xfrm>
            <a:off x="6507327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7327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维度三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7327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07327" y="4837175"/>
            <a:ext cx="219456" cy="512064"/>
          </a:xfrm>
          <a:prstGeom prst="rect">
            <a:avLst/>
          </a:prstGeom>
          <a:solidFill>
            <a:srgbClr val="0A0A0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18223" y="4709159"/>
            <a:ext cx="219456" cy="640080"/>
          </a:xfrm>
          <a:prstGeom prst="rect">
            <a:avLst/>
          </a:prstGeom>
          <a:solidFill>
            <a:srgbClr val="3D3D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29119" y="5093207"/>
            <a:ext cx="219456" cy="256032"/>
          </a:xfrm>
          <a:prstGeom prst="rect">
            <a:avLst/>
          </a:prstGeom>
          <a:solidFill>
            <a:srgbClr val="0A0A0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40015" y="4965192"/>
            <a:ext cx="219456" cy="384048"/>
          </a:xfrm>
          <a:prstGeom prst="rect">
            <a:avLst/>
          </a:prstGeom>
          <a:solidFill>
            <a:srgbClr val="3D3D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50911" y="4837175"/>
            <a:ext cx="219456" cy="512064"/>
          </a:xfrm>
          <a:prstGeom prst="rect">
            <a:avLst/>
          </a:prstGeom>
          <a:solidFill>
            <a:srgbClr val="0A0A0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938031" y="2148840"/>
            <a:ext cx="2430703" cy="35661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12351" y="2423160"/>
            <a:ext cx="384048" cy="50292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ntent:kpi"/>
          <p:cNvSpPr txBox="1"/>
          <p:nvPr/>
        </p:nvSpPr>
        <p:spPr>
          <a:xfrm>
            <a:off x="9212351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D3D3D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12351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维度四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12351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12351" y="4709159"/>
            <a:ext cx="219456" cy="640080"/>
          </a:xfrm>
          <a:prstGeom prst="rect">
            <a:avLst/>
          </a:prstGeom>
          <a:solidFill>
            <a:srgbClr val="3D3D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23247" y="5093207"/>
            <a:ext cx="219456" cy="256032"/>
          </a:xfrm>
          <a:prstGeom prst="rect">
            <a:avLst/>
          </a:prstGeom>
          <a:solidFill>
            <a:srgbClr val="0A0A0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834143" y="4965192"/>
            <a:ext cx="219456" cy="384048"/>
          </a:xfrm>
          <a:prstGeom prst="rect">
            <a:avLst/>
          </a:prstGeom>
          <a:solidFill>
            <a:srgbClr val="3D3D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145039" y="4837175"/>
            <a:ext cx="219456" cy="512064"/>
          </a:xfrm>
          <a:prstGeom prst="rect">
            <a:avLst/>
          </a:prstGeom>
          <a:solidFill>
            <a:srgbClr val="0A0A0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455935" y="4709159"/>
            <a:ext cx="219456" cy="640080"/>
          </a:xfrm>
          <a:prstGeom prst="rect">
            <a:avLst/>
          </a:prstGeom>
          <a:solidFill>
            <a:srgbClr val="3D3D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10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0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21" dur="81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41" dur="45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6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8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1" dur="81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21" dur="45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4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00" fill="hold" nodeType="afterEffect" grpId="0" presetID="6" presetClass="emph" presetSubtype="0">
                            <p:stCondLst>
                              <p:cond delay="1870"/>
                            </p:stCondLst>
                            <p:childTnLst>
                              <p:animScale>
                                <p:cBhvr>
                                  <p:cTn id="261" dur="500" fill="hold"/>
                                  <p:tgtEl>
                                    <p:spTgt spid="8"/>
                                  </p:tgtEl>
                                </p:cBhvr>
                                <p:by x="108000" y="108000"/>
                              </p:animScale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81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45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conveyor dir="r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0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2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4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6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0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2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4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6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8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01" dur="57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5" name="motion:hero"/>
          <p:cNvSpPr txBox="1"/>
          <p:nvPr/>
        </p:nvSpPr>
        <p:spPr>
          <a:xfrm>
            <a:off x="822960" y="17373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在此输入关键数字的含义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在此输入补充说明（占位）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4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00" fill="hold" nodeType="afterEffect" grpId="0" presetID="6" presetClass="emph" presetSubtype="0">
                            <p:stCondLst>
                              <p:cond delay="820"/>
                            </p:stCondLst>
                            <p:childTnLst>
                              <p:animScale>
                                <p:cBhvr>
                                  <p:cTn id="81" dur="500" fill="hold"/>
                                  <p:tgtEl>
                                    <p:spTgt spid="5"/>
                                  </p:tgtEl>
                                </p:cBhvr>
                                <p:by x="108000" y="108000"/>
                              </p:animScale>
                            </p:childTnLst>
                          </p:cTn>
                        </p:par>
                        <p:par>
                          <p:cTn id="9" dur="81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分步说明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2286000"/>
            <a:ext cx="0" cy="2331720"/>
          </a:xfrm>
          <a:prstGeom prst="line">
            <a:avLst/>
          </a:prstGeom>
          <a:ln w="203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97864" y="2212848"/>
            <a:ext cx="347472" cy="347472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221284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48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关于我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8716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1" name="Oval 10"/>
          <p:cNvSpPr/>
          <p:nvPr/>
        </p:nvSpPr>
        <p:spPr>
          <a:xfrm>
            <a:off x="1197864" y="2990088"/>
            <a:ext cx="347472" cy="347472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29900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技能栈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6440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5" name="Oval 14"/>
          <p:cNvSpPr/>
          <p:nvPr/>
        </p:nvSpPr>
        <p:spPr>
          <a:xfrm>
            <a:off x="1197864" y="3767327"/>
            <a:ext cx="347472" cy="347472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" y="376732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项目经历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4164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9" name="Oval 18"/>
          <p:cNvSpPr/>
          <p:nvPr/>
        </p:nvSpPr>
        <p:spPr>
          <a:xfrm>
            <a:off x="1197864" y="4544567"/>
            <a:ext cx="347472" cy="347472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454456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8055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求职意向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1888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23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8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2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6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8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0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2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4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6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8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0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转化漏斗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06727" y="2194560"/>
            <a:ext cx="8778240" cy="786384"/>
          </a:xfrm>
          <a:prstGeom prst="roundRect">
            <a:avLst>
              <a:gd name="adj" fmla="val 18000"/>
            </a:avLst>
          </a:prstGeom>
          <a:solidFill>
            <a:srgbClr val="0A0A0A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2487" y="2414015"/>
            <a:ext cx="6766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层级一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367" y="2414015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21127" y="3127248"/>
            <a:ext cx="6949440" cy="786384"/>
          </a:xfrm>
          <a:prstGeom prst="roundRect">
            <a:avLst>
              <a:gd name="adj" fmla="val 18000"/>
            </a:avLst>
          </a:prstGeom>
          <a:solidFill>
            <a:srgbClr val="3D3D3D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6887" y="3346704"/>
            <a:ext cx="4937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层级二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8967" y="3346704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5527" y="4059935"/>
            <a:ext cx="5120640" cy="786384"/>
          </a:xfrm>
          <a:prstGeom prst="roundRect">
            <a:avLst>
              <a:gd name="adj" fmla="val 18000"/>
            </a:avLst>
          </a:prstGeom>
          <a:solidFill>
            <a:srgbClr val="0A0A0A">
              <a:alpha val="7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01287" y="4279392"/>
            <a:ext cx="3108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层级三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4567" y="4279392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49927" y="4992624"/>
            <a:ext cx="3291840" cy="786384"/>
          </a:xfrm>
          <a:prstGeom prst="roundRect">
            <a:avLst>
              <a:gd name="adj" fmla="val 18000"/>
            </a:avLst>
          </a:prstGeom>
          <a:solidFill>
            <a:srgbClr val="3D3D3D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5687" y="521208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层级四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521208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10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0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4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6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8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0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2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4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6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8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0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4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6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lideForge 单色印刷极简">
  <a:themeElements>
    <a:clrScheme name="SlideForge 单色印刷极简">
      <a:dk1>
        <a:srgbClr val="0A0A0A"/>
      </a:dk1>
      <a:lt1>
        <a:srgbClr val="FFFFFF"/>
      </a:lt1>
      <a:dk2>
        <a:srgbClr val="8C8C8C"/>
      </a:dk2>
      <a:lt2>
        <a:srgbClr val="F4F4F4"/>
      </a:lt2>
      <a:accent1>
        <a:srgbClr val="0A0A0A"/>
      </a:accent1>
      <a:accent2>
        <a:srgbClr val="3D3D3D"/>
      </a:accent2>
      <a:accent3>
        <a:srgbClr val="3D3D3D"/>
      </a:accent3>
      <a:accent4>
        <a:srgbClr val="E0E0E0"/>
      </a:accent4>
      <a:accent5>
        <a:srgbClr val="8C8C8C"/>
      </a:accent5>
      <a:accent6>
        <a:srgbClr val="F4F4F4"/>
      </a:accent6>
      <a:hlink>
        <a:srgbClr val="0A0A0A"/>
      </a:hlink>
      <a:folHlink>
        <a:srgbClr val="8C8C8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