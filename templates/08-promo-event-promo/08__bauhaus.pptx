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示例趋势（右键 → 编辑数据）</c:v>
                </c:pt>
              </c:strCache>
            </c:strRef>
          </c:tx>
          <c:spPr>
            <a:ln w="31750">
              <a:solidFill>
                <a:srgbClr val="E2231A"/>
              </a:solidFill>
            </a:ln>
          </c:spPr>
          <c:cat>
            <c:strRef>
              <c:f>Sheet1!$A$2:$A$7</c:f>
              <c:strCache>
                <c:ptCount val="6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  <c:pt idx="3">
                  <c:v>四月</c:v>
                </c:pt>
                <c:pt idx="4">
                  <c:v>五月</c:v>
                </c:pt>
                <c:pt idx="5">
                  <c:v>六月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44</c:v>
                </c:pt>
                <c:pt idx="2">
                  <c:v>40</c:v>
                </c:pt>
                <c:pt idx="3">
                  <c:v>56</c:v>
                </c:pt>
                <c:pt idx="4">
                  <c:v>50</c:v>
                </c:pt>
                <c:pt idx="5">
                  <c:v>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【页面定位】活动宣传与推广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【页面定位】在此输入一句行动号召（CTA）。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活动宣传与推广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活动宣传与推广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6000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在此输入「亮点速览」的要点四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亮点速览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活动内容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49C4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4F1E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57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扫码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8C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flash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在此输入一句行动号召（CTA）。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E2231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1F49C4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E2231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1F49C4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7" name="motion:hero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1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00" fill="hold" nodeType="afterEffect" grpId="0" presetID="6" presetClass="emph" presetSubtype="0">
                            <p:stCondLst>
                              <p:cond delay="580"/>
                            </p:stCondLst>
                            <p:childTnLst>
                              <p:animScale>
                                <p:cBhvr>
                                  <p:cTn id="81" dur="500" fill="hold"/>
                                  <p:tgtEl>
                                    <p:spTgt spid="7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CD8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5C518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1F49C4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包豪斯三原色  ·  Bauhaus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包豪斯三原色">
  <a:themeElements>
    <a:clrScheme name="SlideForge 包豪斯三原色">
      <a:dk1>
        <a:srgbClr val="111111"/>
      </a:dk1>
      <a:lt1>
        <a:srgbClr val="F4F1EA"/>
      </a:lt1>
      <a:dk2>
        <a:srgbClr val="6B6B6B"/>
      </a:dk2>
      <a:lt2>
        <a:srgbClr val="FFFFFF"/>
      </a:lt2>
      <a:accent1>
        <a:srgbClr val="E2231A"/>
      </a:accent1>
      <a:accent2>
        <a:srgbClr val="1F49C4"/>
      </a:accent2>
      <a:accent3>
        <a:srgbClr val="F5C518"/>
      </a:accent3>
      <a:accent4>
        <a:srgbClr val="DCD8CE"/>
      </a:accent4>
      <a:accent5>
        <a:srgbClr val="6B6B6B"/>
      </a:accent5>
      <a:accent6>
        <a:srgbClr val="FFFFFF"/>
      </a:accent6>
      <a:hlink>
        <a:srgbClr val="E2231A"/>
      </a:hlink>
      <a:folHlink>
        <a:srgbClr val="6B6B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