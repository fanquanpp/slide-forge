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463040"/>
            <a:ext cx="5669280" cy="566928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937760" cy="4937760"/>
          </a:xfrm>
          <a:prstGeom prst="ellipse">
            <a:avLst/>
          </a:prstGeom>
          <a:solidFill>
            <a:srgbClr val="F472B6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22D3EE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SECTION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286000"/>
            <a:ext cx="6035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36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活动宣传与推广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4206240"/>
            <a:ext cx="585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活动宣传与推广 · 在此输入副标题 / 项目名称</a:t>
            </a:r>
          </a:p>
        </p:txBody>
      </p:sp>
    </p:spTree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7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1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3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2430703" cy="219456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亮点速览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7983" y="2377440"/>
            <a:ext cx="2430703" cy="219456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8023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8023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活动内容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377440"/>
            <a:ext cx="2430703" cy="219456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参与方式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8031" y="2377440"/>
            <a:ext cx="2430703" cy="219456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8071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071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常见问题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3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5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9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18" presetClass="entr" presetSubtype="1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1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2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3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42" presetClass="entr" presetSubtype="1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5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43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7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1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9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10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31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463040"/>
            <a:ext cx="5669280" cy="566928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937760" cy="4937760"/>
          </a:xfrm>
          <a:prstGeom prst="ellipse">
            <a:avLst/>
          </a:prstGeom>
          <a:solidFill>
            <a:srgbClr val="F472B6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亮点速览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9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亮点速览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1031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在此输入「亮点速览」的要点一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20240" y="2660904"/>
            <a:ext cx="9418320" cy="0"/>
          </a:xfrm>
          <a:prstGeom prst="line">
            <a:avLst/>
          </a:prstGeom>
          <a:ln w="7620">
            <a:solidFill>
              <a:srgbClr val="2631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284378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889503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在此输入「亮点速览」的要点二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20240" y="3447288"/>
            <a:ext cx="9418320" cy="0"/>
          </a:xfrm>
          <a:prstGeom prst="line">
            <a:avLst/>
          </a:prstGeom>
          <a:ln w="7620">
            <a:solidFill>
              <a:srgbClr val="2631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63016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675887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在此输入「亮点速览」的要点三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920240" y="4233672"/>
            <a:ext cx="9418320" cy="0"/>
          </a:xfrm>
          <a:prstGeom prst="line">
            <a:avLst/>
          </a:prstGeom>
          <a:ln w="7620">
            <a:solidFill>
              <a:srgbClr val="2631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4416552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462272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在此输入「亮点速览」的要点四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20240" y="5020056"/>
            <a:ext cx="9418320" cy="0"/>
          </a:xfrm>
          <a:prstGeom prst="line">
            <a:avLst/>
          </a:prstGeom>
          <a:ln w="7620">
            <a:solidFill>
              <a:srgbClr val="2631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9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1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43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3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1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5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10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7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9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4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31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活动内容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A · 亮点速览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B · 活动内容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472B6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472B6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472B6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Oval 13"/>
          <p:cNvSpPr/>
          <p:nvPr/>
        </p:nvSpPr>
        <p:spPr>
          <a:xfrm>
            <a:off x="5711799" y="3703320"/>
            <a:ext cx="768096" cy="768096"/>
          </a:xfrm>
          <a:prstGeom prst="ellipse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1799" y="370332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B0F1A"/>
                </a:solidFill>
                <a:latin typeface="Segoe UI"/>
                <a:ea typeface="微软雅黑"/>
                <a:cs typeface="微软雅黑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5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2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7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42" presetClass="entr" presetSubtype="1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9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43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1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1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3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10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5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2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7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4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2" presetClass="entr" presetSubtype="8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3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71" dur="45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43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9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1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1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10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3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2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51" dur="45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4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7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2" presetClass="entr" presetSubtype="8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9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37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31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2631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亮点速览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活动内容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参与方式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常见问题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1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5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7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1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4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5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2" presetClass="entr" presetSubtype="8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7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37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91" dur="81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52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3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22D3EE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扫码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6553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填写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22D3EE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确认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3741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参与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3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5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7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10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9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1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4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3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2" presetClass="entr" presetSubtype="8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5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37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7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52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9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1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31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91840" y="2743200"/>
            <a:ext cx="2560320" cy="2560320"/>
          </a:xfrm>
          <a:prstGeom prst="ellipse">
            <a:avLst/>
          </a:prstGeom>
          <a:solidFill>
            <a:srgbClr val="22D3EE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14800" y="3566160"/>
            <a:ext cx="914400" cy="914400"/>
          </a:xfrm>
          <a:prstGeom prst="ellipse">
            <a:avLst/>
          </a:prstGeom>
          <a:solidFill>
            <a:srgbClr val="15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356616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图表占位 · 在 PowerPoint 中插入图表替换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3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5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7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9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4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1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2" presetClass="entr" presetSubtype="8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3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37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5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52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7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15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2631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2631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15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2631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9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3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5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7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9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9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151B2B"/>
          </a:solidFill>
          <a:ln w="12700">
            <a:solidFill>
              <a:srgbClr val="26314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151B2B"/>
          </a:solidFill>
          <a:ln w="12700">
            <a:solidFill>
              <a:srgbClr val="26314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151B2B"/>
          </a:solidFill>
          <a:ln w="12700">
            <a:solidFill>
              <a:srgbClr val="26314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151B2B"/>
          </a:solidFill>
          <a:ln w="12700">
            <a:solidFill>
              <a:srgbClr val="26314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151B2B"/>
          </a:solidFill>
          <a:ln w="12700">
            <a:solidFill>
              <a:srgbClr val="26314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151B2B"/>
          </a:solidFill>
          <a:ln w="12700">
            <a:solidFill>
              <a:srgbClr val="26314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3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5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7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9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37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52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3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1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5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2" presetClass="entr" presetSubtype="4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7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9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22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1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463040"/>
            <a:ext cx="5669280" cy="566928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937760" cy="4937760"/>
          </a:xfrm>
          <a:prstGeom prst="ellipse">
            <a:avLst/>
          </a:prstGeom>
          <a:solidFill>
            <a:srgbClr val="F472B6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参与方式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7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9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1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3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9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463040"/>
            <a:ext cx="5669280" cy="566928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937760" cy="4937760"/>
          </a:xfrm>
          <a:prstGeom prst="ellipse">
            <a:avLst/>
          </a:prstGeom>
          <a:solidFill>
            <a:srgbClr val="F472B6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在此输入一句行动号召（CTA）。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7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9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1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9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3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5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7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1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9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2" presetClass="entr" presetSubtype="4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1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9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22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5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18" presetClass="entr" presetSubtype="1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7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2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9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42" presetClass="entr" presetSubtype="1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31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对比矩阵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58368"/>
          </a:xfrm>
          <a:prstGeom prst="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维度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42283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727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171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807208"/>
            <a:ext cx="10545775" cy="658368"/>
          </a:xfrm>
          <a:prstGeom prst="rect">
            <a:avLst/>
          </a:prstGeom>
          <a:solidFill>
            <a:srgbClr val="15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822960" y="2807208"/>
            <a:ext cx="10545775" cy="0"/>
          </a:xfrm>
          <a:prstGeom prst="line">
            <a:avLst/>
          </a:prstGeom>
          <a:ln w="7620">
            <a:solidFill>
              <a:srgbClr val="2631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05840" y="2952048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维度一</a:t>
            </a:r>
          </a:p>
        </p:txBody>
      </p:sp>
      <p:sp>
        <p:nvSpPr>
          <p:cNvPr id="14" name="Oval 13"/>
          <p:cNvSpPr/>
          <p:nvPr/>
        </p:nvSpPr>
        <p:spPr>
          <a:xfrm>
            <a:off x="4677041" y="3035808"/>
            <a:ext cx="201168" cy="20116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3485" y="3035808"/>
            <a:ext cx="201168" cy="20116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949929" y="3035808"/>
            <a:ext cx="201168" cy="201168"/>
          </a:xfrm>
          <a:prstGeom prst="ellipse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822960" y="3465576"/>
            <a:ext cx="10545775" cy="0"/>
          </a:xfrm>
          <a:prstGeom prst="line">
            <a:avLst/>
          </a:prstGeom>
          <a:ln w="7620">
            <a:solidFill>
              <a:srgbClr val="2631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05840" y="3610416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维度二</a:t>
            </a:r>
          </a:p>
        </p:txBody>
      </p:sp>
      <p:sp>
        <p:nvSpPr>
          <p:cNvPr id="19" name="Oval 18"/>
          <p:cNvSpPr/>
          <p:nvPr/>
        </p:nvSpPr>
        <p:spPr>
          <a:xfrm>
            <a:off x="4677041" y="3694176"/>
            <a:ext cx="201168" cy="20116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3485" y="3694176"/>
            <a:ext cx="201168" cy="201168"/>
          </a:xfrm>
          <a:prstGeom prst="ellipse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949929" y="3694176"/>
            <a:ext cx="201168" cy="20116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4123944"/>
            <a:ext cx="10545775" cy="658368"/>
          </a:xfrm>
          <a:prstGeom prst="rect">
            <a:avLst/>
          </a:prstGeom>
          <a:solidFill>
            <a:srgbClr val="15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822960" y="4123944"/>
            <a:ext cx="10545775" cy="0"/>
          </a:xfrm>
          <a:prstGeom prst="line">
            <a:avLst/>
          </a:prstGeom>
          <a:ln w="7620">
            <a:solidFill>
              <a:srgbClr val="2631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05840" y="4268784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维度三</a:t>
            </a:r>
          </a:p>
        </p:txBody>
      </p:sp>
      <p:sp>
        <p:nvSpPr>
          <p:cNvPr id="25" name="Oval 24"/>
          <p:cNvSpPr/>
          <p:nvPr/>
        </p:nvSpPr>
        <p:spPr>
          <a:xfrm>
            <a:off x="4677041" y="4352544"/>
            <a:ext cx="201168" cy="20116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13485" y="4352544"/>
            <a:ext cx="201168" cy="20116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9929" y="4352544"/>
            <a:ext cx="201168" cy="20116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2" presetClass="entr" presetSubtype="4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9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9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2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3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18" presetClass="entr" presetSubtype="1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5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2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7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42" presetClass="entr" presetSubtype="1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43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463040"/>
            <a:ext cx="5669280" cy="566928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937760" cy="4937760"/>
          </a:xfrm>
          <a:prstGeom prst="ellipse">
            <a:avLst/>
          </a:prstGeom>
          <a:solidFill>
            <a:srgbClr val="F472B6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77639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在此输入关键数字的含义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在此输入补充说明（占位）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7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1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3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分步说明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371600" y="2286000"/>
            <a:ext cx="0" cy="2331720"/>
          </a:xfrm>
          <a:prstGeom prst="line">
            <a:avLst/>
          </a:prstGeom>
          <a:ln w="20320">
            <a:solidFill>
              <a:srgbClr val="2631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197864" y="2212848"/>
            <a:ext cx="347472" cy="347472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97864" y="221284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1488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亮点速览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48716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1" name="Oval 10"/>
          <p:cNvSpPr/>
          <p:nvPr/>
        </p:nvSpPr>
        <p:spPr>
          <a:xfrm>
            <a:off x="1197864" y="2990088"/>
            <a:ext cx="347472" cy="347472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97864" y="299008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926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活动内容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26440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5" name="Oval 14"/>
          <p:cNvSpPr/>
          <p:nvPr/>
        </p:nvSpPr>
        <p:spPr>
          <a:xfrm>
            <a:off x="1197864" y="3767327"/>
            <a:ext cx="347472" cy="347472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97864" y="3767327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7033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参与方式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04164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9" name="Oval 18"/>
          <p:cNvSpPr/>
          <p:nvPr/>
        </p:nvSpPr>
        <p:spPr>
          <a:xfrm>
            <a:off x="1197864" y="4544567"/>
            <a:ext cx="347472" cy="347472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97864" y="4544567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480559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常见问题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81888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9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18" presetClass="entr" presetSubtype="1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1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2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3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42" presetClass="entr" presetSubtype="1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5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43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7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1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9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10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31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463040"/>
            <a:ext cx="5669280" cy="566928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937760" cy="4937760"/>
          </a:xfrm>
          <a:prstGeom prst="ellipse">
            <a:avLst/>
          </a:prstGeom>
          <a:solidFill>
            <a:srgbClr val="F472B6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6" name="Rectangle 5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