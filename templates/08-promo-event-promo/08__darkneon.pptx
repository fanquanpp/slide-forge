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示例构成（右键 → 编辑数据）</c:v>
                </c:pt>
              </c:strCache>
            </c:strRef>
          </c:tx>
          <c:dPt>
            <c:idx val="0"/>
            <c:spPr>
              <a:solidFill>
                <a:srgbClr val="22D3EE"/>
              </a:solidFill>
            </c:spPr>
          </c:dPt>
          <c:dPt>
            <c:idx val="1"/>
            <c:spPr>
              <a:solidFill>
                <a:srgbClr val="F472B6"/>
              </a:solidFill>
            </c:spPr>
          </c:dPt>
          <c:dPt>
            <c:idx val="2"/>
            <c:spPr>
              <a:solidFill>
                <a:srgbClr val="22D3EE"/>
              </a:solidFill>
            </c:spPr>
          </c:dPt>
          <c:dPt>
            <c:idx val="3"/>
            <c:spPr>
              <a:solidFill>
                <a:srgbClr val="F472B6"/>
              </a:solidFill>
            </c:spPr>
          </c:dPt>
          <c:cat>
            <c:strRef>
              <c:f>Sheet1!$A$2:$A$5</c:f>
              <c:strCache>
                <c:ptCount val="4"/>
                <c:pt idx="0">
                  <c:v>板块一</c:v>
                </c:pt>
                <c:pt idx="1">
                  <c:v>板块二</c:v>
                </c:pt>
                <c:pt idx="2">
                  <c:v>板块三</c:v>
                </c:pt>
                <c:pt idx="3">
                  <c:v>板块四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【页面定位】在此输入一句行动号召（CTA）。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【页面定位】CONVERSION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【页面定位】QUOTES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【页面定位】SWOT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22D3EE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活动宣传与推广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活动宣传与推广 · 在此输入副标题 / 项目名称</a:t>
            </a:r>
          </a:p>
        </p:txBody>
      </p:sp>
    </p:spTree>
  </p:cSld>
  <p:clrMapOvr>
    <a:masterClrMapping/>
  </p:clrMapOvr>
  <p:transition spd="med" advClick="1" advTm="6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在此输入「亮点速览」的要点一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在此输入「亮点速览」的要点二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在此输入「亮点速览」的要点三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在此输入「亮点速览」的要点四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A · 亮点速览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B · 活动内容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B0F1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81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扫码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填写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确认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参与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371600" y="2286000"/>
          <a:ext cx="5486400" cy="3520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vortex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在此输入一句行动号召（CTA）。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CONVERSION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转化 / 分配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706727" y="2194560"/>
            <a:ext cx="8778240" cy="786384"/>
          </a:xfrm>
          <a:prstGeom prst="roundRect">
            <a:avLst>
              <a:gd name="adj" fmla="val 18000"/>
            </a:avLst>
          </a:prstGeom>
          <a:solidFill>
            <a:srgbClr val="22D3EE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2487" y="2414015"/>
            <a:ext cx="67665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367" y="2414015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100%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21127" y="3127248"/>
            <a:ext cx="6949440" cy="786384"/>
          </a:xfrm>
          <a:prstGeom prst="roundRect">
            <a:avLst>
              <a:gd name="adj" fmla="val 18000"/>
            </a:avLst>
          </a:prstGeom>
          <a:solidFill>
            <a:srgbClr val="F472B6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887" y="3346704"/>
            <a:ext cx="4937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8967" y="334670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35527" y="4059935"/>
            <a:ext cx="5120640" cy="786384"/>
          </a:xfrm>
          <a:prstGeom prst="roundRect">
            <a:avLst>
              <a:gd name="adj" fmla="val 18000"/>
            </a:avLst>
          </a:prstGeom>
          <a:solidFill>
            <a:srgbClr val="22D3EE">
              <a:alpha val="7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1287" y="4279392"/>
            <a:ext cx="3108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4567" y="4279392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9927" y="4992624"/>
            <a:ext cx="3291840" cy="786384"/>
          </a:xfrm>
          <a:prstGeom prst="roundRect">
            <a:avLst>
              <a:gd name="adj" fmla="val 18000"/>
            </a:avLst>
          </a:prstGeom>
          <a:solidFill>
            <a:srgbClr val="F472B6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5687" y="521208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521208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vortex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motion:hero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F472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F472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F472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00" fill="hold" nodeType="afterEffect" grpId="0" presetID="6" presetClass="emph" presetSubtype="0">
                            <p:stCondLst>
                              <p:cond delay="950"/>
                            </p:stCondLst>
                            <p:childTnLst>
                              <p:animScale>
                                <p:cBhvr>
                                  <p:cTn id="101" dur="500" fill="hold"/>
                                  <p:tgtEl>
                                    <p:spTgt spid="6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SWOT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四象限分析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18288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109728" cy="18288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优势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2103120"/>
            <a:ext cx="5029200" cy="18288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2103120"/>
            <a:ext cx="109728" cy="1828800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劣势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69080"/>
            <a:ext cx="5029200" cy="18288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069080"/>
            <a:ext cx="109728" cy="1828800"/>
          </a:xfrm>
          <a:prstGeom prst="rect">
            <a:avLst/>
          </a:prstGeom>
          <a:solidFill>
            <a:srgbClr val="94A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机会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4069080"/>
            <a:ext cx="5029200" cy="18288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4069080"/>
            <a:ext cx="109728" cy="18288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挑战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暗黑霓虹">
  <a:themeElements>
    <a:clrScheme name="SlideForge 暗黑霓虹">
      <a:dk1>
        <a:srgbClr val="EAF2FF"/>
      </a:dk1>
      <a:lt1>
        <a:srgbClr val="0B0F1A"/>
      </a:lt1>
      <a:dk2>
        <a:srgbClr val="94A3C4"/>
      </a:dk2>
      <a:lt2>
        <a:srgbClr val="151B2B"/>
      </a:lt2>
      <a:accent1>
        <a:srgbClr val="22D3EE"/>
      </a:accent1>
      <a:accent2>
        <a:srgbClr val="F472B6"/>
      </a:accent2>
      <a:accent3>
        <a:srgbClr val="F472B6"/>
      </a:accent3>
      <a:accent4>
        <a:srgbClr val="26314B"/>
      </a:accent4>
      <a:accent5>
        <a:srgbClr val="94A3C4"/>
      </a:accent5>
      <a:accent6>
        <a:srgbClr val="151B2B"/>
      </a:accent6>
      <a:hlink>
        <a:srgbClr val="22D3EE"/>
      </a:hlink>
      <a:folHlink>
        <a:srgbClr val="94A3C4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