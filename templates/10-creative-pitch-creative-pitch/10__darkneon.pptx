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示例趋势（右键 → 编辑数据）</c:v>
                </c:pt>
              </c:strCache>
            </c:strRef>
          </c:tx>
          <c:spPr>
            <a:ln w="31750">
              <a:solidFill>
                <a:srgbClr val="22D3EE"/>
              </a:solidFill>
            </a:ln>
          </c:spPr>
          <c:cat>
            <c:strRef>
              <c:f>Sheet1!$A$2:$A$7</c:f>
              <c:strCache>
                <c:ptCount val="6"/>
                <c:pt idx="0">
                  <c:v>一月</c:v>
                </c:pt>
                <c:pt idx="1">
                  <c:v>二月</c:v>
                </c:pt>
                <c:pt idx="2">
                  <c:v>三月</c:v>
                </c:pt>
                <c:pt idx="3">
                  <c:v>四月</c:v>
                </c:pt>
                <c:pt idx="4">
                  <c:v>五月</c:v>
                </c:pt>
                <c:pt idx="5">
                  <c:v>六月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44</c:v>
                </c:pt>
                <c:pt idx="2">
                  <c:v>40</c:v>
                </c:pt>
                <c:pt idx="3">
                  <c:v>56</c:v>
                </c:pt>
                <c:pt idx="4">
                  <c:v>50</c:v>
                </c:pt>
                <c:pt idx="5">
                  <c:v>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【页面定位】内容创作提案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【页面定位】在此输入一句作品主题 / 立意。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6000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2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6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8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0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472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B0F1A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4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57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2D3EE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188720" y="2331720"/>
          <a:ext cx="5852160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litter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vortex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51B2B"/>
          </a:solidFill>
          <a:ln w="12700">
            <a:solidFill>
              <a:srgbClr val="2631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flash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22D3E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472B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94A3C4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8000"/>
            </a:avLst>
          </a:prstGeom>
          <a:solidFill>
            <a:srgbClr val="151B2B"/>
          </a:solidFill>
          <a:ln w="9525">
            <a:solidFill>
              <a:srgbClr val="2631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flip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EA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15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motion:hero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00" fill="hold" nodeType="afterEffect" grpId="0" presetID="6" presetClass="emph" presetSubtype="0">
                            <p:stCondLst>
                              <p:cond delay="580"/>
                            </p:stCondLst>
                            <p:childTnLst>
                              <p:animScale>
                                <p:cBhvr>
                                  <p:cTn id="81" dur="500" fill="hold"/>
                                  <p:tgtEl>
                                    <p:spTgt spid="6"/>
                                  </p:tgtEl>
                                </p:cBhvr>
                                <p:by x="108000" y="108000"/>
                              </p:animScale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22D3EE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2631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1" advTm="8000">
        <p159:morph option="byObject"/>
      </p:transition>
    </mc:Choice>
    <mc:Fallback>
      <p:transition spd="med" advClick="1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22D3EE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F472B6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2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263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4A3C4"/>
                </a:solidFill>
                <a:latin typeface="Segoe UI"/>
                <a:ea typeface="微软雅黑"/>
                <a:cs typeface="微软雅黑"/>
              </a:rPr>
              <a:t>暗黑霓虹  ·  Dark Neon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暗黑霓虹">
  <a:themeElements>
    <a:clrScheme name="SlideForge 暗黑霓虹">
      <a:dk1>
        <a:srgbClr val="EAF2FF"/>
      </a:dk1>
      <a:lt1>
        <a:srgbClr val="0B0F1A"/>
      </a:lt1>
      <a:dk2>
        <a:srgbClr val="94A3C4"/>
      </a:dk2>
      <a:lt2>
        <a:srgbClr val="151B2B"/>
      </a:lt2>
      <a:accent1>
        <a:srgbClr val="22D3EE"/>
      </a:accent1>
      <a:accent2>
        <a:srgbClr val="F472B6"/>
      </a:accent2>
      <a:accent3>
        <a:srgbClr val="F472B6"/>
      </a:accent3>
      <a:accent4>
        <a:srgbClr val="26314B"/>
      </a:accent4>
      <a:accent5>
        <a:srgbClr val="94A3C4"/>
      </a:accent5>
      <a:accent6>
        <a:srgbClr val="151B2B"/>
      </a:accent6>
      <a:hlink>
        <a:srgbClr val="22D3EE"/>
      </a:hlink>
      <a:folHlink>
        <a:srgbClr val="94A3C4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