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95360" y="-1463040"/>
            <a:ext cx="5486400" cy="5486400"/>
          </a:xfrm>
          <a:prstGeom prst="ellipse">
            <a:avLst/>
          </a:prstGeom>
          <a:solidFill>
            <a:srgbClr val="1FA97A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377440"/>
            <a:ext cx="99669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2000"/>
              </a:lnSpc>
              <a:spcAft>
                <a:spcPts val="400"/>
              </a:spcAft>
            </a:pPr>
            <a:r>
              <a:rPr sz="46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技术架构评审</a:t>
            </a:r>
          </a:p>
        </p:txBody>
      </p:sp>
      <p:sp>
        <p:nvSpPr>
          <p:cNvPr id="5" name="Rectangle 4"/>
          <p:cNvSpPr/>
          <p:nvPr/>
        </p:nvSpPr>
        <p:spPr>
          <a:xfrm>
            <a:off x="5684367" y="3886200"/>
            <a:ext cx="822960" cy="91440"/>
          </a:xfrm>
          <a:prstGeom prst="rect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114800"/>
            <a:ext cx="9966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技术架构评审 · 在此输入副标题 / 项目名称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669280"/>
            <a:ext cx="9966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团队 / 姓名  ·  YYYY-MM-DD</a:t>
            </a:r>
          </a:p>
        </p:txBody>
      </p:sp>
    </p:spTree>
  </p:cSld>
  <p:clrMapOvr>
    <a:masterClrMapping/>
  </p:clrMapOvr>
  <p:transition spd="med">
    <p:push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目录 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377440"/>
            <a:ext cx="2430703" cy="2194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背景与目标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7983" y="2377440"/>
            <a:ext cx="2430703" cy="2194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8023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8023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架构方案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007" y="2377440"/>
            <a:ext cx="2430703" cy="2194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3047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3047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取舍与风险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38031" y="2377440"/>
            <a:ext cx="2430703" cy="2194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58071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58071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评审结论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等距信息图  ·  Isometric</a:t>
            </a:r>
          </a:p>
        </p:txBody>
      </p:sp>
    </p:spTree>
  </p:cSld>
  <p:clrMapOvr>
    <a:masterClrMapping/>
  </p:clrMapOvr>
  <p:transition spd="med">
    <p:push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95360" y="-1463040"/>
            <a:ext cx="5486400" cy="5486400"/>
          </a:xfrm>
          <a:prstGeom prst="ellipse">
            <a:avLst/>
          </a:prstGeom>
          <a:solidFill>
            <a:srgbClr val="1FA97A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1E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背景与目标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等距信息图  ·  Isometric</a:t>
            </a:r>
          </a:p>
        </p:txBody>
      </p:sp>
    </p:spTree>
  </p:cSld>
  <p:clrMapOvr>
    <a:masterClrMapping/>
  </p:clrMapOvr>
  <p:transition spd="med">
    <p:push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背景与目标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1042416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249424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231136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在此输入「背景与目标」的要点一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889503"/>
            <a:ext cx="1042416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035808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017520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在此输入「背景与目标」的要点二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675887"/>
            <a:ext cx="1042416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822191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803903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在此输入「背景与目标」的要点三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462272"/>
            <a:ext cx="1042416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608576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4590288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在此输入「背景与目标」的要点四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等距信息图  ·  Isometric</a:t>
            </a:r>
          </a:p>
        </p:txBody>
      </p:sp>
    </p:spTree>
  </p:cSld>
  <p:clrMapOvr>
    <a:masterClrMapping/>
  </p:clrMapOvr>
  <p:transition spd="med">
    <p:push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架构方案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5029200" cy="3840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03120"/>
            <a:ext cx="5029200" cy="109728"/>
          </a:xfrm>
          <a:prstGeom prst="rect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A · 背景与目标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103120"/>
            <a:ext cx="5029200" cy="3840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2103120"/>
            <a:ext cx="5029200" cy="109728"/>
          </a:xfrm>
          <a:prstGeom prst="rect">
            <a:avLst/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B · 架构方案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F2994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F2994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F2994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4" name="Oval 13"/>
          <p:cNvSpPr/>
          <p:nvPr/>
        </p:nvSpPr>
        <p:spPr>
          <a:xfrm>
            <a:off x="5711799" y="3703320"/>
            <a:ext cx="768096" cy="768096"/>
          </a:xfrm>
          <a:prstGeom prst="ellipse">
            <a:avLst/>
          </a:prstGeom>
          <a:solidFill>
            <a:srgbClr val="1E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11799" y="3703320"/>
            <a:ext cx="768096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2F5F3"/>
                </a:solidFill>
                <a:latin typeface="Segoe UI"/>
                <a:ea typeface="微软雅黑"/>
                <a:cs typeface="微软雅黑"/>
              </a:rPr>
              <a:t>VS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等距信息图  ·  Isometric</a:t>
            </a:r>
          </a:p>
        </p:txBody>
      </p:sp>
    </p:spTree>
  </p:cSld>
  <p:clrMapOvr>
    <a:masterClrMapping/>
  </p:clrMapOvr>
  <p:transition spd="med">
    <p:push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关键数据一览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2430703" cy="3886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2468879"/>
            <a:ext cx="457200" cy="54864"/>
          </a:xfrm>
          <a:prstGeom prst="rect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指标一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7983" y="2103120"/>
            <a:ext cx="2430703" cy="3886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8023" y="2468879"/>
            <a:ext cx="457200" cy="54864"/>
          </a:xfrm>
          <a:prstGeom prst="rect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8023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8023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指标二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8023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2103120"/>
            <a:ext cx="2430703" cy="3886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53047" y="2468879"/>
            <a:ext cx="457200" cy="54864"/>
          </a:xfrm>
          <a:prstGeom prst="rect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3047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3047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指标三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047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38031" y="2103120"/>
            <a:ext cx="2430703" cy="3886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58071" y="2468879"/>
            <a:ext cx="457200" cy="54864"/>
          </a:xfrm>
          <a:prstGeom prst="rect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58071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8071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指标四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8071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等距信息图  ·  Isometric</a:t>
            </a:r>
          </a:p>
        </p:txBody>
      </p:sp>
    </p:spTree>
  </p:cSld>
  <p:clrMapOvr>
    <a:masterClrMapping/>
  </p:clrMapOvr>
  <p:transition spd="med">
    <p:push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排期 / 路线图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234440" y="3063240"/>
            <a:ext cx="9722815" cy="0"/>
          </a:xfrm>
          <a:prstGeom prst="line">
            <a:avLst/>
          </a:prstGeom>
          <a:ln w="25400">
            <a:solidFill>
              <a:srgbClr val="DDE6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88136" y="2916936"/>
            <a:ext cx="292608" cy="292608"/>
          </a:xfrm>
          <a:prstGeom prst="ellipse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背景与目标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Oval 10"/>
          <p:cNvSpPr/>
          <p:nvPr/>
        </p:nvSpPr>
        <p:spPr>
          <a:xfrm>
            <a:off x="4329074" y="2916936"/>
            <a:ext cx="292608" cy="292608"/>
          </a:xfrm>
          <a:prstGeom prst="ellipse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09618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0978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架构方案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0978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5" name="Oval 14"/>
          <p:cNvSpPr/>
          <p:nvPr/>
        </p:nvSpPr>
        <p:spPr>
          <a:xfrm>
            <a:off x="7570012" y="2916936"/>
            <a:ext cx="292608" cy="292608"/>
          </a:xfrm>
          <a:prstGeom prst="ellipse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50556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01916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取舍与风险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01916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9" name="Oval 18"/>
          <p:cNvSpPr/>
          <p:nvPr/>
        </p:nvSpPr>
        <p:spPr>
          <a:xfrm>
            <a:off x="10810951" y="2916936"/>
            <a:ext cx="292608" cy="292608"/>
          </a:xfrm>
          <a:prstGeom prst="ellipse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91495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42855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评审结论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42855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等距信息图  ·  Isometric</a:t>
            </a:r>
          </a:p>
        </p:txBody>
      </p:sp>
    </p:spTree>
  </p:cSld>
  <p:clrMapOvr>
    <a:masterClrMapping/>
  </p:clrMapOvr>
  <p:transition spd="med">
    <p:push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工作流程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1FA97A"/>
          </a:solidFill>
          <a:ln w="9525">
            <a:solidFill>
              <a:srgbClr val="DD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提案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06241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16553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D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17721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评审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99835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0147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1FA97A"/>
          </a:solidFill>
          <a:ln w="9525">
            <a:solidFill>
              <a:srgbClr val="DD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1315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落地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93429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03741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D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04909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复盘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等距信息图  ·  Isometric</a:t>
            </a:r>
          </a:p>
        </p:txBody>
      </p:sp>
    </p:spTree>
  </p:cSld>
  <p:clrMapOvr>
    <a:masterClrMapping/>
  </p:clrMapOvr>
  <p:transition spd="med">
    <p:push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数据图表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7680960" cy="3886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1463040" y="3840480"/>
            <a:ext cx="1280160" cy="914400"/>
          </a:xfrm>
          <a:prstGeom prst="line">
            <a:avLst/>
          </a:prstGeom>
          <a:ln w="31750">
            <a:solidFill>
              <a:srgbClr val="1FA97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743200" y="3840480"/>
            <a:ext cx="1280160" cy="457200"/>
          </a:xfrm>
          <a:prstGeom prst="line">
            <a:avLst/>
          </a:prstGeom>
          <a:ln w="31750">
            <a:solidFill>
              <a:srgbClr val="1FA97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4023360" y="3108960"/>
            <a:ext cx="1280160" cy="1188720"/>
          </a:xfrm>
          <a:prstGeom prst="line">
            <a:avLst/>
          </a:prstGeom>
          <a:ln w="31750">
            <a:solidFill>
              <a:srgbClr val="1FA97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303520" y="3108960"/>
            <a:ext cx="1280160" cy="457200"/>
          </a:xfrm>
          <a:prstGeom prst="line">
            <a:avLst/>
          </a:prstGeom>
          <a:ln w="31750">
            <a:solidFill>
              <a:srgbClr val="1FA97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6583680" y="2743200"/>
            <a:ext cx="1280160" cy="822960"/>
          </a:xfrm>
          <a:prstGeom prst="line">
            <a:avLst/>
          </a:prstGeom>
          <a:ln w="31750">
            <a:solidFill>
              <a:srgbClr val="1FA97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1399032" y="4690872"/>
            <a:ext cx="128016" cy="128016"/>
          </a:xfrm>
          <a:prstGeom prst="ellipse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679192" y="3776472"/>
            <a:ext cx="128016" cy="128016"/>
          </a:xfrm>
          <a:prstGeom prst="ellipse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959352" y="4233672"/>
            <a:ext cx="128016" cy="128016"/>
          </a:xfrm>
          <a:prstGeom prst="ellipse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239512" y="3044952"/>
            <a:ext cx="128016" cy="128016"/>
          </a:xfrm>
          <a:prstGeom prst="ellipse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19672" y="3502152"/>
            <a:ext cx="128016" cy="128016"/>
          </a:xfrm>
          <a:prstGeom prst="ellipse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799831" y="2679192"/>
            <a:ext cx="128016" cy="128016"/>
          </a:xfrm>
          <a:prstGeom prst="ellipse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0160" y="562356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图表占位 · 在 PowerPoint 中插入图表替换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224028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关键结论 / 解读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2743200"/>
            <a:ext cx="2651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等距信息图  ·  Isometric</a:t>
            </a:r>
          </a:p>
        </p:txBody>
      </p:sp>
    </p:spTree>
  </p:cSld>
  <p:clrMapOvr>
    <a:masterClrMapping/>
  </p:clrMapOvr>
  <p:transition spd="med">
    <p:push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明细表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10545775" cy="640080"/>
          </a:xfrm>
          <a:prstGeom prst="rect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项目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1098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36356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备注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788920"/>
            <a:ext cx="1054577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822960" y="2788920"/>
            <a:ext cx="10545775" cy="0"/>
          </a:xfrm>
          <a:prstGeom prst="line">
            <a:avLst/>
          </a:prstGeom>
          <a:ln w="7620">
            <a:solidFill>
              <a:srgbClr val="DDE6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05840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项一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1098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36356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2960" y="3429000"/>
            <a:ext cx="10545775" cy="0"/>
          </a:xfrm>
          <a:prstGeom prst="line">
            <a:avLst/>
          </a:prstGeom>
          <a:ln w="7620">
            <a:solidFill>
              <a:srgbClr val="DDE6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05840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项二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1098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6356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069079"/>
            <a:ext cx="1054577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822960" y="4069079"/>
            <a:ext cx="10545775" cy="0"/>
          </a:xfrm>
          <a:prstGeom prst="line">
            <a:avLst/>
          </a:prstGeom>
          <a:ln w="7620">
            <a:solidFill>
              <a:srgbClr val="DDE6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05840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项三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1098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6356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等距信息图  ·  Isometric</a:t>
            </a:r>
          </a:p>
        </p:txBody>
      </p:sp>
    </p:spTree>
  </p:cSld>
  <p:clrMapOvr>
    <a:masterClrMapping/>
  </p:clrMapOvr>
  <p:transition spd="med">
    <p:push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图集 / 案例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作品 1</a:t>
            </a:r>
          </a:p>
        </p:txBody>
      </p:sp>
      <p:sp>
        <p:nvSpPr>
          <p:cNvPr id="8" name="Rectangle 7"/>
          <p:cNvSpPr/>
          <p:nvPr/>
        </p:nvSpPr>
        <p:spPr>
          <a:xfrm>
            <a:off x="4429658" y="2103120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29658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作品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36356" y="2103120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36356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作品 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183379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作品 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29658" y="4183379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29658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作品 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6356" y="4183379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36356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作品 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等距信息图  ·  Isometric</a:t>
            </a:r>
          </a:p>
        </p:txBody>
      </p:sp>
    </p:spTree>
  </p:cSld>
  <p:clrMapOvr>
    <a:masterClrMapping/>
  </p:clrMapOvr>
  <p:transition spd="med">
    <p:push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95360" y="-1463040"/>
            <a:ext cx="5486400" cy="5486400"/>
          </a:xfrm>
          <a:prstGeom prst="ellipse">
            <a:avLst/>
          </a:prstGeom>
          <a:solidFill>
            <a:srgbClr val="1FA97A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1E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取舍与风险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等距信息图  ·  Isometric</a:t>
            </a:r>
          </a:p>
        </p:txBody>
      </p:sp>
    </p:spTree>
  </p:cSld>
  <p:clrMapOvr>
    <a:masterClrMapping/>
  </p:clrMapOvr>
  <p:transition spd="med">
    <p:push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95360" y="-1463040"/>
            <a:ext cx="5486400" cy="5486400"/>
          </a:xfrm>
          <a:prstGeom prst="ellipse">
            <a:avLst/>
          </a:prstGeom>
          <a:solidFill>
            <a:srgbClr val="1FA97A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828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651760"/>
            <a:ext cx="9601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600" b="0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在此输入一条架构原则。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0160" y="4754880"/>
            <a:ext cx="566928" cy="54864"/>
          </a:xfrm>
          <a:prstGeom prst="rect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493776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— 署名 / 出处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等距信息图  ·  Isometric</a:t>
            </a:r>
          </a:p>
        </p:txBody>
      </p:sp>
    </p:spTree>
  </p:cSld>
  <p:clrMapOvr>
    <a:masterClrMapping/>
  </p:clrMapOvr>
  <p:transition spd="med">
    <p:push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团队 / 分工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3301898" cy="3291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79549" y="2697480"/>
            <a:ext cx="1188720" cy="1188720"/>
          </a:xfrm>
          <a:prstGeom prst="ellipse">
            <a:avLst/>
          </a:prstGeom>
          <a:solidFill>
            <a:srgbClr val="DDE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79549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角色一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44898" y="2286000"/>
            <a:ext cx="3301898" cy="3291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01487" y="2697480"/>
            <a:ext cx="1188720" cy="1188720"/>
          </a:xfrm>
          <a:prstGeom prst="ellipse">
            <a:avLst/>
          </a:prstGeom>
          <a:solidFill>
            <a:srgbClr val="DDE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01487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7778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7778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角色二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6836" y="2286000"/>
            <a:ext cx="3301898" cy="3291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23426" y="2697480"/>
            <a:ext cx="1188720" cy="1188720"/>
          </a:xfrm>
          <a:prstGeom prst="ellipse">
            <a:avLst/>
          </a:prstGeom>
          <a:solidFill>
            <a:srgbClr val="DDE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23426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9716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9716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角色三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等距信息图  ·  Isometric</a:t>
            </a:r>
          </a:p>
        </p:txBody>
      </p:sp>
    </p:spTree>
  </p:cSld>
  <p:clrMapOvr>
    <a:masterClrMapping/>
  </p:clrMapOvr>
  <p:transition spd="med">
    <p:push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常见问题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10424160" cy="841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60704" y="2322576"/>
            <a:ext cx="402336" cy="402336"/>
          </a:xfrm>
          <a:prstGeom prst="ellipse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0704" y="2322576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Q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249424"/>
            <a:ext cx="9235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在此输入问题一？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596896"/>
            <a:ext cx="9235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在此输入回答（占位）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063239"/>
            <a:ext cx="10424160" cy="841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60704" y="3282696"/>
            <a:ext cx="402336" cy="402336"/>
          </a:xfrm>
          <a:prstGeom prst="ellipse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" y="3282696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Q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3209544"/>
            <a:ext cx="9235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在此输入问题二？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3557015"/>
            <a:ext cx="9235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在此输入回答（占位）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023360"/>
            <a:ext cx="10424160" cy="841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60704" y="4242816"/>
            <a:ext cx="402336" cy="402336"/>
          </a:xfrm>
          <a:prstGeom prst="ellipse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0704" y="4242816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Q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4169664"/>
            <a:ext cx="9235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在此输入问题三？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4517136"/>
            <a:ext cx="9235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在此输入回答（占位）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等距信息图  ·  Isometric</a:t>
            </a:r>
          </a:p>
        </p:txBody>
      </p:sp>
    </p:spTree>
  </p:cSld>
  <p:clrMapOvr>
    <a:masterClrMapping/>
  </p:clrMapOvr>
  <p:transition spd="med">
    <p:push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多线路线图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368296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线一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286000" y="2971800"/>
            <a:ext cx="9052560" cy="0"/>
          </a:xfrm>
          <a:prstGeom prst="line">
            <a:avLst/>
          </a:prstGeom>
          <a:ln w="12700">
            <a:solidFill>
              <a:srgbClr val="DDE6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377440" y="225856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1FA97A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87168" y="229514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任务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225856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1FA97A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81728" y="229514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任务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66560" y="225856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1FA97A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76288" y="229514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任务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014216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线二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286000" y="4617720"/>
            <a:ext cx="9052560" cy="0"/>
          </a:xfrm>
          <a:prstGeom prst="line">
            <a:avLst/>
          </a:prstGeom>
          <a:ln w="12700">
            <a:solidFill>
              <a:srgbClr val="DDE6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377440" y="390448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F2994A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87168" y="394106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任务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390448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F2994A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81728" y="394106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任务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等距信息图  ·  Isometric</a:t>
            </a:r>
          </a:p>
        </p:txBody>
      </p:sp>
    </p:spTree>
  </p:cSld>
  <p:clrMapOvr>
    <a:masterClrMapping/>
  </p:clrMapOvr>
  <p:transition spd="med">
    <p:push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清单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2148839"/>
            <a:ext cx="310896" cy="310896"/>
          </a:xfrm>
          <a:prstGeom prst="rect">
            <a:avLst/>
          </a:prstGeom>
          <a:noFill/>
          <a:ln w="17780">
            <a:solidFill>
              <a:srgbClr val="1FA9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130551"/>
            <a:ext cx="31089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103120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在此输入待办项一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554480" y="2615184"/>
            <a:ext cx="9784080" cy="0"/>
          </a:xfrm>
          <a:prstGeom prst="line">
            <a:avLst/>
          </a:prstGeom>
          <a:ln w="7620">
            <a:solidFill>
              <a:srgbClr val="DDE6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868680" y="2807207"/>
            <a:ext cx="310896" cy="310896"/>
          </a:xfrm>
          <a:prstGeom prst="rect">
            <a:avLst/>
          </a:prstGeom>
          <a:noFill/>
          <a:ln w="17780">
            <a:solidFill>
              <a:srgbClr val="1FA9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788919"/>
            <a:ext cx="31089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761487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在此输入待办项二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554480" y="3273551"/>
            <a:ext cx="9784080" cy="0"/>
          </a:xfrm>
          <a:prstGeom prst="line">
            <a:avLst/>
          </a:prstGeom>
          <a:ln w="7620">
            <a:solidFill>
              <a:srgbClr val="DDE6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868680" y="3465575"/>
            <a:ext cx="310896" cy="310896"/>
          </a:xfrm>
          <a:prstGeom prst="rect">
            <a:avLst/>
          </a:prstGeom>
          <a:noFill/>
          <a:ln w="17780">
            <a:solidFill>
              <a:srgbClr val="1FA9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447287"/>
            <a:ext cx="31089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419856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在此输入待办项三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554480" y="3931920"/>
            <a:ext cx="9784080" cy="0"/>
          </a:xfrm>
          <a:prstGeom prst="line">
            <a:avLst/>
          </a:prstGeom>
          <a:ln w="7620">
            <a:solidFill>
              <a:srgbClr val="DDE6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68680" y="4123944"/>
            <a:ext cx="310896" cy="310896"/>
          </a:xfrm>
          <a:prstGeom prst="rect">
            <a:avLst/>
          </a:prstGeom>
          <a:noFill/>
          <a:ln w="17780">
            <a:solidFill>
              <a:srgbClr val="1FA9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105656"/>
            <a:ext cx="31089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078224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在此输入待办项四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554480" y="4590288"/>
            <a:ext cx="9784080" cy="0"/>
          </a:xfrm>
          <a:prstGeom prst="line">
            <a:avLst/>
          </a:prstGeom>
          <a:ln w="7620">
            <a:solidFill>
              <a:srgbClr val="DDE6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等距信息图  ·  Isometric</a:t>
            </a:r>
          </a:p>
        </p:txBody>
      </p:sp>
    </p:spTree>
  </p:cSld>
  <p:clrMapOvr>
    <a:masterClrMapping/>
  </p:clrMapOvr>
  <p:transition spd="med">
    <p:push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95360" y="-1463040"/>
            <a:ext cx="5486400" cy="5486400"/>
          </a:xfrm>
          <a:prstGeom prst="ellipse">
            <a:avLst/>
          </a:prstGeom>
          <a:solidFill>
            <a:srgbClr val="1FA97A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651760"/>
            <a:ext cx="9966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48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谢谢观看</a:t>
            </a:r>
          </a:p>
        </p:txBody>
      </p:sp>
      <p:sp>
        <p:nvSpPr>
          <p:cNvPr id="5" name="Rectangle 4"/>
          <p:cNvSpPr/>
          <p:nvPr/>
        </p:nvSpPr>
        <p:spPr>
          <a:xfrm>
            <a:off x="5684367" y="3931920"/>
            <a:ext cx="822960" cy="91440"/>
          </a:xfrm>
          <a:prstGeom prst="rect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206240"/>
            <a:ext cx="9966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在此输入联系方式 / 二维码 / 致谢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等距信息图  ·  Isometric</a:t>
            </a:r>
          </a:p>
        </p:txBody>
      </p:sp>
    </p:spTree>
  </p:cSld>
  <p:clrMapOvr>
    <a:masterClrMapping/>
  </p:clrMapOvr>
  <p:transition spd="med">
    <p:push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