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8288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1440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0584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9728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" y="0"/>
            <a:ext cx="45720" cy="6858000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2960" y="1874519"/>
            <a:ext cx="822960" cy="91440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2194560"/>
            <a:ext cx="96926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4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技术架构评审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3794760"/>
            <a:ext cx="9144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技术架构评审 · 在此输入副标题 / 项目名称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539496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团队 / 姓名  ·  YYYY-MM-DD</a:t>
            </a:r>
          </a:p>
        </p:txBody>
      </p:sp>
    </p:spTree>
  </p:cSld>
  <p:clrMapOvr>
    <a:masterClrMapping/>
  </p:clrMapOvr>
  <p:transition spd="med">
    <p:push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30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背景与目标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783080" y="2660904"/>
            <a:ext cx="4160520" cy="0"/>
          </a:xfrm>
          <a:prstGeom prst="line">
            <a:avLst/>
          </a:prstGeom>
          <a:ln w="9525">
            <a:solidFill>
              <a:srgbClr val="D8D8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3093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694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架构方案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269480" y="2660904"/>
            <a:ext cx="4160520" cy="0"/>
          </a:xfrm>
          <a:prstGeom prst="line">
            <a:avLst/>
          </a:prstGeom>
          <a:ln w="9525">
            <a:solidFill>
              <a:srgbClr val="D8D8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30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取舍与风险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783080" y="3575304"/>
            <a:ext cx="4160520" cy="0"/>
          </a:xfrm>
          <a:prstGeom prst="line">
            <a:avLst/>
          </a:prstGeom>
          <a:ln w="9525">
            <a:solidFill>
              <a:srgbClr val="D8D8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3093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694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评审结论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269480" y="3575304"/>
            <a:ext cx="4160520" cy="0"/>
          </a:xfrm>
          <a:prstGeom prst="line">
            <a:avLst/>
          </a:prstGeom>
          <a:ln w="9525">
            <a:solidFill>
              <a:srgbClr val="D8D8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p:transition spd="med">
    <p:push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8288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1440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0584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9728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" y="0"/>
            <a:ext cx="45720" cy="6858000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背景与目标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p:transition spd="med">
    <p:push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背景与目标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104241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在此输入「背景与目标」的要点一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在此输入「背景与目标」的要点二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在此输入「背景与目标」的要点三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在此输入「背景与目标」的要点四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p:transition spd="med">
    <p:push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架构方案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A · 背景与目标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B · 架构方案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p:transition spd="med">
    <p:push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p:transition spd="med">
    <p:push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D8D8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背景与目标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架构方案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取舍与风险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评审结论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p:transition spd="med">
    <p:push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hevron 5"/>
          <p:cNvSpPr/>
          <p:nvPr/>
        </p:nvSpPr>
        <p:spPr>
          <a:xfrm>
            <a:off x="822960" y="2743200"/>
            <a:ext cx="2464993" cy="1371600"/>
          </a:xfrm>
          <a:prstGeom prst="chevron">
            <a:avLst/>
          </a:prstGeom>
          <a:solidFill>
            <a:srgbClr val="E2231A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提案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Chevron 8"/>
          <p:cNvSpPr/>
          <p:nvPr/>
        </p:nvSpPr>
        <p:spPr>
          <a:xfrm>
            <a:off x="3516553" y="2743200"/>
            <a:ext cx="2464993" cy="1371600"/>
          </a:xfrm>
          <a:prstGeom prst="chevron">
            <a:avLst/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评审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Chevron 11"/>
          <p:cNvSpPr/>
          <p:nvPr/>
        </p:nvSpPr>
        <p:spPr>
          <a:xfrm>
            <a:off x="6210147" y="2743200"/>
            <a:ext cx="2464993" cy="1371600"/>
          </a:xfrm>
          <a:prstGeom prst="chevron">
            <a:avLst/>
          </a:prstGeom>
          <a:solidFill>
            <a:srgbClr val="E2231A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落地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Chevron 14"/>
          <p:cNvSpPr/>
          <p:nvPr/>
        </p:nvSpPr>
        <p:spPr>
          <a:xfrm>
            <a:off x="8903741" y="2743200"/>
            <a:ext cx="2464993" cy="1371600"/>
          </a:xfrm>
          <a:prstGeom prst="chevron">
            <a:avLst/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复盘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p:transition spd="med">
    <p:push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5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0" y="3877056"/>
            <a:ext cx="685800" cy="1609344"/>
          </a:xfrm>
          <a:prstGeom prst="rect">
            <a:avLst/>
          </a:prstGeom>
          <a:solidFill>
            <a:srgbClr val="E2231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14600" y="3145535"/>
            <a:ext cx="685800" cy="2340864"/>
          </a:xfrm>
          <a:prstGeom prst="rect">
            <a:avLst/>
          </a:prstGeom>
          <a:solidFill>
            <a:srgbClr val="111111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0" y="4169663"/>
            <a:ext cx="685800" cy="1316736"/>
          </a:xfrm>
          <a:prstGeom prst="rect">
            <a:avLst/>
          </a:prstGeom>
          <a:solidFill>
            <a:srgbClr val="E2231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800600" y="2706624"/>
            <a:ext cx="685800" cy="2779776"/>
          </a:xfrm>
          <a:prstGeom prst="rect">
            <a:avLst/>
          </a:prstGeom>
          <a:solidFill>
            <a:srgbClr val="111111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943600" y="3438144"/>
            <a:ext cx="685800" cy="2048255"/>
          </a:xfrm>
          <a:prstGeom prst="rect">
            <a:avLst/>
          </a:prstGeom>
          <a:solidFill>
            <a:srgbClr val="E2231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086600" y="3730752"/>
            <a:ext cx="685800" cy="1755648"/>
          </a:xfrm>
          <a:prstGeom prst="rect">
            <a:avLst/>
          </a:prstGeom>
          <a:solidFill>
            <a:srgbClr val="111111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图表占位 · 在 PowerPoint 中插入图表替换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p:transition spd="med">
    <p:push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D8D8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D8D8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D8D8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p:transition spd="med">
    <p:push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F7F7F5"/>
          </a:solidFill>
          <a:ln w="12700">
            <a:solidFill>
              <a:srgbClr val="D8D8D4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F7F7F5"/>
          </a:solidFill>
          <a:ln w="12700">
            <a:solidFill>
              <a:srgbClr val="D8D8D4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F7F7F5"/>
          </a:solidFill>
          <a:ln w="12700">
            <a:solidFill>
              <a:srgbClr val="D8D8D4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F7F7F5"/>
          </a:solidFill>
          <a:ln w="12700">
            <a:solidFill>
              <a:srgbClr val="D8D8D4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F7F7F5"/>
          </a:solidFill>
          <a:ln w="12700">
            <a:solidFill>
              <a:srgbClr val="D8D8D4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F7F7F5"/>
          </a:solidFill>
          <a:ln w="12700">
            <a:solidFill>
              <a:srgbClr val="D8D8D4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p:transition spd="med">
    <p:push/>
  </p:transition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8288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1440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0584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9728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" y="0"/>
            <a:ext cx="45720" cy="6858000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取舍与风险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p:transition spd="med">
    <p:push/>
  </p:transition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8288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1440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0584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9728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" y="0"/>
            <a:ext cx="45720" cy="6858000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在此输入一条架构原则。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p:transition spd="med">
    <p:push/>
  </p:transition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p:transition spd="med">
    <p:push/>
  </p:transition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GLOSSARY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术语表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03120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术语一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0" y="2103120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22960" y="2633472"/>
            <a:ext cx="10515600" cy="0"/>
          </a:xfrm>
          <a:prstGeom prst="line">
            <a:avLst/>
          </a:prstGeom>
          <a:ln w="7620">
            <a:solidFill>
              <a:srgbClr val="D8D8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22960" y="2761487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术语二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2761487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2960" y="3291839"/>
            <a:ext cx="10515600" cy="0"/>
          </a:xfrm>
          <a:prstGeom prst="line">
            <a:avLst/>
          </a:prstGeom>
          <a:ln w="7620">
            <a:solidFill>
              <a:srgbClr val="D8D8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419856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术语三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31920" y="3419856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22960" y="3950207"/>
            <a:ext cx="10515600" cy="0"/>
          </a:xfrm>
          <a:prstGeom prst="line">
            <a:avLst/>
          </a:prstGeom>
          <a:ln w="7620">
            <a:solidFill>
              <a:srgbClr val="D8D8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22960" y="4078224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术语四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31920" y="4078224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22960" y="4608576"/>
            <a:ext cx="10515600" cy="0"/>
          </a:xfrm>
          <a:prstGeom prst="line">
            <a:avLst/>
          </a:prstGeom>
          <a:ln w="7620">
            <a:solidFill>
              <a:srgbClr val="D8D8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p:transition spd="med">
    <p:push/>
  </p:transition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HIGHLIGHT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关键指标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94560"/>
            <a:ext cx="4572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72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749039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在此输入指标说明 · 占位文本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52160" y="2194560"/>
            <a:ext cx="5394960" cy="3566160"/>
          </a:xfrm>
          <a:prstGeom prst="roundRect">
            <a:avLst>
              <a:gd name="adj" fmla="val 5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309360" y="4370832"/>
            <a:ext cx="438912" cy="1024127"/>
          </a:xfrm>
          <a:prstGeom prst="rect">
            <a:avLst/>
          </a:prstGeom>
          <a:solidFill>
            <a:srgbClr val="E2231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004304" y="3730752"/>
            <a:ext cx="438912" cy="1664207"/>
          </a:xfrm>
          <a:prstGeom prst="rect">
            <a:avLst/>
          </a:prstGeom>
          <a:solidFill>
            <a:srgbClr val="111111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99248" y="4114800"/>
            <a:ext cx="438912" cy="1280160"/>
          </a:xfrm>
          <a:prstGeom prst="rect">
            <a:avLst/>
          </a:prstGeom>
          <a:solidFill>
            <a:srgbClr val="E2231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394192" y="3218688"/>
            <a:ext cx="438912" cy="2176272"/>
          </a:xfrm>
          <a:prstGeom prst="rect">
            <a:avLst/>
          </a:prstGeom>
          <a:solidFill>
            <a:srgbClr val="111111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089136" y="3858768"/>
            <a:ext cx="438912" cy="1536192"/>
          </a:xfrm>
          <a:prstGeom prst="rect">
            <a:avLst/>
          </a:prstGeom>
          <a:solidFill>
            <a:srgbClr val="E2231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784080" y="2962656"/>
            <a:ext cx="438912" cy="2432303"/>
          </a:xfrm>
          <a:prstGeom prst="rect">
            <a:avLst/>
          </a:prstGeom>
          <a:solidFill>
            <a:srgbClr val="111111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479024" y="3602736"/>
            <a:ext cx="438912" cy="1792223"/>
          </a:xfrm>
          <a:prstGeom prst="rect">
            <a:avLst/>
          </a:prstGeom>
          <a:solidFill>
            <a:srgbClr val="E2231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p:transition spd="med">
    <p:push/>
  </p:transition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QUOTES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金句墙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3344570" cy="1815084"/>
          </a:xfrm>
          <a:prstGeom prst="roundRect">
            <a:avLst>
              <a:gd name="adj" fmla="val 6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78992" y="221284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" y="2743200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在此输入短句一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23562" y="2103120"/>
            <a:ext cx="3344570" cy="1815084"/>
          </a:xfrm>
          <a:prstGeom prst="roundRect">
            <a:avLst>
              <a:gd name="adj" fmla="val 6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79594" y="221284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16170" y="2743200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在此输入短句二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24164" y="2103120"/>
            <a:ext cx="3344570" cy="1815084"/>
          </a:xfrm>
          <a:prstGeom prst="roundRect">
            <a:avLst>
              <a:gd name="adj" fmla="val 6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80196" y="221284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16772" y="2743200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在此输入短句三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174235"/>
            <a:ext cx="3344570" cy="1815084"/>
          </a:xfrm>
          <a:prstGeom prst="roundRect">
            <a:avLst>
              <a:gd name="adj" fmla="val 6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78992" y="428396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5568" y="4814316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在此输入短句四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23562" y="4174235"/>
            <a:ext cx="3344570" cy="1815084"/>
          </a:xfrm>
          <a:prstGeom prst="roundRect">
            <a:avLst>
              <a:gd name="adj" fmla="val 6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79594" y="428396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16170" y="4814316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在此输入短句五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p:transition spd="med">
    <p:push/>
  </p:transition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8288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1440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0584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9728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" y="0"/>
            <a:ext cx="45720" cy="6858000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p:transition spd="med">
    <p:push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