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notesMaster" Target="notesMasters/notesMaster1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示例系列（右键→编辑数据）</c:v>
                </c:pt>
              </c:strCache>
            </c:strRef>
          </c:tx>
          <c:spPr>
            <a:solidFill>
              <a:srgbClr val="6FD3FF"/>
            </a:solidFill>
          </c:spPr>
          <c:cat>
            <c:strRef>
              <c:f>Sheet1!$A$2:$A$7</c:f>
              <c:strCache>
                <c:ptCount val="6"/>
                <c:pt idx="0">
                  <c:v>指标一</c:v>
                </c:pt>
                <c:pt idx="1">
                  <c:v>指标二</c:v>
                </c:pt>
                <c:pt idx="2">
                  <c:v>指标三</c:v>
                </c:pt>
                <c:pt idx="3">
                  <c:v>指标四</c:v>
                </c:pt>
                <c:pt idx="4">
                  <c:v>指标五</c:v>
                </c:pt>
                <c:pt idx="5">
                  <c:v>指标六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55</c:v>
                </c:pt>
                <c:pt idx="1">
                  <c:v>80</c:v>
                </c:pt>
                <c:pt idx="2">
                  <c:v>45</c:v>
                </c:pt>
                <c:pt idx="3">
                  <c:v>95</c:v>
                </c:pt>
                <c:pt idx="4">
                  <c:v>70</c:v>
                </c:pt>
                <c:pt idx="5">
                  <c:v>60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【页面定位】技术架构评审 —— 开场页：自我介绍或破题，停留时间可稍长。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【页面定位】OVERVIEW —— 概览页：快速带过结构，告诉听众接下来讲什么。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【页面定位】01 —— 内容页：逐条展开，配合动画节奏点击推进。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【页面定位】OVERVIEW —— 数据页：先说结论，再用图表佐证。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【页面定位】KEY POINTS —— 收尾页：总结要点并给出行动号召或联系方式。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【页面定位】METRICS —— 开场页：自我介绍或破题，停留时间可稍长。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【页面定位】PROCESS —— 概览页：快速带过结构，告诉听众接下来讲什么。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【页面定位】PROCESS —— 内容页：逐条展开，配合动画节奏点击推进。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【页面定位】DATA —— 数据页：先说结论，再用图表佐证。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【页面定位】DATA —— 收尾页：总结要点并给出行动号召或联系方式。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【页面定位】KEY POINTS —— 开场页：自我介绍或破题，停留时间可稍长。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【页面定位】02 —— 概览页：快速带过结构，告诉听众接下来讲什么。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【页面定位】在此输入一条架构原则。 —— 内容页：逐条展开，配合动画节奏点击推进。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【页面定位】TEAM —— 数据页：先说结论，再用图表佐证。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【页面定位】ROADMAP —— 收尾页：总结要点并给出行动号召或联系方式。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【页面定位】CHECKLIST —— 开场页：自我介绍或破题，停留时间可稍长。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【页面定位】OPTIONS —— 概览页：快速带过结构，告诉听众接下来讲什么。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【页面定位】谢谢观看 —— 内容页：逐条展开，配合动画节奏点击推进。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2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0" y="0"/>
            <a:ext cx="5486" cy="6858000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828800" y="0"/>
            <a:ext cx="5486" cy="6858000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743200" y="0"/>
            <a:ext cx="5486" cy="6858000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0" y="0"/>
            <a:ext cx="5486" cy="6858000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0" y="0"/>
            <a:ext cx="5486" cy="6858000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0" y="0"/>
            <a:ext cx="5486" cy="6858000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0" y="0"/>
            <a:ext cx="5486" cy="6858000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315200" y="0"/>
            <a:ext cx="5486" cy="6858000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229600" y="0"/>
            <a:ext cx="5486" cy="6858000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9144000" y="0"/>
            <a:ext cx="5486" cy="6858000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0058400" y="0"/>
            <a:ext cx="5486" cy="6858000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0972800" y="0"/>
            <a:ext cx="5486" cy="6858000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22960" y="0"/>
            <a:ext cx="45720" cy="6858000"/>
          </a:xfrm>
          <a:prstGeom prst="rect">
            <a:avLst/>
          </a:prstGeom>
          <a:solidFill>
            <a:srgbClr val="6FD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22960" y="1874519"/>
            <a:ext cx="822960" cy="91440"/>
          </a:xfrm>
          <a:prstGeom prst="rect">
            <a:avLst/>
          </a:prstGeom>
          <a:solidFill>
            <a:srgbClr val="6FD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2194560"/>
            <a:ext cx="969264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400"/>
              </a:spcAft>
            </a:pPr>
            <a:r>
              <a:rPr sz="4400" b="1" i="0">
                <a:solidFill>
                  <a:srgbClr val="EAF3FF"/>
                </a:solidFill>
                <a:latin typeface="Consolas"/>
                <a:ea typeface="等线"/>
                <a:cs typeface="等线"/>
              </a:rPr>
              <a:t>技术架构评审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3794760"/>
            <a:ext cx="91440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8FB3D9"/>
                </a:solidFill>
                <a:latin typeface="Segoe UI"/>
                <a:ea typeface="微软雅黑"/>
                <a:cs typeface="微软雅黑"/>
              </a:rPr>
              <a:t>技术架构评审 · 在此输入副标题 / 项目名称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539496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8FB3D9"/>
                </a:solidFill>
                <a:latin typeface="Segoe UI"/>
                <a:ea typeface="微软雅黑"/>
                <a:cs typeface="微软雅黑"/>
              </a:rPr>
              <a:t>团队 / 姓名  ·  YYYY-MM-DD</a:t>
            </a:r>
          </a:p>
        </p:txBody>
      </p:sp>
    </p:spTree>
  </p:cSld>
  <p:clrMapOvr>
    <a:masterClrMapping/>
  </p:clrMapOvr>
  <p:transition spd="med" advClick="1" advTm="8000">
    <p:comb dir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45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51" dur="69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22" presetClass="entr" presetSubtype="8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7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37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9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52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1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21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3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22" presetClass="entr" presetSubtype="4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5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9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7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570" fill="hold" nodeType="afterEffect" grpId="0" presetID="22" presetClass="entr" presetSubtype="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9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690" fill="hold" nodeType="afterEffect" grpId="0" presetID="18" presetClass="entr" presetSubtype="12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1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810" fill="hold" nodeType="afterEffect" grpId="0" presetID="22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3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450" fill="hold" nodeType="afterEffect" grpId="0" presetID="42" presetClass="entr" presetSubtype="1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5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570" fill="hold" nodeType="afterEffect" grpId="0" presetID="43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7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690" fill="hold" nodeType="afterEffect" grpId="0" presetID="21" presetClass="entr" presetSubtype="2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91" dur="69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810" fill="hold" nodeType="afterEffect" grpId="0" presetID="10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311" dur="81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2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6FD3FF"/>
                </a:solidFill>
                <a:latin typeface="Segoe UI"/>
                <a:ea typeface="微软雅黑"/>
                <a:cs typeface="微软雅黑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AF3FF"/>
                </a:solidFill>
                <a:latin typeface="Consolas"/>
                <a:ea typeface="等线"/>
                <a:cs typeface="等线"/>
              </a:rPr>
              <a:t>目录  CONTENTS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6FD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148840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6FD3FF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783080" y="2130552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EAF3FF"/>
                </a:solidFill>
                <a:latin typeface="Consolas"/>
                <a:ea typeface="等线"/>
                <a:cs typeface="等线"/>
              </a:rPr>
              <a:t>背景与目标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783080" y="2660904"/>
            <a:ext cx="4160520" cy="0"/>
          </a:xfrm>
          <a:prstGeom prst="line">
            <a:avLst/>
          </a:prstGeom>
          <a:ln w="9525">
            <a:solidFill>
              <a:srgbClr val="1E44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6309360" y="2148840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6FD3FF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269480" y="2130552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EAF3FF"/>
                </a:solidFill>
                <a:latin typeface="Consolas"/>
                <a:ea typeface="等线"/>
                <a:cs typeface="等线"/>
              </a:rPr>
              <a:t>架构方案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269480" y="2660904"/>
            <a:ext cx="4160520" cy="0"/>
          </a:xfrm>
          <a:prstGeom prst="line">
            <a:avLst/>
          </a:prstGeom>
          <a:ln w="9525">
            <a:solidFill>
              <a:srgbClr val="1E44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822960" y="3063240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6FD3FF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783080" y="3044952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EAF3FF"/>
                </a:solidFill>
                <a:latin typeface="Consolas"/>
                <a:ea typeface="等线"/>
                <a:cs typeface="等线"/>
              </a:rPr>
              <a:t>取舍与风险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1783080" y="3575304"/>
            <a:ext cx="4160520" cy="0"/>
          </a:xfrm>
          <a:prstGeom prst="line">
            <a:avLst/>
          </a:prstGeom>
          <a:ln w="9525">
            <a:solidFill>
              <a:srgbClr val="1E44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309360" y="3063240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6FD3FF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69480" y="3044952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EAF3FF"/>
                </a:solidFill>
                <a:latin typeface="Consolas"/>
                <a:ea typeface="等线"/>
                <a:cs typeface="等线"/>
              </a:rPr>
              <a:t>评审结论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7269480" y="3575304"/>
            <a:ext cx="4160520" cy="0"/>
          </a:xfrm>
          <a:prstGeom prst="line">
            <a:avLst/>
          </a:prstGeom>
          <a:ln w="9525">
            <a:solidFill>
              <a:srgbClr val="1E44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FB3D9"/>
                </a:solidFill>
                <a:latin typeface="Segoe UI"/>
                <a:ea typeface="微软雅黑"/>
                <a:cs typeface="微软雅黑"/>
              </a:rPr>
              <a:t>工程蓝图  ·  Blueprint</a:t>
            </a:r>
          </a:p>
        </p:txBody>
      </p:sp>
    </p:spTree>
  </p:cSld>
  <p:clrMapOvr>
    <a:masterClrMapping/>
  </p:clrMapOvr>
  <p:transition spd="med" advClick="1" advTm="8000">
    <p:dissolv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22" presetClass="entr" presetSubtype="8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37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52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21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1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22" presetClass="entr" presetSubtype="4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3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9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5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22" presetClass="entr" presetSubtype="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7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690" fill="hold" nodeType="afterEffect" grpId="0" presetID="18" presetClass="entr" presetSubtype="1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9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810" fill="hold" nodeType="afterEffect" grpId="0" presetID="22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1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450" fill="hold" nodeType="afterEffect" grpId="0" presetID="42" presetClass="entr" presetSubtype="1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3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570" fill="hold" nodeType="afterEffect" grpId="0" presetID="43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51" dur="57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690" fill="hold" nodeType="afterEffect" grpId="0" presetID="21" presetClass="entr" presetSubtype="2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7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810" fill="hold" nodeType="afterEffect" grpId="0" presetID="10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91" dur="81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450" fill="hold" nodeType="afterEffect" grpId="0" presetID="25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311" dur="45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2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0" y="0"/>
            <a:ext cx="5486" cy="6858000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828800" y="0"/>
            <a:ext cx="5486" cy="6858000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743200" y="0"/>
            <a:ext cx="5486" cy="6858000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0" y="0"/>
            <a:ext cx="5486" cy="6858000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0" y="0"/>
            <a:ext cx="5486" cy="6858000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0" y="0"/>
            <a:ext cx="5486" cy="6858000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0" y="0"/>
            <a:ext cx="5486" cy="6858000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315200" y="0"/>
            <a:ext cx="5486" cy="6858000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229600" y="0"/>
            <a:ext cx="5486" cy="6858000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9144000" y="0"/>
            <a:ext cx="5486" cy="6858000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0058400" y="0"/>
            <a:ext cx="5486" cy="6858000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0972800" y="0"/>
            <a:ext cx="5486" cy="6858000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22960" y="0"/>
            <a:ext cx="45720" cy="6858000"/>
          </a:xfrm>
          <a:prstGeom prst="rect">
            <a:avLst/>
          </a:prstGeom>
          <a:solidFill>
            <a:srgbClr val="6FD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6FD3FF"/>
                </a:solidFill>
                <a:latin typeface="Consolas"/>
                <a:ea typeface="等线"/>
                <a:cs typeface="等线"/>
              </a:rPr>
              <a:t>01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EAF3FF"/>
                </a:solidFill>
                <a:latin typeface="Consolas"/>
                <a:ea typeface="等线"/>
                <a:cs typeface="等线"/>
              </a:rPr>
              <a:t>背景与目标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8FB3D9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FB3D9"/>
                </a:solidFill>
                <a:latin typeface="Segoe UI"/>
                <a:ea typeface="微软雅黑"/>
                <a:cs typeface="微软雅黑"/>
              </a:rPr>
              <a:t>工程蓝图  ·  Blueprint</a:t>
            </a:r>
          </a:p>
        </p:txBody>
      </p:sp>
    </p:spTree>
  </p:cSld>
  <p:clrMapOvr>
    <a:masterClrMapping/>
  </p:clrMapOvr>
  <p:transition spd="med" advClick="1" advTm="8000">
    <p:zoom dir="in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37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51" dur="45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52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7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21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9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22" presetClass="entr" presetSubtype="4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1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9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3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22" presetClass="entr" presetSubtype="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5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18" presetClass="entr" presetSubtype="1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7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810" fill="hold" nodeType="afterEffect" grpId="0" presetID="22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9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450" fill="hold" nodeType="afterEffect" grpId="0" presetID="42" presetClass="entr" presetSubtype="1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1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570" fill="hold" nodeType="afterEffect" grpId="0" presetID="43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3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690" fill="hold" nodeType="afterEffect" grpId="0" presetID="21" presetClass="entr" presetSubtype="2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5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810" fill="hold" nodeType="afterEffect" grpId="0" presetID="10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7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450" fill="hold" nodeType="afterEffect" grpId="0" presetID="25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91" dur="45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570" fill="hold" nodeType="afterEffect" grpId="0" presetID="45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311" dur="57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2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6FD3FF"/>
                </a:solidFill>
                <a:latin typeface="Segoe UI"/>
                <a:ea typeface="微软雅黑"/>
                <a:cs typeface="微软雅黑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AF3FF"/>
                </a:solidFill>
                <a:latin typeface="Consolas"/>
                <a:ea typeface="等线"/>
                <a:cs typeface="等线"/>
              </a:rPr>
              <a:t>背景与目标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6FD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148840"/>
            <a:ext cx="1042416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1189">
                <a:solidFill>
                  <a:srgbClr val="6FD3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700">
                <a:solidFill>
                  <a:srgbClr val="8FB3D9"/>
                </a:solidFill>
                <a:latin typeface="Segoe UI"/>
                <a:ea typeface="微软雅黑"/>
                <a:cs typeface="微软雅黑"/>
              </a:rPr>
              <a:t>在此输入「背景与目标」的要点一</a:t>
            </a:r>
          </a:p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1189">
                <a:solidFill>
                  <a:srgbClr val="6FD3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700">
                <a:solidFill>
                  <a:srgbClr val="8FB3D9"/>
                </a:solidFill>
                <a:latin typeface="Segoe UI"/>
                <a:ea typeface="微软雅黑"/>
                <a:cs typeface="微软雅黑"/>
              </a:rPr>
              <a:t>在此输入「背景与目标」的要点二</a:t>
            </a:r>
          </a:p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1189">
                <a:solidFill>
                  <a:srgbClr val="6FD3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700">
                <a:solidFill>
                  <a:srgbClr val="8FB3D9"/>
                </a:solidFill>
                <a:latin typeface="Segoe UI"/>
                <a:ea typeface="微软雅黑"/>
                <a:cs typeface="微软雅黑"/>
              </a:rPr>
              <a:t>在此输入「背景与目标」的要点三</a:t>
            </a:r>
          </a:p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1189">
                <a:solidFill>
                  <a:srgbClr val="6FD3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700">
                <a:solidFill>
                  <a:srgbClr val="8FB3D9"/>
                </a:solidFill>
                <a:latin typeface="Segoe UI"/>
                <a:ea typeface="微软雅黑"/>
                <a:cs typeface="微软雅黑"/>
              </a:rPr>
              <a:t>在此输入「背景与目标」的要点四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FB3D9"/>
                </a:solidFill>
                <a:latin typeface="Segoe UI"/>
                <a:ea typeface="微软雅黑"/>
                <a:cs typeface="微软雅黑"/>
              </a:rPr>
              <a:t>工程蓝图  ·  Blueprint</a:t>
            </a:r>
          </a:p>
        </p:txBody>
      </p:sp>
    </p:spTree>
  </p:cSld>
  <p:clrMapOvr>
    <a:masterClrMapping/>
  </p:clrMapOvr>
  <p:transition spd="med" advClick="1" advTm="8000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52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21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22" presetClass="entr" presetSubtype="4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9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1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22" presetClass="entr" presetSubtype="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3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18" presetClass="entr" presetSubtype="1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5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2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6FD3FF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AF3FF"/>
                </a:solidFill>
                <a:latin typeface="Consolas"/>
                <a:ea typeface="等线"/>
                <a:cs typeface="等线"/>
              </a:rPr>
              <a:t>架构方案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6FD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5029200" cy="3840480"/>
          </a:xfrm>
          <a:prstGeom prst="roundRect">
            <a:avLst>
              <a:gd name="adj" fmla="val 5000"/>
            </a:avLst>
          </a:prstGeom>
          <a:solidFill>
            <a:srgbClr val="123456"/>
          </a:solidFill>
          <a:ln w="9525">
            <a:solidFill>
              <a:srgbClr val="1E4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103120"/>
            <a:ext cx="5029200" cy="109728"/>
          </a:xfrm>
          <a:prstGeom prst="rect">
            <a:avLst/>
          </a:prstGeom>
          <a:solidFill>
            <a:srgbClr val="6FD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8872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EAF3FF"/>
                </a:solidFill>
                <a:latin typeface="Consolas"/>
                <a:ea typeface="等线"/>
                <a:cs typeface="等线"/>
              </a:rPr>
              <a:t>A · 背景与目标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6FD3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8FB3D9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6FD3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8FB3D9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6FD3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8FB3D9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55080" y="2103120"/>
            <a:ext cx="5029200" cy="3840480"/>
          </a:xfrm>
          <a:prstGeom prst="roundRect">
            <a:avLst>
              <a:gd name="adj" fmla="val 5000"/>
            </a:avLst>
          </a:prstGeom>
          <a:solidFill>
            <a:srgbClr val="123456"/>
          </a:solidFill>
          <a:ln w="9525">
            <a:solidFill>
              <a:srgbClr val="1E4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355080" y="2103120"/>
            <a:ext cx="5029200" cy="109728"/>
          </a:xfrm>
          <a:prstGeom prst="rect">
            <a:avLst/>
          </a:prstGeom>
          <a:solidFill>
            <a:srgbClr val="FFD1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2084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EAF3FF"/>
                </a:solidFill>
                <a:latin typeface="Consolas"/>
                <a:ea typeface="等线"/>
                <a:cs typeface="等线"/>
              </a:rPr>
              <a:t>B · 架构方案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2084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FFD166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8FB3D9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FFD166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8FB3D9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FFD166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8FB3D9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FB3D9"/>
                </a:solidFill>
                <a:latin typeface="Segoe UI"/>
                <a:ea typeface="微软雅黑"/>
                <a:cs typeface="微软雅黑"/>
              </a:rPr>
              <a:t>工程蓝图  ·  Blueprint</a:t>
            </a:r>
          </a:p>
        </p:txBody>
      </p:sp>
    </p:spTree>
  </p:cSld>
  <p:clrMapOvr>
    <a:masterClrMapping/>
  </p:clrMapOvr>
  <p:transition spd="med" advClick="1" advTm="8000">
    <p:checker dir="across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21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22" presetClass="entr" presetSubtype="4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9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22" presetClass="entr" presetSubtype="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18" presetClass="entr" presetSubtype="1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3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22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5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42" presetClass="entr" presetSubtype="1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7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570" fill="hold" nodeType="afterEffect" grpId="0" presetID="43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9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690" fill="hold" nodeType="afterEffect" grpId="0" presetID="21" presetClass="entr" presetSubtype="2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1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810" fill="hold" nodeType="afterEffect" grpId="0" presetID="10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3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450" fill="hold" nodeType="afterEffect" grpId="0" presetID="25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5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570" fill="hold" nodeType="afterEffect" grpId="0" presetID="45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71" dur="57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690" fill="hold" nodeType="afterEffect" grpId="0" presetID="22" presetClass="entr" presetSubtype="8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91" dur="69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2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6FD3FF"/>
                </a:solidFill>
                <a:latin typeface="Segoe UI"/>
                <a:ea typeface="微软雅黑"/>
                <a:cs typeface="微软雅黑"/>
              </a:rPr>
              <a:t>METRICS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AF3FF"/>
                </a:solidFill>
                <a:latin typeface="Consolas"/>
                <a:ea typeface="等线"/>
                <a:cs typeface="等线"/>
              </a:rPr>
              <a:t>关键数据一览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6FD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123456"/>
          </a:solidFill>
          <a:ln w="9525">
            <a:solidFill>
              <a:srgbClr val="1E4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43000" y="2468879"/>
            <a:ext cx="457200" cy="54864"/>
          </a:xfrm>
          <a:prstGeom prst="rect">
            <a:avLst/>
          </a:prstGeom>
          <a:solidFill>
            <a:srgbClr val="6FD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6FD3FF"/>
                </a:solidFill>
                <a:latin typeface="Consolas"/>
                <a:ea typeface="等线"/>
                <a:cs typeface="等线"/>
              </a:rPr>
              <a:t>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EAF3FF"/>
                </a:solidFill>
                <a:latin typeface="Consolas"/>
                <a:ea typeface="等线"/>
                <a:cs typeface="等线"/>
              </a:rPr>
              <a:t>指标一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8FB3D9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527983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123456"/>
          </a:solidFill>
          <a:ln w="9525">
            <a:solidFill>
              <a:srgbClr val="1E4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848023" y="2468879"/>
            <a:ext cx="457200" cy="54864"/>
          </a:xfrm>
          <a:prstGeom prst="rect">
            <a:avLst/>
          </a:prstGeom>
          <a:solidFill>
            <a:srgbClr val="6FD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848023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6FD3FF"/>
                </a:solidFill>
                <a:latin typeface="Consolas"/>
                <a:ea typeface="等线"/>
                <a:cs typeface="等线"/>
              </a:rPr>
              <a:t>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48023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EAF3FF"/>
                </a:solidFill>
                <a:latin typeface="Consolas"/>
                <a:ea typeface="等线"/>
                <a:cs typeface="等线"/>
              </a:rPr>
              <a:t>指标二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48023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8FB3D9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33007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123456"/>
          </a:solidFill>
          <a:ln w="9525">
            <a:solidFill>
              <a:srgbClr val="1E4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553047" y="2468879"/>
            <a:ext cx="457200" cy="54864"/>
          </a:xfrm>
          <a:prstGeom prst="rect">
            <a:avLst/>
          </a:prstGeom>
          <a:solidFill>
            <a:srgbClr val="6FD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53047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6FD3FF"/>
                </a:solidFill>
                <a:latin typeface="Consolas"/>
                <a:ea typeface="等线"/>
                <a:cs typeface="等线"/>
              </a:rPr>
              <a:t>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53047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EAF3FF"/>
                </a:solidFill>
                <a:latin typeface="Consolas"/>
                <a:ea typeface="等线"/>
                <a:cs typeface="等线"/>
              </a:rPr>
              <a:t>指标三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53047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8FB3D9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938031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123456"/>
          </a:solidFill>
          <a:ln w="9525">
            <a:solidFill>
              <a:srgbClr val="1E4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258071" y="2468879"/>
            <a:ext cx="457200" cy="54864"/>
          </a:xfrm>
          <a:prstGeom prst="rect">
            <a:avLst/>
          </a:prstGeom>
          <a:solidFill>
            <a:srgbClr val="6FD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258071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6FD3FF"/>
                </a:solidFill>
                <a:latin typeface="Consolas"/>
                <a:ea typeface="等线"/>
                <a:cs typeface="等线"/>
              </a:rPr>
              <a:t>00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58071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EAF3FF"/>
                </a:solidFill>
                <a:latin typeface="Consolas"/>
                <a:ea typeface="等线"/>
                <a:cs typeface="等线"/>
              </a:rPr>
              <a:t>指标四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58071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8FB3D9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FB3D9"/>
                </a:solidFill>
                <a:latin typeface="Segoe UI"/>
                <a:ea typeface="微软雅黑"/>
                <a:cs typeface="微软雅黑"/>
              </a:rPr>
              <a:t>工程蓝图  ·  Blueprint</a:t>
            </a:r>
          </a:p>
        </p:txBody>
      </p:sp>
    </p:spTree>
  </p:cSld>
  <p:clrMapOvr>
    <a:masterClrMapping/>
  </p:clrMapOvr>
  <p:transition spd="med" advClick="1" advTm="8000">
    <p:newsflash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22" presetClass="entr" presetSubtype="4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9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22" presetClass="entr" presetSubtype="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18" presetClass="entr" presetSubtype="1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1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22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3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42" presetClass="entr" presetSubtype="1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5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43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71" dur="570"/>
                                  <p:tgtEl>
                                    <p:spTgt spid="2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690" fill="hold" nodeType="afterEffect" grpId="0" presetID="21" presetClass="entr" presetSubtype="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9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810" fill="hold" nodeType="afterEffect" grpId="0" presetID="10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1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450" fill="hold" nodeType="afterEffect" grpId="0" presetID="25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31" dur="45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570" fill="hold" nodeType="afterEffect" grpId="0" presetID="45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51" dur="570"/>
                                  <p:tgtEl>
                                    <p:spTgt spid="2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690" fill="hold" nodeType="afterEffect" grpId="0" presetID="22" presetClass="entr" presetSubtype="8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7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810" fill="hold" nodeType="afterEffect" grpId="0" presetID="37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9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450" fill="hold" nodeType="afterEffect" grpId="0" presetID="52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311" dur="45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2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6FD3FF"/>
                </a:solidFill>
                <a:latin typeface="Segoe UI"/>
                <a:ea typeface="微软雅黑"/>
                <a:cs typeface="微软雅黑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AF3FF"/>
                </a:solidFill>
                <a:latin typeface="Consolas"/>
                <a:ea typeface="等线"/>
                <a:cs typeface="等线"/>
              </a:rPr>
              <a:t>排期 / 路线图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6FD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" name="Connector 5"/>
          <p:cNvCxnSpPr/>
          <p:nvPr/>
        </p:nvCxnSpPr>
        <p:spPr>
          <a:xfrm>
            <a:off x="1234440" y="3063240"/>
            <a:ext cx="9722815" cy="0"/>
          </a:xfrm>
          <a:prstGeom prst="line">
            <a:avLst/>
          </a:prstGeom>
          <a:ln w="25400">
            <a:solidFill>
              <a:srgbClr val="1E44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1088136" y="2916936"/>
            <a:ext cx="292608" cy="292608"/>
          </a:xfrm>
          <a:prstGeom prst="ellipse">
            <a:avLst/>
          </a:prstGeom>
          <a:solidFill>
            <a:srgbClr val="6FD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6FD3FF"/>
                </a:solidFill>
                <a:latin typeface="Consolas"/>
                <a:ea typeface="等线"/>
                <a:cs typeface="等线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EAF3FF"/>
                </a:solidFill>
                <a:latin typeface="Consolas"/>
                <a:ea typeface="等线"/>
                <a:cs typeface="等线"/>
              </a:rPr>
              <a:t>背景与目标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8FB3D9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Oval 10"/>
          <p:cNvSpPr/>
          <p:nvPr/>
        </p:nvSpPr>
        <p:spPr>
          <a:xfrm>
            <a:off x="4329074" y="2916936"/>
            <a:ext cx="292608" cy="292608"/>
          </a:xfrm>
          <a:prstGeom prst="ellipse">
            <a:avLst/>
          </a:prstGeom>
          <a:solidFill>
            <a:srgbClr val="6FD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09618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6FD3FF"/>
                </a:solidFill>
                <a:latin typeface="Consolas"/>
                <a:ea typeface="等线"/>
                <a:cs typeface="等线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60978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EAF3FF"/>
                </a:solidFill>
                <a:latin typeface="Consolas"/>
                <a:ea typeface="等线"/>
                <a:cs typeface="等线"/>
              </a:rPr>
              <a:t>架构方案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60978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8FB3D9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5" name="Oval 14"/>
          <p:cNvSpPr/>
          <p:nvPr/>
        </p:nvSpPr>
        <p:spPr>
          <a:xfrm>
            <a:off x="7570012" y="2916936"/>
            <a:ext cx="292608" cy="292608"/>
          </a:xfrm>
          <a:prstGeom prst="ellipse">
            <a:avLst/>
          </a:prstGeom>
          <a:solidFill>
            <a:srgbClr val="6FD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50556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6FD3FF"/>
                </a:solidFill>
                <a:latin typeface="Consolas"/>
                <a:ea typeface="等线"/>
                <a:cs typeface="等线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01916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EAF3FF"/>
                </a:solidFill>
                <a:latin typeface="Consolas"/>
                <a:ea typeface="等线"/>
                <a:cs typeface="等线"/>
              </a:rPr>
              <a:t>取舍与风险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01916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8FB3D9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9" name="Oval 18"/>
          <p:cNvSpPr/>
          <p:nvPr/>
        </p:nvSpPr>
        <p:spPr>
          <a:xfrm>
            <a:off x="10810951" y="2916936"/>
            <a:ext cx="292608" cy="292608"/>
          </a:xfrm>
          <a:prstGeom prst="ellipse">
            <a:avLst/>
          </a:prstGeom>
          <a:solidFill>
            <a:srgbClr val="6FD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591495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6FD3FF"/>
                </a:solidFill>
                <a:latin typeface="Consolas"/>
                <a:ea typeface="等线"/>
                <a:cs typeface="等线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42855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EAF3FF"/>
                </a:solidFill>
                <a:latin typeface="Consolas"/>
                <a:ea typeface="等线"/>
                <a:cs typeface="等线"/>
              </a:rPr>
              <a:t>评审结论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42855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8FB3D9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FB3D9"/>
                </a:solidFill>
                <a:latin typeface="Segoe UI"/>
                <a:ea typeface="微软雅黑"/>
                <a:cs typeface="微软雅黑"/>
              </a:rPr>
              <a:t>工程蓝图  ·  Blueprint</a:t>
            </a:r>
          </a:p>
        </p:txBody>
      </p:sp>
    </p:spTree>
  </p:cSld>
  <p:clrMapOvr>
    <a:masterClrMapping/>
  </p:clrMapOvr>
  <p:transition spd="med" advClick="1" advTm="8000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9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22" presetClass="entr" presetSubtype="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18" presetClass="entr" presetSubtype="1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22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1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42" presetClass="entr" presetSubtype="1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31" dur="45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43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5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21" presetClass="entr" presetSubtype="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71" dur="69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810" fill="hold" nodeType="afterEffect" grpId="0" presetID="10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9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450" fill="hold" nodeType="afterEffect" grpId="0" presetID="25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1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570" fill="hold" nodeType="afterEffect" grpId="0" presetID="45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3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690" fill="hold" nodeType="afterEffect" grpId="0" presetID="22" presetClass="entr" presetSubtype="8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5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810" fill="hold" nodeType="afterEffect" grpId="0" presetID="37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71" dur="81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450" fill="hold" nodeType="afterEffect" grpId="0" presetID="52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91" dur="450"/>
                                  <p:tgtEl>
                                    <p:spTgt spid="1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570" fill="hold" nodeType="afterEffect" grpId="0" presetID="21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3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2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6FD3FF"/>
                </a:solidFill>
                <a:latin typeface="Segoe UI"/>
                <a:ea typeface="微软雅黑"/>
                <a:cs typeface="微软雅黑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AF3FF"/>
                </a:solidFill>
                <a:latin typeface="Consolas"/>
                <a:ea typeface="等线"/>
                <a:cs typeface="等线"/>
              </a:rPr>
              <a:t>工作流程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6FD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Chevron 5"/>
          <p:cNvSpPr/>
          <p:nvPr/>
        </p:nvSpPr>
        <p:spPr>
          <a:xfrm>
            <a:off x="822960" y="2743200"/>
            <a:ext cx="2464993" cy="1371600"/>
          </a:xfrm>
          <a:prstGeom prst="chevron">
            <a:avLst/>
          </a:prstGeom>
          <a:solidFill>
            <a:srgbClr val="6FD3FF"/>
          </a:solidFill>
          <a:ln w="9525">
            <a:solidFill>
              <a:srgbClr val="1E4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4128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Consolas"/>
                <a:ea typeface="等线"/>
                <a:cs typeface="等线"/>
              </a:rPr>
              <a:t>提案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06241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8FB3D9"/>
                </a:solidFill>
                <a:latin typeface="Consolas"/>
                <a:ea typeface="等线"/>
                <a:cs typeface="等线"/>
              </a:rPr>
              <a:t>›</a:t>
            </a:r>
          </a:p>
        </p:txBody>
      </p:sp>
      <p:sp>
        <p:nvSpPr>
          <p:cNvPr id="9" name="Chevron 8"/>
          <p:cNvSpPr/>
          <p:nvPr/>
        </p:nvSpPr>
        <p:spPr>
          <a:xfrm>
            <a:off x="3516553" y="2743200"/>
            <a:ext cx="2464993" cy="1371600"/>
          </a:xfrm>
          <a:prstGeom prst="chevron">
            <a:avLst/>
          </a:prstGeom>
          <a:solidFill>
            <a:srgbClr val="123456"/>
          </a:solidFill>
          <a:ln w="9525">
            <a:solidFill>
              <a:srgbClr val="1E4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717721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EAF3FF"/>
                </a:solidFill>
                <a:latin typeface="Consolas"/>
                <a:ea typeface="等线"/>
                <a:cs typeface="等线"/>
              </a:rPr>
              <a:t>评审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99835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8FB3D9"/>
                </a:solidFill>
                <a:latin typeface="Consolas"/>
                <a:ea typeface="等线"/>
                <a:cs typeface="等线"/>
              </a:rPr>
              <a:t>›</a:t>
            </a:r>
          </a:p>
        </p:txBody>
      </p:sp>
      <p:sp>
        <p:nvSpPr>
          <p:cNvPr id="12" name="Chevron 11"/>
          <p:cNvSpPr/>
          <p:nvPr/>
        </p:nvSpPr>
        <p:spPr>
          <a:xfrm>
            <a:off x="6210147" y="2743200"/>
            <a:ext cx="2464993" cy="1371600"/>
          </a:xfrm>
          <a:prstGeom prst="chevron">
            <a:avLst/>
          </a:prstGeom>
          <a:solidFill>
            <a:srgbClr val="6FD3FF"/>
          </a:solidFill>
          <a:ln w="9525">
            <a:solidFill>
              <a:srgbClr val="1E4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11315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Consolas"/>
                <a:ea typeface="等线"/>
                <a:cs typeface="等线"/>
              </a:rPr>
              <a:t>落地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93429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8FB3D9"/>
                </a:solidFill>
                <a:latin typeface="Consolas"/>
                <a:ea typeface="等线"/>
                <a:cs typeface="等线"/>
              </a:rPr>
              <a:t>›</a:t>
            </a:r>
          </a:p>
        </p:txBody>
      </p:sp>
      <p:sp>
        <p:nvSpPr>
          <p:cNvPr id="15" name="Chevron 14"/>
          <p:cNvSpPr/>
          <p:nvPr/>
        </p:nvSpPr>
        <p:spPr>
          <a:xfrm>
            <a:off x="8903741" y="2743200"/>
            <a:ext cx="2464993" cy="1371600"/>
          </a:xfrm>
          <a:prstGeom prst="chevron">
            <a:avLst/>
          </a:prstGeom>
          <a:solidFill>
            <a:srgbClr val="123456"/>
          </a:solidFill>
          <a:ln w="9525">
            <a:solidFill>
              <a:srgbClr val="1E4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04909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EAF3FF"/>
                </a:solidFill>
                <a:latin typeface="Consolas"/>
                <a:ea typeface="等线"/>
                <a:cs typeface="等线"/>
              </a:rPr>
              <a:t>复盘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FB3D9"/>
                </a:solidFill>
                <a:latin typeface="Segoe UI"/>
                <a:ea typeface="微软雅黑"/>
                <a:cs typeface="微软雅黑"/>
              </a:rPr>
              <a:t>工程蓝图  ·  Blueprint</a:t>
            </a:r>
          </a:p>
        </p:txBody>
      </p:sp>
    </p:spTree>
  </p:cSld>
  <p:clrMapOvr>
    <a:masterClrMapping/>
  </p:clrMapOvr>
  <p:transition spd="med" advClick="1" advTm="8000">
    <p:wipe dir="d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22" presetClass="entr" presetSubtype="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18" presetClass="entr" presetSubtype="1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22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42" presetClass="entr" presetSubtype="1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1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43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3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21" presetClass="entr" presetSubtype="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5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10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71" dur="81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450" fill="hold" nodeType="afterEffect" grpId="0" presetID="25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9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570" fill="hold" nodeType="afterEffect" grpId="0" presetID="45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1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690" fill="hold" nodeType="afterEffect" grpId="0" presetID="22" presetClass="entr" presetSubtype="8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3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810" fill="hold" nodeType="afterEffect" grpId="0" presetID="37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5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450" fill="hold" nodeType="afterEffect" grpId="0" presetID="52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7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570" fill="hold" nodeType="afterEffect" grpId="0" presetID="21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91" dur="57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690" fill="hold" nodeType="afterEffect" grpId="0" presetID="22" presetClass="entr" presetSubtype="4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31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2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6FD3FF"/>
                </a:solidFill>
                <a:latin typeface="Segoe UI"/>
                <a:ea typeface="微软雅黑"/>
                <a:cs typeface="微软雅黑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AF3FF"/>
                </a:solidFill>
                <a:latin typeface="Consolas"/>
                <a:ea typeface="等线"/>
                <a:cs typeface="等线"/>
              </a:rPr>
              <a:t>数据图表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6FD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7680960" cy="3886200"/>
          </a:xfrm>
          <a:prstGeom prst="roundRect">
            <a:avLst>
              <a:gd name="adj" fmla="val 5000"/>
            </a:avLst>
          </a:prstGeom>
          <a:solidFill>
            <a:srgbClr val="123456"/>
          </a:solidFill>
          <a:ln w="9525">
            <a:solidFill>
              <a:srgbClr val="1E4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1188720" y="2331720"/>
          <a:ext cx="5852160" cy="34290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1280160" y="5623560"/>
            <a:ext cx="5852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0" i="0">
                <a:solidFill>
                  <a:srgbClr val="8FB3D9"/>
                </a:solidFill>
                <a:latin typeface="Segoe UI"/>
                <a:ea typeface="微软雅黑"/>
                <a:cs typeface="微软雅黑"/>
              </a:rPr>
              <a:t>原生可编辑图表 · 右键图表 → 编辑数据 即可替换数值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0" y="2240280"/>
            <a:ext cx="2651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EAF3FF"/>
                </a:solidFill>
                <a:latin typeface="Consolas"/>
                <a:ea typeface="等线"/>
                <a:cs typeface="等线"/>
              </a:rPr>
              <a:t>关键结论 / 解读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869680" y="2743200"/>
            <a:ext cx="265176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6FD3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8FB3D9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6FD3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8FB3D9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6FD3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8FB3D9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FB3D9"/>
                </a:solidFill>
                <a:latin typeface="Segoe UI"/>
                <a:ea typeface="微软雅黑"/>
                <a:cs typeface="微软雅黑"/>
              </a:rPr>
              <a:t>工程蓝图  ·  Blueprint</a:t>
            </a:r>
          </a:p>
        </p:txBody>
      </p:sp>
    </p:spTree>
  </p:cSld>
  <p:clrMapOvr>
    <a:masterClrMapping/>
  </p:clrMapOvr>
  <p:transition spd="med" advClick="1" advTm="80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18" presetClass="entr" presetSubtype="1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22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42" presetClass="entr" presetSubtype="1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43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21" presetClass="entr" presetSubtype="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3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10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5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25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7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570" fill="hold" nodeType="afterEffect" grpId="0" presetID="45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9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690" fill="hold" nodeType="afterEffect" grpId="0" presetID="22" presetClass="entr" presetSubtype="8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1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810" fill="hold" nodeType="afterEffect" grpId="0" presetID="37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3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2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6FD3FF"/>
                </a:solidFill>
                <a:latin typeface="Segoe UI"/>
                <a:ea typeface="微软雅黑"/>
                <a:cs typeface="微软雅黑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AF3FF"/>
                </a:solidFill>
                <a:latin typeface="Consolas"/>
                <a:ea typeface="等线"/>
                <a:cs typeface="等线"/>
              </a:rPr>
              <a:t>明细表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6FD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48840"/>
            <a:ext cx="10545775" cy="640080"/>
          </a:xfrm>
          <a:prstGeom prst="rect">
            <a:avLst/>
          </a:prstGeom>
          <a:solidFill>
            <a:srgbClr val="6FD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项目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21098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内容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36356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备注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2788920"/>
            <a:ext cx="10545775" cy="640080"/>
          </a:xfrm>
          <a:prstGeom prst="rect">
            <a:avLst/>
          </a:prstGeom>
          <a:solidFill>
            <a:srgbClr val="1234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>
            <a:off x="822960" y="2788920"/>
            <a:ext cx="10545775" cy="0"/>
          </a:xfrm>
          <a:prstGeom prst="line">
            <a:avLst/>
          </a:prstGeom>
          <a:ln w="7620">
            <a:solidFill>
              <a:srgbClr val="1E44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1005840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EAF3FF"/>
                </a:solidFill>
                <a:latin typeface="Segoe UI"/>
                <a:ea typeface="微软雅黑"/>
                <a:cs typeface="微软雅黑"/>
              </a:rPr>
              <a:t>项一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21098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EAF3FF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36356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EAF3FF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822960" y="3429000"/>
            <a:ext cx="10545775" cy="0"/>
          </a:xfrm>
          <a:prstGeom prst="line">
            <a:avLst/>
          </a:prstGeom>
          <a:ln w="7620">
            <a:solidFill>
              <a:srgbClr val="1E44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1005840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EAF3FF"/>
                </a:solidFill>
                <a:latin typeface="Segoe UI"/>
                <a:ea typeface="微软雅黑"/>
                <a:cs typeface="微软雅黑"/>
              </a:rPr>
              <a:t>项二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21098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EAF3FF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36356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EAF3FF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2960" y="4069079"/>
            <a:ext cx="10545775" cy="640080"/>
          </a:xfrm>
          <a:prstGeom prst="rect">
            <a:avLst/>
          </a:prstGeom>
          <a:solidFill>
            <a:srgbClr val="1234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822960" y="4069079"/>
            <a:ext cx="10545775" cy="0"/>
          </a:xfrm>
          <a:prstGeom prst="line">
            <a:avLst/>
          </a:prstGeom>
          <a:ln w="7620">
            <a:solidFill>
              <a:srgbClr val="1E44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1005840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EAF3FF"/>
                </a:solidFill>
                <a:latin typeface="Segoe UI"/>
                <a:ea typeface="微软雅黑"/>
                <a:cs typeface="微软雅黑"/>
              </a:rPr>
              <a:t>项三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21098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EAF3FF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36356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EAF3FF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FB3D9"/>
                </a:solidFill>
                <a:latin typeface="Segoe UI"/>
                <a:ea typeface="微软雅黑"/>
                <a:cs typeface="微软雅黑"/>
              </a:rPr>
              <a:t>工程蓝图  ·  Blueprint</a:t>
            </a:r>
          </a:p>
        </p:txBody>
      </p:sp>
    </p:spTree>
  </p:cSld>
  <p:clrMapOvr>
    <a:masterClrMapping/>
  </p:clrMapOvr>
  <p:transition spd="med" advClick="1" advTm="8000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22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42" presetClass="entr" presetSubtype="1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43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21" presetClass="entr" presetSubtype="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1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10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3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25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5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45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7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690" fill="hold" nodeType="afterEffect" grpId="0" presetID="22" presetClass="entr" presetSubtype="8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9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810" fill="hold" nodeType="afterEffect" grpId="0" presetID="37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1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450" fill="hold" nodeType="afterEffect" grpId="0" presetID="52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3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570" fill="hold" nodeType="afterEffect" grpId="0" presetID="21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5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690" fill="hold" nodeType="afterEffect" grpId="0" presetID="22" presetClass="entr" presetSubtype="4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71" dur="69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810" fill="hold" nodeType="afterEffect" grpId="0" presetID="9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91" dur="81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450" fill="hold" nodeType="afterEffect" grpId="0" presetID="22" presetClass="entr" presetSubtype="2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31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2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6FD3FF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AF3FF"/>
                </a:solidFill>
                <a:latin typeface="Consolas"/>
                <a:ea typeface="等线"/>
                <a:cs typeface="等线"/>
              </a:rPr>
              <a:t>图集 / 案例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6FD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03120"/>
            <a:ext cx="3332378" cy="1805940"/>
          </a:xfrm>
          <a:prstGeom prst="rect">
            <a:avLst/>
          </a:prstGeom>
          <a:solidFill>
            <a:srgbClr val="123456"/>
          </a:solidFill>
          <a:ln w="12700">
            <a:solidFill>
              <a:srgbClr val="1E44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8FB3D9"/>
                </a:solidFill>
                <a:latin typeface="Segoe UI"/>
                <a:ea typeface="微软雅黑"/>
                <a:cs typeface="微软雅黑"/>
              </a:rPr>
              <a:t>作品 1</a:t>
            </a:r>
          </a:p>
        </p:txBody>
      </p:sp>
      <p:sp>
        <p:nvSpPr>
          <p:cNvPr id="8" name="Rectangle 7"/>
          <p:cNvSpPr/>
          <p:nvPr/>
        </p:nvSpPr>
        <p:spPr>
          <a:xfrm>
            <a:off x="4429658" y="2103120"/>
            <a:ext cx="3332378" cy="1805940"/>
          </a:xfrm>
          <a:prstGeom prst="rect">
            <a:avLst/>
          </a:prstGeom>
          <a:solidFill>
            <a:srgbClr val="123456"/>
          </a:solidFill>
          <a:ln w="12700">
            <a:solidFill>
              <a:srgbClr val="1E44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29658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8FB3D9"/>
                </a:solidFill>
                <a:latin typeface="Segoe UI"/>
                <a:ea typeface="微软雅黑"/>
                <a:cs typeface="微软雅黑"/>
              </a:rPr>
              <a:t>作品 2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36356" y="2103120"/>
            <a:ext cx="3332378" cy="1805940"/>
          </a:xfrm>
          <a:prstGeom prst="rect">
            <a:avLst/>
          </a:prstGeom>
          <a:solidFill>
            <a:srgbClr val="123456"/>
          </a:solidFill>
          <a:ln w="12700">
            <a:solidFill>
              <a:srgbClr val="1E44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36356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8FB3D9"/>
                </a:solidFill>
                <a:latin typeface="Segoe UI"/>
                <a:ea typeface="微软雅黑"/>
                <a:cs typeface="微软雅黑"/>
              </a:rPr>
              <a:t>作品 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4183379"/>
            <a:ext cx="3332378" cy="1805940"/>
          </a:xfrm>
          <a:prstGeom prst="rect">
            <a:avLst/>
          </a:prstGeom>
          <a:solidFill>
            <a:srgbClr val="123456"/>
          </a:solidFill>
          <a:ln w="12700">
            <a:solidFill>
              <a:srgbClr val="1E44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8FB3D9"/>
                </a:solidFill>
                <a:latin typeface="Segoe UI"/>
                <a:ea typeface="微软雅黑"/>
                <a:cs typeface="微软雅黑"/>
              </a:rPr>
              <a:t>作品 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29658" y="4183379"/>
            <a:ext cx="3332378" cy="1805940"/>
          </a:xfrm>
          <a:prstGeom prst="rect">
            <a:avLst/>
          </a:prstGeom>
          <a:solidFill>
            <a:srgbClr val="123456"/>
          </a:solidFill>
          <a:ln w="12700">
            <a:solidFill>
              <a:srgbClr val="1E44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29658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8FB3D9"/>
                </a:solidFill>
                <a:latin typeface="Segoe UI"/>
                <a:ea typeface="微软雅黑"/>
                <a:cs typeface="微软雅黑"/>
              </a:rPr>
              <a:t>作品 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36356" y="4183379"/>
            <a:ext cx="3332378" cy="1805940"/>
          </a:xfrm>
          <a:prstGeom prst="rect">
            <a:avLst/>
          </a:prstGeom>
          <a:solidFill>
            <a:srgbClr val="123456"/>
          </a:solidFill>
          <a:ln w="12700">
            <a:solidFill>
              <a:srgbClr val="1E44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36356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8FB3D9"/>
                </a:solidFill>
                <a:latin typeface="Segoe UI"/>
                <a:ea typeface="微软雅黑"/>
                <a:cs typeface="微软雅黑"/>
              </a:rPr>
              <a:t>作品 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FB3D9"/>
                </a:solidFill>
                <a:latin typeface="Segoe UI"/>
                <a:ea typeface="微软雅黑"/>
                <a:cs typeface="微软雅黑"/>
              </a:rPr>
              <a:t>工程蓝图  ·  Blueprint</a:t>
            </a:r>
          </a:p>
        </p:txBody>
      </p:sp>
    </p:spTree>
  </p:cSld>
  <p:clrMapOvr>
    <a:masterClrMapping/>
  </p:clrMapOvr>
  <p:transition spd="med" advClick="1" advTm="8000">
    <p:wipe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42" presetClass="entr" presetSubtype="1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43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21" presetClass="entr" presetSubtype="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10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25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3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45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5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22" presetClass="entr" presetSubtype="8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7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810" fill="hold" nodeType="afterEffect" grpId="0" presetID="37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9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450" fill="hold" nodeType="afterEffect" grpId="0" presetID="52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1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570" fill="hold" nodeType="afterEffect" grpId="0" presetID="21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3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690" fill="hold" nodeType="afterEffect" grpId="0" presetID="22" presetClass="entr" presetSubtype="4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51" dur="69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810" fill="hold" nodeType="afterEffect" grpId="0" presetID="9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71" dur="81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450" fill="hold" nodeType="afterEffect" grpId="0" presetID="22" presetClass="entr" presetSubtype="2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9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570" fill="hold" nodeType="afterEffect" grpId="0" presetID="18" presetClass="entr" presetSubtype="12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311" dur="57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2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0" y="0"/>
            <a:ext cx="5486" cy="6858000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828800" y="0"/>
            <a:ext cx="5486" cy="6858000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743200" y="0"/>
            <a:ext cx="5486" cy="6858000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0" y="0"/>
            <a:ext cx="5486" cy="6858000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0" y="0"/>
            <a:ext cx="5486" cy="6858000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0" y="0"/>
            <a:ext cx="5486" cy="6858000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0" y="0"/>
            <a:ext cx="5486" cy="6858000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315200" y="0"/>
            <a:ext cx="5486" cy="6858000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229600" y="0"/>
            <a:ext cx="5486" cy="6858000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9144000" y="0"/>
            <a:ext cx="5486" cy="6858000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0058400" y="0"/>
            <a:ext cx="5486" cy="6858000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0972800" y="0"/>
            <a:ext cx="5486" cy="6858000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22960" y="0"/>
            <a:ext cx="45720" cy="6858000"/>
          </a:xfrm>
          <a:prstGeom prst="rect">
            <a:avLst/>
          </a:prstGeom>
          <a:solidFill>
            <a:srgbClr val="6FD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6FD3FF"/>
                </a:solidFill>
                <a:latin typeface="Consolas"/>
                <a:ea typeface="等线"/>
                <a:cs typeface="等线"/>
              </a:rPr>
              <a:t>02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EAF3FF"/>
                </a:solidFill>
                <a:latin typeface="Consolas"/>
                <a:ea typeface="等线"/>
                <a:cs typeface="等线"/>
              </a:rPr>
              <a:t>取舍与风险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8FB3D9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FB3D9"/>
                </a:solidFill>
                <a:latin typeface="Segoe UI"/>
                <a:ea typeface="微软雅黑"/>
                <a:cs typeface="微软雅黑"/>
              </a:rPr>
              <a:t>工程蓝图  ·  Blueprint</a:t>
            </a:r>
          </a:p>
        </p:txBody>
      </p:sp>
    </p:spTree>
  </p:cSld>
  <p:clrMapOvr>
    <a:masterClrMapping/>
  </p:clrMapOvr>
  <p:transition spd="med" advClick="1" advTm="8000">
    <p:split orient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43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51" dur="57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21" presetClass="entr" presetSubtype="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7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10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9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25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1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45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3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22" presetClass="entr" presetSubtype="8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5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37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7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450" fill="hold" nodeType="afterEffect" grpId="0" presetID="52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9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570" fill="hold" nodeType="afterEffect" grpId="0" presetID="21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1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690" fill="hold" nodeType="afterEffect" grpId="0" presetID="22" presetClass="entr" presetSubtype="4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3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810" fill="hold" nodeType="afterEffect" grpId="0" presetID="9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5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450" fill="hold" nodeType="afterEffect" grpId="0" presetID="22" presetClass="entr" presetSubtype="2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7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570" fill="hold" nodeType="afterEffect" grpId="0" presetID="18" presetClass="entr" presetSubtype="12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91" dur="57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690" fill="hold" nodeType="afterEffect" grpId="0" presetID="22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31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2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0" y="0"/>
            <a:ext cx="5486" cy="6858000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828800" y="0"/>
            <a:ext cx="5486" cy="6858000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743200" y="0"/>
            <a:ext cx="5486" cy="6858000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0" y="0"/>
            <a:ext cx="5486" cy="6858000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0" y="0"/>
            <a:ext cx="5486" cy="6858000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0" y="0"/>
            <a:ext cx="5486" cy="6858000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0" y="0"/>
            <a:ext cx="5486" cy="6858000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315200" y="0"/>
            <a:ext cx="5486" cy="6858000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229600" y="0"/>
            <a:ext cx="5486" cy="6858000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9144000" y="0"/>
            <a:ext cx="5486" cy="6858000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0058400" y="0"/>
            <a:ext cx="5486" cy="6858000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0972800" y="0"/>
            <a:ext cx="5486" cy="6858000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22960" y="0"/>
            <a:ext cx="45720" cy="6858000"/>
          </a:xfrm>
          <a:prstGeom prst="rect">
            <a:avLst/>
          </a:prstGeom>
          <a:solidFill>
            <a:srgbClr val="6FD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1463040"/>
            <a:ext cx="18288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0" b="1" i="0">
                <a:solidFill>
                  <a:srgbClr val="6FD3FF"/>
                </a:solidFill>
                <a:latin typeface="Consolas"/>
                <a:ea typeface="等线"/>
                <a:cs typeface="等线"/>
              </a:rPr>
              <a:t>“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80160" y="2651760"/>
            <a:ext cx="96012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2600" b="0" i="0">
                <a:solidFill>
                  <a:srgbClr val="EAF3FF"/>
                </a:solidFill>
                <a:latin typeface="Consolas"/>
                <a:ea typeface="等线"/>
                <a:cs typeface="等线"/>
              </a:rPr>
              <a:t>在此输入一条架构原则。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280160" y="4754880"/>
            <a:ext cx="566928" cy="54864"/>
          </a:xfrm>
          <a:prstGeom prst="rect">
            <a:avLst/>
          </a:prstGeom>
          <a:solidFill>
            <a:srgbClr val="6FD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280160" y="4937760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8FB3D9"/>
                </a:solidFill>
                <a:latin typeface="Segoe UI"/>
                <a:ea typeface="微软雅黑"/>
                <a:cs typeface="微软雅黑"/>
              </a:rPr>
              <a:t>— 署名 / 出处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FB3D9"/>
                </a:solidFill>
                <a:latin typeface="Segoe UI"/>
                <a:ea typeface="微软雅黑"/>
                <a:cs typeface="微软雅黑"/>
              </a:rPr>
              <a:t>工程蓝图  ·  Blueprint</a:t>
            </a:r>
          </a:p>
        </p:txBody>
      </p:sp>
    </p:spTree>
  </p:cSld>
  <p:clrMapOvr>
    <a:masterClrMapping/>
  </p:clrMapOvr>
  <p:transition spd="med" advClick="1" advTm="8000">
    <p:blinds dir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21" presetClass="entr" presetSubtype="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51" dur="69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10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7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25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9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45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1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22" presetClass="entr" presetSubtype="8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3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37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5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52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7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570" fill="hold" nodeType="afterEffect" grpId="0" presetID="21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9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690" fill="hold" nodeType="afterEffect" grpId="0" presetID="22" presetClass="entr" presetSubtype="4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1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810" fill="hold" nodeType="afterEffect" grpId="0" presetID="9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3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450" fill="hold" nodeType="afterEffect" grpId="0" presetID="22" presetClass="entr" presetSubtype="2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5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570" fill="hold" nodeType="afterEffect" grpId="0" presetID="18" presetClass="entr" presetSubtype="12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7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690" fill="hold" nodeType="afterEffect" grpId="0" presetID="22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91" dur="69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810" fill="hold" nodeType="afterEffect" grpId="0" presetID="42" presetClass="entr" presetSubtype="1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311" dur="81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2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6FD3FF"/>
                </a:solidFill>
                <a:latin typeface="Segoe UI"/>
                <a:ea typeface="微软雅黑"/>
                <a:cs typeface="微软雅黑"/>
              </a:rPr>
              <a:t>TEAM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AF3FF"/>
                </a:solidFill>
                <a:latin typeface="Consolas"/>
                <a:ea typeface="等线"/>
                <a:cs typeface="等线"/>
              </a:rPr>
              <a:t>团队 / 分工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6FD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286000"/>
            <a:ext cx="3301898" cy="3291840"/>
          </a:xfrm>
          <a:prstGeom prst="roundRect">
            <a:avLst>
              <a:gd name="adj" fmla="val 6000"/>
            </a:avLst>
          </a:prstGeom>
          <a:solidFill>
            <a:srgbClr val="123456"/>
          </a:solidFill>
          <a:ln w="9525">
            <a:solidFill>
              <a:srgbClr val="1E4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879549" y="2697480"/>
            <a:ext cx="1188720" cy="1188720"/>
          </a:xfrm>
          <a:prstGeom prst="ellipse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79549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8FB3D9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EAF3FF"/>
                </a:solidFill>
                <a:latin typeface="Consolas"/>
                <a:ea typeface="等线"/>
                <a:cs typeface="等线"/>
              </a:rPr>
              <a:t>姓名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6FD3FF"/>
                </a:solidFill>
                <a:latin typeface="Segoe UI"/>
                <a:ea typeface="微软雅黑"/>
                <a:cs typeface="微软雅黑"/>
              </a:rPr>
              <a:t>角色一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44898" y="2286000"/>
            <a:ext cx="3301898" cy="3291840"/>
          </a:xfrm>
          <a:prstGeom prst="roundRect">
            <a:avLst>
              <a:gd name="adj" fmla="val 6000"/>
            </a:avLst>
          </a:prstGeom>
          <a:solidFill>
            <a:srgbClr val="123456"/>
          </a:solidFill>
          <a:ln w="9525">
            <a:solidFill>
              <a:srgbClr val="1E4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5501487" y="2697480"/>
            <a:ext cx="1188720" cy="1188720"/>
          </a:xfrm>
          <a:prstGeom prst="ellipse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501487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8FB3D9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27778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EAF3FF"/>
                </a:solidFill>
                <a:latin typeface="Consolas"/>
                <a:ea typeface="等线"/>
                <a:cs typeface="等线"/>
              </a:rPr>
              <a:t>姓名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27778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6FD3FF"/>
                </a:solidFill>
                <a:latin typeface="Segoe UI"/>
                <a:ea typeface="微软雅黑"/>
                <a:cs typeface="微软雅黑"/>
              </a:rPr>
              <a:t>角色二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66836" y="2286000"/>
            <a:ext cx="3301898" cy="3291840"/>
          </a:xfrm>
          <a:prstGeom prst="roundRect">
            <a:avLst>
              <a:gd name="adj" fmla="val 6000"/>
            </a:avLst>
          </a:prstGeom>
          <a:solidFill>
            <a:srgbClr val="123456"/>
          </a:solidFill>
          <a:ln w="9525">
            <a:solidFill>
              <a:srgbClr val="1E4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23426" y="2697480"/>
            <a:ext cx="1188720" cy="1188720"/>
          </a:xfrm>
          <a:prstGeom prst="ellipse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23426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8FB3D9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49716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EAF3FF"/>
                </a:solidFill>
                <a:latin typeface="Consolas"/>
                <a:ea typeface="等线"/>
                <a:cs typeface="等线"/>
              </a:rPr>
              <a:t>姓名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49716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6FD3FF"/>
                </a:solidFill>
                <a:latin typeface="Segoe UI"/>
                <a:ea typeface="微软雅黑"/>
                <a:cs typeface="微软雅黑"/>
              </a:rPr>
              <a:t>角色三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FB3D9"/>
                </a:solidFill>
                <a:latin typeface="Segoe UI"/>
                <a:ea typeface="微软雅黑"/>
                <a:cs typeface="微软雅黑"/>
              </a:rPr>
              <a:t>工程蓝图  ·  Blueprint</a:t>
            </a:r>
          </a:p>
        </p:txBody>
      </p:sp>
    </p:spTree>
  </p:cSld>
  <p:clrMapOvr>
    <a:masterClrMapping/>
  </p:clrMapOvr>
  <p:transition spd="med" advClick="1" advTm="8000">
    <p:circle dir="in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10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25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45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22" presetClass="entr" presetSubtype="8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1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37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3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52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5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21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7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690" fill="hold" nodeType="afterEffect" grpId="0" presetID="22" presetClass="entr" presetSubtype="4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9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810" fill="hold" nodeType="afterEffect" grpId="0" presetID="9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1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450" fill="hold" nodeType="afterEffect" grpId="0" presetID="22" presetClass="entr" presetSubtype="2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3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570" fill="hold" nodeType="afterEffect" grpId="0" presetID="18" presetClass="entr" presetSubtype="12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51" dur="57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690" fill="hold" nodeType="afterEffect" grpId="0" presetID="22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71" dur="69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810" fill="hold" nodeType="afterEffect" grpId="0" presetID="42" presetClass="entr" presetSubtype="1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9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450" fill="hold" nodeType="afterEffect" grpId="0" presetID="43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311" dur="45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2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6FD3FF"/>
                </a:solidFill>
                <a:latin typeface="Segoe UI"/>
                <a:ea typeface="微软雅黑"/>
                <a:cs typeface="微软雅黑"/>
              </a:rPr>
              <a:t>ROADMAP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AF3FF"/>
                </a:solidFill>
                <a:latin typeface="Consolas"/>
                <a:ea typeface="等线"/>
                <a:cs typeface="等线"/>
              </a:rPr>
              <a:t>多线路线图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6FD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368296"/>
            <a:ext cx="1371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EAF3FF"/>
                </a:solidFill>
                <a:latin typeface="Segoe UI"/>
                <a:ea typeface="微软雅黑"/>
                <a:cs typeface="微软雅黑"/>
              </a:rPr>
              <a:t>线一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286000" y="2971800"/>
            <a:ext cx="9052560" cy="0"/>
          </a:xfrm>
          <a:prstGeom prst="line">
            <a:avLst/>
          </a:prstGeom>
          <a:ln w="12700">
            <a:solidFill>
              <a:srgbClr val="1E44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2377440" y="2258568"/>
            <a:ext cx="1042415" cy="1335024"/>
          </a:xfrm>
          <a:prstGeom prst="roundRect">
            <a:avLst>
              <a:gd name="adj" fmla="val 30000"/>
            </a:avLst>
          </a:prstGeom>
          <a:solidFill>
            <a:srgbClr val="6FD3FF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487168" y="2295144"/>
            <a:ext cx="822959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Consolas"/>
                <a:ea typeface="等线"/>
                <a:cs typeface="等线"/>
              </a:rPr>
              <a:t>任务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0" y="2258568"/>
            <a:ext cx="1042415" cy="1335024"/>
          </a:xfrm>
          <a:prstGeom prst="roundRect">
            <a:avLst>
              <a:gd name="adj" fmla="val 30000"/>
            </a:avLst>
          </a:prstGeom>
          <a:solidFill>
            <a:srgbClr val="6FD3FF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81728" y="2295144"/>
            <a:ext cx="822959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Consolas"/>
                <a:ea typeface="等线"/>
                <a:cs typeface="等线"/>
              </a:rPr>
              <a:t>任务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766560" y="2258568"/>
            <a:ext cx="1042415" cy="1335024"/>
          </a:xfrm>
          <a:prstGeom prst="roundRect">
            <a:avLst>
              <a:gd name="adj" fmla="val 30000"/>
            </a:avLst>
          </a:prstGeom>
          <a:solidFill>
            <a:srgbClr val="6FD3FF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76288" y="2295144"/>
            <a:ext cx="822959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Consolas"/>
                <a:ea typeface="等线"/>
                <a:cs typeface="等线"/>
              </a:rPr>
              <a:t>任务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4014216"/>
            <a:ext cx="1371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EAF3FF"/>
                </a:solidFill>
                <a:latin typeface="Segoe UI"/>
                <a:ea typeface="微软雅黑"/>
                <a:cs typeface="微软雅黑"/>
              </a:rPr>
              <a:t>线二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2286000" y="4617720"/>
            <a:ext cx="9052560" cy="0"/>
          </a:xfrm>
          <a:prstGeom prst="line">
            <a:avLst/>
          </a:prstGeom>
          <a:ln w="12700">
            <a:solidFill>
              <a:srgbClr val="1E44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2377440" y="3904488"/>
            <a:ext cx="1042415" cy="1335024"/>
          </a:xfrm>
          <a:prstGeom prst="roundRect">
            <a:avLst>
              <a:gd name="adj" fmla="val 30000"/>
            </a:avLst>
          </a:prstGeom>
          <a:solidFill>
            <a:srgbClr val="FFD166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487168" y="3941064"/>
            <a:ext cx="822959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Consolas"/>
                <a:ea typeface="等线"/>
                <a:cs typeface="等线"/>
              </a:rPr>
              <a:t>任务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0" y="3904488"/>
            <a:ext cx="1042415" cy="1335024"/>
          </a:xfrm>
          <a:prstGeom prst="roundRect">
            <a:avLst>
              <a:gd name="adj" fmla="val 30000"/>
            </a:avLst>
          </a:prstGeom>
          <a:solidFill>
            <a:srgbClr val="FFD166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681728" y="3941064"/>
            <a:ext cx="822959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Consolas"/>
                <a:ea typeface="等线"/>
                <a:cs typeface="等线"/>
              </a:rPr>
              <a:t>任务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FB3D9"/>
                </a:solidFill>
                <a:latin typeface="Segoe UI"/>
                <a:ea typeface="微软雅黑"/>
                <a:cs typeface="微软雅黑"/>
              </a:rPr>
              <a:t>工程蓝图  ·  Blueprint</a:t>
            </a:r>
          </a:p>
        </p:txBody>
      </p:sp>
    </p:spTree>
  </p:cSld>
  <p:clrMapOvr>
    <a:masterClrMapping/>
  </p:clrMapOvr>
  <p:transition spd="med" advClick="1" advTm="8000">
    <p:comb dir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25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45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22" presetClass="entr" presetSubtype="8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37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1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52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3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21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5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22" presetClass="entr" presetSubtype="4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7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810" fill="hold" nodeType="afterEffect" grpId="0" presetID="9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9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450" fill="hold" nodeType="afterEffect" grpId="0" presetID="22" presetClass="entr" presetSubtype="2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1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570" fill="hold" nodeType="afterEffect" grpId="0" presetID="18" presetClass="entr" presetSubtype="12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3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690" fill="hold" nodeType="afterEffect" grpId="0" presetID="22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5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810" fill="hold" nodeType="afterEffect" grpId="0" presetID="42" presetClass="entr" presetSubtype="1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71" dur="81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450" fill="hold" nodeType="afterEffect" grpId="0" presetID="43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91" dur="45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570" fill="hold" nodeType="afterEffect" grpId="0" presetID="21" presetClass="entr" presetSubtype="2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311" dur="57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2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6FD3FF"/>
                </a:solidFill>
                <a:latin typeface="Segoe UI"/>
                <a:ea typeface="微软雅黑"/>
                <a:cs typeface="微软雅黑"/>
              </a:rPr>
              <a:t>CHECKLIST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AF3FF"/>
                </a:solidFill>
                <a:latin typeface="Consolas"/>
                <a:ea typeface="等线"/>
                <a:cs typeface="等线"/>
              </a:rPr>
              <a:t>清单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6FD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68680" y="2148839"/>
            <a:ext cx="310896" cy="310896"/>
          </a:xfrm>
          <a:prstGeom prst="rect">
            <a:avLst/>
          </a:prstGeom>
          <a:noFill/>
          <a:ln w="17780">
            <a:solidFill>
              <a:srgbClr val="6FD3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2130551"/>
            <a:ext cx="310896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6FD3FF"/>
                </a:solidFill>
                <a:latin typeface="Consolas"/>
                <a:ea typeface="等线"/>
                <a:cs typeface="等线"/>
              </a:rPr>
              <a:t>✓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54480" y="2103120"/>
            <a:ext cx="9692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50" b="0" i="0">
                <a:solidFill>
                  <a:srgbClr val="EAF3FF"/>
                </a:solidFill>
                <a:latin typeface="Segoe UI"/>
                <a:ea typeface="微软雅黑"/>
                <a:cs typeface="微软雅黑"/>
              </a:rPr>
              <a:t>在此输入待办项一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554480" y="2615184"/>
            <a:ext cx="9784080" cy="0"/>
          </a:xfrm>
          <a:prstGeom prst="line">
            <a:avLst/>
          </a:prstGeom>
          <a:ln w="7620">
            <a:solidFill>
              <a:srgbClr val="1E44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ectangle 9"/>
          <p:cNvSpPr/>
          <p:nvPr/>
        </p:nvSpPr>
        <p:spPr>
          <a:xfrm>
            <a:off x="868680" y="2807207"/>
            <a:ext cx="310896" cy="310896"/>
          </a:xfrm>
          <a:prstGeom prst="rect">
            <a:avLst/>
          </a:prstGeom>
          <a:noFill/>
          <a:ln w="17780">
            <a:solidFill>
              <a:srgbClr val="6FD3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2788919"/>
            <a:ext cx="310896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6FD3FF"/>
                </a:solidFill>
                <a:latin typeface="Consolas"/>
                <a:ea typeface="等线"/>
                <a:cs typeface="等线"/>
              </a:rPr>
              <a:t>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54480" y="2761487"/>
            <a:ext cx="9692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50" b="0" i="0">
                <a:solidFill>
                  <a:srgbClr val="EAF3FF"/>
                </a:solidFill>
                <a:latin typeface="Segoe UI"/>
                <a:ea typeface="微软雅黑"/>
                <a:cs typeface="微软雅黑"/>
              </a:rPr>
              <a:t>在此输入待办项二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1554480" y="3273551"/>
            <a:ext cx="9784080" cy="0"/>
          </a:xfrm>
          <a:prstGeom prst="line">
            <a:avLst/>
          </a:prstGeom>
          <a:ln w="7620">
            <a:solidFill>
              <a:srgbClr val="1E44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868680" y="3465575"/>
            <a:ext cx="310896" cy="310896"/>
          </a:xfrm>
          <a:prstGeom prst="rect">
            <a:avLst/>
          </a:prstGeom>
          <a:noFill/>
          <a:ln w="17780">
            <a:solidFill>
              <a:srgbClr val="6FD3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447287"/>
            <a:ext cx="310896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6FD3FF"/>
                </a:solidFill>
                <a:latin typeface="Consolas"/>
                <a:ea typeface="等线"/>
                <a:cs typeface="等线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54480" y="3419856"/>
            <a:ext cx="9692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50" b="0" i="0">
                <a:solidFill>
                  <a:srgbClr val="EAF3FF"/>
                </a:solidFill>
                <a:latin typeface="Segoe UI"/>
                <a:ea typeface="微软雅黑"/>
                <a:cs typeface="微软雅黑"/>
              </a:rPr>
              <a:t>在此输入待办项三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1554480" y="3931920"/>
            <a:ext cx="9784080" cy="0"/>
          </a:xfrm>
          <a:prstGeom prst="line">
            <a:avLst/>
          </a:prstGeom>
          <a:ln w="7620">
            <a:solidFill>
              <a:srgbClr val="1E44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868680" y="4123944"/>
            <a:ext cx="310896" cy="310896"/>
          </a:xfrm>
          <a:prstGeom prst="rect">
            <a:avLst/>
          </a:prstGeom>
          <a:noFill/>
          <a:ln w="17780">
            <a:solidFill>
              <a:srgbClr val="6FD3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8680" y="4105656"/>
            <a:ext cx="310896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6FD3FF"/>
                </a:solidFill>
                <a:latin typeface="Consolas"/>
                <a:ea typeface="等线"/>
                <a:cs typeface="等线"/>
              </a:rPr>
              <a:t>✓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54480" y="4078224"/>
            <a:ext cx="9692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50" b="0" i="0">
                <a:solidFill>
                  <a:srgbClr val="EAF3FF"/>
                </a:solidFill>
                <a:latin typeface="Segoe UI"/>
                <a:ea typeface="微软雅黑"/>
                <a:cs typeface="微软雅黑"/>
              </a:rPr>
              <a:t>在此输入待办项四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1554480" y="4590288"/>
            <a:ext cx="9784080" cy="0"/>
          </a:xfrm>
          <a:prstGeom prst="line">
            <a:avLst/>
          </a:prstGeom>
          <a:ln w="7620">
            <a:solidFill>
              <a:srgbClr val="1E44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ectangle 21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FB3D9"/>
                </a:solidFill>
                <a:latin typeface="Segoe UI"/>
                <a:ea typeface="微软雅黑"/>
                <a:cs typeface="微软雅黑"/>
              </a:rPr>
              <a:t>工程蓝图  ·  Blueprint</a:t>
            </a:r>
          </a:p>
        </p:txBody>
      </p:sp>
    </p:spTree>
  </p:cSld>
  <p:clrMapOvr>
    <a:masterClrMapping/>
  </p:clrMapOvr>
  <p:transition spd="med" advClick="1" advTm="8000">
    <p:dissolv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45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22" presetClass="entr" presetSubtype="8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37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52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1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21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3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22" presetClass="entr" presetSubtype="4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5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9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7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450" fill="hold" nodeType="afterEffect" grpId="0" presetID="22" presetClass="entr" presetSubtype="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9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570" fill="hold" nodeType="afterEffect" grpId="0" presetID="18" presetClass="entr" presetSubtype="12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1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690" fill="hold" nodeType="afterEffect" grpId="0" presetID="22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3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810" fill="hold" nodeType="afterEffect" grpId="0" presetID="42" presetClass="entr" presetSubtype="1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5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450" fill="hold" nodeType="afterEffect" grpId="0" presetID="43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7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570" fill="hold" nodeType="afterEffect" grpId="0" presetID="21" presetClass="entr" presetSubtype="2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91" dur="57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690" fill="hold" nodeType="afterEffect" grpId="0" presetID="10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311" dur="69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2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6FD3FF"/>
                </a:solidFill>
                <a:latin typeface="Segoe UI"/>
                <a:ea typeface="微软雅黑"/>
                <a:cs typeface="微软雅黑"/>
              </a:rPr>
              <a:t>OPTIONS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AF3FF"/>
                </a:solidFill>
                <a:latin typeface="Consolas"/>
                <a:ea typeface="等线"/>
                <a:cs typeface="等线"/>
              </a:rPr>
              <a:t>方案对比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6FD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48840"/>
            <a:ext cx="3332378" cy="3794760"/>
          </a:xfrm>
          <a:prstGeom prst="roundRect">
            <a:avLst>
              <a:gd name="adj" fmla="val 6000"/>
            </a:avLst>
          </a:prstGeom>
          <a:solidFill>
            <a:srgbClr val="123456"/>
          </a:solidFill>
          <a:ln w="9525">
            <a:solidFill>
              <a:srgbClr val="1E4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43000" y="2423160"/>
            <a:ext cx="269229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1" i="0">
                <a:solidFill>
                  <a:srgbClr val="EAF3FF"/>
                </a:solidFill>
                <a:latin typeface="Consolas"/>
                <a:ea typeface="等线"/>
                <a:cs typeface="等线"/>
              </a:rPr>
              <a:t>方案一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2834640"/>
            <a:ext cx="269229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000" b="1" i="0">
                <a:solidFill>
                  <a:srgbClr val="EAF3FF"/>
                </a:solidFill>
                <a:latin typeface="Consolas"/>
                <a:ea typeface="等线"/>
                <a:cs typeface="等线"/>
              </a:rPr>
              <a:t>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3657600"/>
            <a:ext cx="2692298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6FD3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8FB3D9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6FD3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8FB3D9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6FD3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8FB3D9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29658" y="2148840"/>
            <a:ext cx="3332378" cy="3794760"/>
          </a:xfrm>
          <a:prstGeom prst="roundRect">
            <a:avLst>
              <a:gd name="adj" fmla="val 6000"/>
            </a:avLst>
          </a:prstGeom>
          <a:solidFill>
            <a:srgbClr val="6FD3FF"/>
          </a:solidFill>
          <a:ln w="9525">
            <a:solidFill>
              <a:srgbClr val="1E4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749698" y="2423160"/>
            <a:ext cx="269229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1" i="0">
                <a:solidFill>
                  <a:srgbClr val="FFFFFF"/>
                </a:solidFill>
                <a:latin typeface="Consolas"/>
                <a:ea typeface="等线"/>
                <a:cs typeface="等线"/>
              </a:rPr>
              <a:t>方案二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49698" y="2834640"/>
            <a:ext cx="269229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000" b="1" i="0">
                <a:solidFill>
                  <a:srgbClr val="FFFFFF"/>
                </a:solidFill>
                <a:latin typeface="Consolas"/>
                <a:ea typeface="等线"/>
                <a:cs typeface="等线"/>
              </a:rPr>
              <a:t>00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49698" y="3657600"/>
            <a:ext cx="2692298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36356" y="2148840"/>
            <a:ext cx="3332378" cy="3794760"/>
          </a:xfrm>
          <a:prstGeom prst="roundRect">
            <a:avLst>
              <a:gd name="adj" fmla="val 6000"/>
            </a:avLst>
          </a:prstGeom>
          <a:solidFill>
            <a:srgbClr val="123456"/>
          </a:solidFill>
          <a:ln w="9525">
            <a:solidFill>
              <a:srgbClr val="1E4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356396" y="2423160"/>
            <a:ext cx="269229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1" i="0">
                <a:solidFill>
                  <a:srgbClr val="EAF3FF"/>
                </a:solidFill>
                <a:latin typeface="Consolas"/>
                <a:ea typeface="等线"/>
                <a:cs typeface="等线"/>
              </a:rPr>
              <a:t>方案三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56396" y="2834640"/>
            <a:ext cx="269229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000" b="1" i="0">
                <a:solidFill>
                  <a:srgbClr val="EAF3FF"/>
                </a:solidFill>
                <a:latin typeface="Consolas"/>
                <a:ea typeface="等线"/>
                <a:cs typeface="等线"/>
              </a:rPr>
              <a:t>00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56396" y="3657600"/>
            <a:ext cx="2692298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6FD3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8FB3D9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6FD3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8FB3D9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6FD3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8FB3D9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FB3D9"/>
                </a:solidFill>
                <a:latin typeface="Segoe UI"/>
                <a:ea typeface="微软雅黑"/>
                <a:cs typeface="微软雅黑"/>
              </a:rPr>
              <a:t>工程蓝图  ·  Blueprint</a:t>
            </a:r>
          </a:p>
        </p:txBody>
      </p:sp>
    </p:spTree>
  </p:cSld>
  <p:clrMapOvr>
    <a:masterClrMapping/>
  </p:clrMapOvr>
  <p:transition spd="med" advClick="1" advTm="8000">
    <p:zoom dir="in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22" presetClass="entr" presetSubtype="8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37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52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21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22" presetClass="entr" presetSubtype="4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3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9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51" dur="81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22" presetClass="entr" presetSubtype="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7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570" fill="hold" nodeType="afterEffect" grpId="0" presetID="18" presetClass="entr" presetSubtype="1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9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690" fill="hold" nodeType="afterEffect" grpId="0" presetID="22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11" dur="69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810" fill="hold" nodeType="afterEffect" grpId="0" presetID="42" presetClass="entr" presetSubtype="1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3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450" fill="hold" nodeType="afterEffect" grpId="0" presetID="43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5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570" fill="hold" nodeType="afterEffect" grpId="0" presetID="21" presetClass="entr" presetSubtype="2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71" dur="57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690" fill="hold" nodeType="afterEffect" grpId="0" presetID="10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9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810" fill="hold" nodeType="afterEffect" grpId="0" presetID="25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31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2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0" y="0"/>
            <a:ext cx="5486" cy="6858000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828800" y="0"/>
            <a:ext cx="5486" cy="6858000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743200" y="0"/>
            <a:ext cx="5486" cy="6858000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0" y="0"/>
            <a:ext cx="5486" cy="6858000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0" y="0"/>
            <a:ext cx="5486" cy="6858000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0" y="0"/>
            <a:ext cx="5486" cy="6858000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0" y="0"/>
            <a:ext cx="5486" cy="6858000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315200" y="0"/>
            <a:ext cx="5486" cy="6858000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229600" y="0"/>
            <a:ext cx="5486" cy="6858000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9144000" y="0"/>
            <a:ext cx="5486" cy="6858000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0058400" y="0"/>
            <a:ext cx="5486" cy="6858000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0972800" y="0"/>
            <a:ext cx="5486" cy="6858000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22960" y="0"/>
            <a:ext cx="45720" cy="6858000"/>
          </a:xfrm>
          <a:prstGeom prst="rect">
            <a:avLst/>
          </a:prstGeom>
          <a:solidFill>
            <a:srgbClr val="6FD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97280" y="2651760"/>
            <a:ext cx="99669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4800" b="1" i="0">
                <a:solidFill>
                  <a:srgbClr val="EAF3FF"/>
                </a:solidFill>
                <a:latin typeface="Consolas"/>
                <a:ea typeface="等线"/>
                <a:cs typeface="等线"/>
              </a:rPr>
              <a:t>谢谢观看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684367" y="3931920"/>
            <a:ext cx="822960" cy="91440"/>
          </a:xfrm>
          <a:prstGeom prst="rect">
            <a:avLst/>
          </a:prstGeom>
          <a:solidFill>
            <a:srgbClr val="6FD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97280" y="4206240"/>
            <a:ext cx="9966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8FB3D9"/>
                </a:solidFill>
                <a:latin typeface="Segoe UI"/>
                <a:ea typeface="微软雅黑"/>
                <a:cs typeface="微软雅黑"/>
              </a:rPr>
              <a:t>在此输入联系方式 / 二维码 / 致谢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FB3D9"/>
                </a:solidFill>
                <a:latin typeface="Segoe UI"/>
                <a:ea typeface="微软雅黑"/>
                <a:cs typeface="微软雅黑"/>
              </a:rPr>
              <a:t>工程蓝图  ·  Blueprint</a:t>
            </a:r>
          </a:p>
        </p:txBody>
      </p:sp>
    </p:spTree>
  </p:cSld>
  <p:clrMapOvr>
    <a:masterClrMapping/>
  </p:clrMapOvr>
  <p:transition spd="med" advClick="1" advTm="8000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37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51" dur="81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52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7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21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9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22" presetClass="entr" presetSubtype="4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1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9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3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22" presetClass="entr" presetSubtype="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5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18" presetClass="entr" presetSubtype="1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7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690" fill="hold" nodeType="afterEffect" grpId="0" presetID="22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9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810" fill="hold" nodeType="afterEffect" grpId="0" presetID="42" presetClass="entr" presetSubtype="1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1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450" fill="hold" nodeType="afterEffect" grpId="0" presetID="43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3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570" fill="hold" nodeType="afterEffect" grpId="0" presetID="21" presetClass="entr" presetSubtype="2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5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690" fill="hold" nodeType="afterEffect" grpId="0" presetID="10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71" dur="69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810" fill="hold" nodeType="afterEffect" grpId="0" presetID="25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91" dur="81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450" fill="hold" nodeType="afterEffect" grpId="0" presetID="45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31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