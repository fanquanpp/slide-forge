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示例构成（右键 → 编辑数据）</c:v>
                </c:pt>
              </c:strCache>
            </c:strRef>
          </c:tx>
          <c:dPt>
            <c:idx val="0"/>
            <c:spPr>
              <a:solidFill>
                <a:srgbClr val="38D39F"/>
              </a:solidFill>
            </c:spPr>
          </c:dPt>
          <c:dPt>
            <c:idx val="1"/>
            <c:spPr>
              <a:solidFill>
                <a:srgbClr val="E2E23F"/>
              </a:solidFill>
            </c:spPr>
          </c:dPt>
          <c:dPt>
            <c:idx val="2"/>
            <c:spPr>
              <a:solidFill>
                <a:srgbClr val="38D39F"/>
              </a:solidFill>
            </c:spPr>
          </c:dPt>
          <c:dPt>
            <c:idx val="3"/>
            <c:spPr>
              <a:solidFill>
                <a:srgbClr val="E2E23F"/>
              </a:solidFill>
            </c:spPr>
          </c:dPt>
          <c:cat>
            <c:strRef>
              <c:f>Sheet1!$A$2:$A$5</c:f>
              <c:strCache>
                <c:ptCount val="4"/>
                <c:pt idx="0">
                  <c:v>板块一</c:v>
                </c:pt>
                <c:pt idx="1">
                  <c:v>板块二</c:v>
                </c:pt>
                <c:pt idx="2">
                  <c:v>板块三</c:v>
                </c:pt>
                <c:pt idx="3">
                  <c:v>板块四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【页面定位】在此输入一条架构原则。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【页面定位】RISK MATRIX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【页面定位】DASHBOARD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chrome:decor-2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38D39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技术架构评审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技术架构评审 · 在此输入副标题 / 项目名称</a:t>
            </a:r>
          </a:p>
        </p:txBody>
      </p:sp>
    </p:spTree>
  </p:cSld>
  <p:clrMapOvr>
    <a:masterClrMapping/>
  </p:clrMapOvr>
  <p:transition spd="med" advClick="1" advTm="6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背景与目标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架构方案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取舍与风险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评审结论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chrome:decor-2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C8F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背景与目标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背景与目标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在此输入「背景与目标」的要点一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在此输入「背景与目标」的要点二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在此输入「背景与目标」的要点三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在此输入「背景与目标」的要点四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架构方案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A · 背景与目标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E2E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B · 架构方案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E23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E23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E23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45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背景与目标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架构方案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取舍与风险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评审结论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38D39F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提案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评审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38D39F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落地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复盘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371600" y="2286000"/>
          <a:ext cx="548640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117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117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chrome:decor-2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C8F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取舍与风险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chrome:decor-2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在此输入一条架构原则。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— 署名 / 出处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RISK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风险与应对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2148840"/>
            <a:ext cx="2194560" cy="896112"/>
          </a:xfrm>
          <a:prstGeom prst="rect">
            <a:avLst/>
          </a:prstGeom>
          <a:solidFill>
            <a:srgbClr val="E2E23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61104" y="2148840"/>
            <a:ext cx="2194560" cy="896112"/>
          </a:xfrm>
          <a:prstGeom prst="rect">
            <a:avLst/>
          </a:prstGeom>
          <a:solidFill>
            <a:srgbClr val="E2E23F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10528" y="2148840"/>
            <a:ext cx="2194560" cy="896112"/>
          </a:xfrm>
          <a:prstGeom prst="rect">
            <a:avLst/>
          </a:prstGeom>
          <a:solidFill>
            <a:srgbClr val="E2E23F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59952" y="2148840"/>
            <a:ext cx="2194560" cy="896112"/>
          </a:xfrm>
          <a:prstGeom prst="rect">
            <a:avLst/>
          </a:prstGeom>
          <a:solidFill>
            <a:srgbClr val="38D39F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0" y="3099816"/>
            <a:ext cx="2194560" cy="896112"/>
          </a:xfrm>
          <a:prstGeom prst="rect">
            <a:avLst/>
          </a:prstGeom>
          <a:solidFill>
            <a:srgbClr val="E2E23F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61104" y="3099816"/>
            <a:ext cx="2194560" cy="896112"/>
          </a:xfrm>
          <a:prstGeom prst="rect">
            <a:avLst/>
          </a:prstGeom>
          <a:solidFill>
            <a:srgbClr val="E2E23F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0528" y="3099816"/>
            <a:ext cx="2194560" cy="896112"/>
          </a:xfrm>
          <a:prstGeom prst="rect">
            <a:avLst/>
          </a:prstGeom>
          <a:solidFill>
            <a:srgbClr val="38D39F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759952" y="3099816"/>
            <a:ext cx="2194560" cy="896112"/>
          </a:xfrm>
          <a:prstGeom prst="rect">
            <a:avLst/>
          </a:prstGeom>
          <a:solidFill>
            <a:srgbClr val="38D39F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0" y="4050791"/>
            <a:ext cx="2194560" cy="896112"/>
          </a:xfrm>
          <a:prstGeom prst="rect">
            <a:avLst/>
          </a:prstGeom>
          <a:solidFill>
            <a:srgbClr val="E2E23F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61104" y="4050791"/>
            <a:ext cx="2194560" cy="896112"/>
          </a:xfrm>
          <a:prstGeom prst="rect">
            <a:avLst/>
          </a:prstGeom>
          <a:solidFill>
            <a:srgbClr val="38D39F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0528" y="4050791"/>
            <a:ext cx="2194560" cy="896112"/>
          </a:xfrm>
          <a:prstGeom prst="rect">
            <a:avLst/>
          </a:prstGeom>
          <a:solidFill>
            <a:srgbClr val="38D39F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59952" y="4050791"/>
            <a:ext cx="2194560" cy="896112"/>
          </a:xfrm>
          <a:prstGeom prst="rect">
            <a:avLst/>
          </a:prstGeom>
          <a:solidFill>
            <a:srgbClr val="C8FACC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011680" y="5001768"/>
            <a:ext cx="2194560" cy="896112"/>
          </a:xfrm>
          <a:prstGeom prst="rect">
            <a:avLst/>
          </a:prstGeom>
          <a:solidFill>
            <a:srgbClr val="38D39F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61104" y="5001768"/>
            <a:ext cx="2194560" cy="896112"/>
          </a:xfrm>
          <a:prstGeom prst="rect">
            <a:avLst/>
          </a:prstGeom>
          <a:solidFill>
            <a:srgbClr val="38D39F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10528" y="5001768"/>
            <a:ext cx="2194560" cy="896112"/>
          </a:xfrm>
          <a:prstGeom prst="rect">
            <a:avLst/>
          </a:prstGeom>
          <a:solidFill>
            <a:srgbClr val="C8FACC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59952" y="5001768"/>
            <a:ext cx="2194560" cy="896112"/>
          </a:xfrm>
          <a:prstGeom prst="rect">
            <a:avLst/>
          </a:prstGeom>
          <a:solidFill>
            <a:srgbClr val="C8FACC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01752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影响 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59436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概率 →</a:t>
            </a:r>
          </a:p>
        </p:txBody>
      </p:sp>
      <p:sp>
        <p:nvSpPr>
          <p:cNvPr id="24" name="Oval 23"/>
          <p:cNvSpPr/>
          <p:nvPr/>
        </p:nvSpPr>
        <p:spPr>
          <a:xfrm>
            <a:off x="5202936" y="2441448"/>
            <a:ext cx="310896" cy="310896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02936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21945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1 · 在此输入要点</a:t>
            </a:r>
          </a:p>
        </p:txBody>
      </p:sp>
      <p:sp>
        <p:nvSpPr>
          <p:cNvPr id="27" name="Oval 26"/>
          <p:cNvSpPr/>
          <p:nvPr/>
        </p:nvSpPr>
        <p:spPr>
          <a:xfrm>
            <a:off x="7452360" y="3392424"/>
            <a:ext cx="310896" cy="310896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33924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27614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2 · 在此输入要点</a:t>
            </a:r>
          </a:p>
        </p:txBody>
      </p:sp>
      <p:sp>
        <p:nvSpPr>
          <p:cNvPr id="30" name="Oval 29"/>
          <p:cNvSpPr/>
          <p:nvPr/>
        </p:nvSpPr>
        <p:spPr>
          <a:xfrm>
            <a:off x="9701784" y="4343400"/>
            <a:ext cx="310896" cy="310896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01784" y="43434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3328415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3 · 在此输入要点</a:t>
            </a:r>
          </a:p>
        </p:txBody>
      </p:sp>
      <p:sp>
        <p:nvSpPr>
          <p:cNvPr id="33" name="Oval 32"/>
          <p:cNvSpPr/>
          <p:nvPr/>
        </p:nvSpPr>
        <p:spPr>
          <a:xfrm>
            <a:off x="2953512" y="3392424"/>
            <a:ext cx="310896" cy="310896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53512" y="33924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09960" y="3895344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4 · 在此输入要点</a:t>
            </a:r>
          </a:p>
        </p:txBody>
      </p:sp>
      <p:sp>
        <p:nvSpPr>
          <p:cNvPr id="3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57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69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81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45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指标看板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423160"/>
            <a:ext cx="38404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motion:hero"/>
          <p:cNvSpPr txBox="1"/>
          <p:nvPr/>
        </p:nvSpPr>
        <p:spPr>
          <a:xfrm>
            <a:off x="1097280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趋势 / 备注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5093207"/>
            <a:ext cx="219456" cy="256032"/>
          </a:xfrm>
          <a:prstGeom prst="rect">
            <a:avLst/>
          </a:prstGeom>
          <a:solidFill>
            <a:srgbClr val="38D39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08176" y="4965192"/>
            <a:ext cx="219456" cy="384048"/>
          </a:xfrm>
          <a:prstGeom prst="rect">
            <a:avLst/>
          </a:prstGeom>
          <a:solidFill>
            <a:srgbClr val="E2E23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9072" y="4837175"/>
            <a:ext cx="219456" cy="512064"/>
          </a:xfrm>
          <a:prstGeom prst="rect">
            <a:avLst/>
          </a:prstGeom>
          <a:solidFill>
            <a:srgbClr val="38D39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29967" y="4709159"/>
            <a:ext cx="219456" cy="640080"/>
          </a:xfrm>
          <a:prstGeom prst="rect">
            <a:avLst/>
          </a:prstGeom>
          <a:solidFill>
            <a:srgbClr val="E2E23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40864" y="5093207"/>
            <a:ext cx="219456" cy="256032"/>
          </a:xfrm>
          <a:prstGeom prst="rect">
            <a:avLst/>
          </a:prstGeom>
          <a:solidFill>
            <a:srgbClr val="38D39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27983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02303" y="2423160"/>
            <a:ext cx="384048" cy="50292"/>
          </a:xfrm>
          <a:prstGeom prst="rect">
            <a:avLst/>
          </a:prstGeom>
          <a:solidFill>
            <a:srgbClr val="E2E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ontent:kpi"/>
          <p:cNvSpPr txBox="1"/>
          <p:nvPr/>
        </p:nvSpPr>
        <p:spPr>
          <a:xfrm>
            <a:off x="3802303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E23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02303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指标二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02303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趋势 / 备注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2303" y="4965192"/>
            <a:ext cx="219456" cy="384048"/>
          </a:xfrm>
          <a:prstGeom prst="rect">
            <a:avLst/>
          </a:prstGeom>
          <a:solidFill>
            <a:srgbClr val="E2E23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3199" y="4837175"/>
            <a:ext cx="219456" cy="512064"/>
          </a:xfrm>
          <a:prstGeom prst="rect">
            <a:avLst/>
          </a:prstGeom>
          <a:solidFill>
            <a:srgbClr val="38D39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24095" y="4709159"/>
            <a:ext cx="219456" cy="640080"/>
          </a:xfrm>
          <a:prstGeom prst="rect">
            <a:avLst/>
          </a:prstGeom>
          <a:solidFill>
            <a:srgbClr val="E2E23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34991" y="5093207"/>
            <a:ext cx="219456" cy="256032"/>
          </a:xfrm>
          <a:prstGeom prst="rect">
            <a:avLst/>
          </a:prstGeom>
          <a:solidFill>
            <a:srgbClr val="38D39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45887" y="4965192"/>
            <a:ext cx="219456" cy="384048"/>
          </a:xfrm>
          <a:prstGeom prst="rect">
            <a:avLst/>
          </a:prstGeom>
          <a:solidFill>
            <a:srgbClr val="E2E23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33007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07327" y="2423160"/>
            <a:ext cx="38404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ontent:kpi"/>
          <p:cNvSpPr txBox="1"/>
          <p:nvPr/>
        </p:nvSpPr>
        <p:spPr>
          <a:xfrm>
            <a:off x="6507327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07327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指标三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7327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趋势 / 备注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4837175"/>
            <a:ext cx="219456" cy="512064"/>
          </a:xfrm>
          <a:prstGeom prst="rect">
            <a:avLst/>
          </a:prstGeom>
          <a:solidFill>
            <a:srgbClr val="38D39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18223" y="4709159"/>
            <a:ext cx="219456" cy="640080"/>
          </a:xfrm>
          <a:prstGeom prst="rect">
            <a:avLst/>
          </a:prstGeom>
          <a:solidFill>
            <a:srgbClr val="E2E23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129119" y="5093207"/>
            <a:ext cx="219456" cy="256032"/>
          </a:xfrm>
          <a:prstGeom prst="rect">
            <a:avLst/>
          </a:prstGeom>
          <a:solidFill>
            <a:srgbClr val="38D39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40015" y="4965192"/>
            <a:ext cx="219456" cy="384048"/>
          </a:xfrm>
          <a:prstGeom prst="rect">
            <a:avLst/>
          </a:prstGeom>
          <a:solidFill>
            <a:srgbClr val="E2E23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50911" y="4837175"/>
            <a:ext cx="219456" cy="512064"/>
          </a:xfrm>
          <a:prstGeom prst="rect">
            <a:avLst/>
          </a:prstGeom>
          <a:solidFill>
            <a:srgbClr val="38D39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938031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12351" y="2423160"/>
            <a:ext cx="384048" cy="50292"/>
          </a:xfrm>
          <a:prstGeom prst="rect">
            <a:avLst/>
          </a:prstGeom>
          <a:solidFill>
            <a:srgbClr val="E2E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ontent:kpi"/>
          <p:cNvSpPr txBox="1"/>
          <p:nvPr/>
        </p:nvSpPr>
        <p:spPr>
          <a:xfrm>
            <a:off x="9212351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E23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12351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指标四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2351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趋势 / 备注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12351" y="4709159"/>
            <a:ext cx="219456" cy="640080"/>
          </a:xfrm>
          <a:prstGeom prst="rect">
            <a:avLst/>
          </a:prstGeom>
          <a:solidFill>
            <a:srgbClr val="E2E23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523247" y="5093207"/>
            <a:ext cx="219456" cy="256032"/>
          </a:xfrm>
          <a:prstGeom prst="rect">
            <a:avLst/>
          </a:prstGeom>
          <a:solidFill>
            <a:srgbClr val="38D39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834143" y="4965192"/>
            <a:ext cx="219456" cy="384048"/>
          </a:xfrm>
          <a:prstGeom prst="rect">
            <a:avLst/>
          </a:prstGeom>
          <a:solidFill>
            <a:srgbClr val="E2E23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145039" y="4837175"/>
            <a:ext cx="219456" cy="512064"/>
          </a:xfrm>
          <a:prstGeom prst="rect">
            <a:avLst/>
          </a:prstGeom>
          <a:solidFill>
            <a:srgbClr val="38D39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455935" y="4709159"/>
            <a:ext cx="219456" cy="640080"/>
          </a:xfrm>
          <a:prstGeom prst="rect">
            <a:avLst/>
          </a:prstGeom>
          <a:solidFill>
            <a:srgbClr val="E2E23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57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690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57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690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00" fill="hold" nodeType="afterEffect" grpId="0" presetID="6" presetClass="emph" presetSubtype="0">
                            <p:stCondLst>
                              <p:cond delay="2110"/>
                            </p:stCondLst>
                            <p:childTnLst>
                              <p:animScale>
                                <p:cBhvr>
                                  <p:cTn id="261" dur="500" fill="hold"/>
                                  <p:tgtEl>
                                    <p:spTgt spid="8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57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690"/>
                                  <p:tgtEl>
                                    <p:spTgt spid="3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方案对比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38D39F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对比矩阵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C8F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1117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1117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chrome:decor-2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在此输入联系方式 / 二维码 / 致谢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赛博终端">
  <a:themeElements>
    <a:clrScheme name="SlideForge 赛博终端">
      <a:dk1>
        <a:srgbClr val="C8FACC"/>
      </a:dk1>
      <a:lt1>
        <a:srgbClr val="0A0E0A"/>
      </a:lt1>
      <a:dk2>
        <a:srgbClr val="6F9E78"/>
      </a:dk2>
      <a:lt2>
        <a:srgbClr val="111711"/>
      </a:lt2>
      <a:accent1>
        <a:srgbClr val="38D39F"/>
      </a:accent1>
      <a:accent2>
        <a:srgbClr val="E2E23F"/>
      </a:accent2>
      <a:accent3>
        <a:srgbClr val="E2E23F"/>
      </a:accent3>
      <a:accent4>
        <a:srgbClr val="1E2A1E"/>
      </a:accent4>
      <a:accent5>
        <a:srgbClr val="6F9E78"/>
      </a:accent5>
      <a:accent6>
        <a:srgbClr val="111711"/>
      </a:accent6>
      <a:hlink>
        <a:srgbClr val="38D39F"/>
      </a:hlink>
      <a:folHlink>
        <a:srgbClr val="6F9E78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