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F5D67B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2011680"/>
            <a:ext cx="2377440" cy="2377440"/>
          </a:xfrm>
          <a:prstGeom prst="ellipse">
            <a:avLst/>
          </a:prstGeom>
          <a:solidFill>
            <a:srgbClr val="8FD3C7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F5D67B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3657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onsolas"/>
                <a:ea typeface="等线"/>
                <a:cs typeface="等线"/>
              </a:rPr>
              <a:t>SECTION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onsolas"/>
                <a:ea typeface="等线"/>
                <a:cs typeface="等线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286000"/>
            <a:ext cx="6035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36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编程教学课件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4206240"/>
            <a:ext cx="5852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编程教学课件 · 在此输入副标题 / 项目名称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5D67B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5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26332E"/>
          </a:solidFill>
          <a:ln w="9525">
            <a:solidFill>
              <a:srgbClr val="334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5D67B"/>
                </a:solidFill>
                <a:latin typeface="Consolas"/>
                <a:ea typeface="等线"/>
                <a:cs typeface="等线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课程目标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7983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26332E"/>
          </a:solidFill>
          <a:ln w="9525">
            <a:solidFill>
              <a:srgbClr val="334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8023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5D67B"/>
                </a:solidFill>
                <a:latin typeface="Consolas"/>
                <a:ea typeface="等线"/>
                <a:cs typeface="等线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8023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核心概念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26332E"/>
          </a:solidFill>
          <a:ln w="9525">
            <a:solidFill>
              <a:srgbClr val="334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5D67B"/>
                </a:solidFill>
                <a:latin typeface="Consolas"/>
                <a:ea typeface="等线"/>
                <a:cs typeface="等线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代码演示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8031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26332E"/>
          </a:solidFill>
          <a:ln w="9525">
            <a:solidFill>
              <a:srgbClr val="334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8071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5D67B"/>
                </a:solidFill>
                <a:latin typeface="Consolas"/>
                <a:ea typeface="等线"/>
                <a:cs typeface="等线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8071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练习与作业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黑板粉笔  ·  Chalkboard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F5D67B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2011680"/>
            <a:ext cx="2377440" cy="2377440"/>
          </a:xfrm>
          <a:prstGeom prst="ellipse">
            <a:avLst/>
          </a:prstGeom>
          <a:solidFill>
            <a:srgbClr val="8FD3C7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F5D67B"/>
                </a:solidFill>
                <a:latin typeface="Consolas"/>
                <a:ea typeface="等线"/>
                <a:cs typeface="等线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F1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课程目标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黑板粉笔  ·  Chalkboard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5D67B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课程目标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5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F5D67B"/>
                </a:solidFill>
                <a:latin typeface="Consolas"/>
                <a:ea typeface="等线"/>
                <a:cs typeface="等线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1031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F1F3EE"/>
                </a:solidFill>
                <a:latin typeface="Segoe UI"/>
                <a:ea typeface="微软雅黑"/>
                <a:cs typeface="微软雅黑"/>
              </a:rPr>
              <a:t>在此输入「课程目标」的要点一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20240" y="2660904"/>
            <a:ext cx="9418320" cy="0"/>
          </a:xfrm>
          <a:prstGeom prst="line">
            <a:avLst/>
          </a:prstGeom>
          <a:ln w="7620">
            <a:solidFill>
              <a:srgbClr val="3342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284378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F5D67B"/>
                </a:solidFill>
                <a:latin typeface="Consolas"/>
                <a:ea typeface="等线"/>
                <a:cs typeface="等线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889503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F1F3EE"/>
                </a:solidFill>
                <a:latin typeface="Segoe UI"/>
                <a:ea typeface="微软雅黑"/>
                <a:cs typeface="微软雅黑"/>
              </a:rPr>
              <a:t>在此输入「课程目标」的要点二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20240" y="3447288"/>
            <a:ext cx="9418320" cy="0"/>
          </a:xfrm>
          <a:prstGeom prst="line">
            <a:avLst/>
          </a:prstGeom>
          <a:ln w="7620">
            <a:solidFill>
              <a:srgbClr val="3342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63016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F5D67B"/>
                </a:solidFill>
                <a:latin typeface="Consolas"/>
                <a:ea typeface="等线"/>
                <a:cs typeface="等线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675887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F1F3EE"/>
                </a:solidFill>
                <a:latin typeface="Segoe UI"/>
                <a:ea typeface="微软雅黑"/>
                <a:cs typeface="微软雅黑"/>
              </a:rPr>
              <a:t>在此输入「课程目标」的要点三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920240" y="4233672"/>
            <a:ext cx="9418320" cy="0"/>
          </a:xfrm>
          <a:prstGeom prst="line">
            <a:avLst/>
          </a:prstGeom>
          <a:ln w="7620">
            <a:solidFill>
              <a:srgbClr val="3342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4416552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F5D67B"/>
                </a:solidFill>
                <a:latin typeface="Consolas"/>
                <a:ea typeface="等线"/>
                <a:cs typeface="等线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4462272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F1F3EE"/>
                </a:solidFill>
                <a:latin typeface="Segoe UI"/>
                <a:ea typeface="微软雅黑"/>
                <a:cs typeface="微软雅黑"/>
              </a:rPr>
              <a:t>在此输入「课程目标」的要点四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920240" y="5020056"/>
            <a:ext cx="9418320" cy="0"/>
          </a:xfrm>
          <a:prstGeom prst="line">
            <a:avLst/>
          </a:prstGeom>
          <a:ln w="7620">
            <a:solidFill>
              <a:srgbClr val="3342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黑板粉笔  ·  Chalkboard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5D67B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核心概念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5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6000"/>
            </a:avLst>
          </a:prstGeom>
          <a:solidFill>
            <a:srgbClr val="26332E"/>
          </a:solidFill>
          <a:ln w="9525">
            <a:solidFill>
              <a:srgbClr val="334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F5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A · 课程目标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5D67B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5D67B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5D67B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6000"/>
            </a:avLst>
          </a:prstGeom>
          <a:solidFill>
            <a:srgbClr val="26332E"/>
          </a:solidFill>
          <a:ln w="9525">
            <a:solidFill>
              <a:srgbClr val="334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8F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B · 核心概念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8FD3C7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8FD3C7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8FD3C7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Oval 13"/>
          <p:cNvSpPr/>
          <p:nvPr/>
        </p:nvSpPr>
        <p:spPr>
          <a:xfrm>
            <a:off x="5711799" y="3703320"/>
            <a:ext cx="768096" cy="768096"/>
          </a:xfrm>
          <a:prstGeom prst="ellipse">
            <a:avLst/>
          </a:prstGeom>
          <a:solidFill>
            <a:srgbClr val="F1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1799" y="3703320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VS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黑板粉笔  ·  Chalkboard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5D67B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5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26332E"/>
          </a:solidFill>
          <a:ln w="9525">
            <a:solidFill>
              <a:srgbClr val="334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F5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5D67B"/>
                </a:solidFill>
                <a:latin typeface="Consolas"/>
                <a:ea typeface="等线"/>
                <a:cs typeface="等线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26332E"/>
          </a:solidFill>
          <a:ln w="9525">
            <a:solidFill>
              <a:srgbClr val="334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F5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5D67B"/>
                </a:solidFill>
                <a:latin typeface="Consolas"/>
                <a:ea typeface="等线"/>
                <a:cs typeface="等线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26332E"/>
          </a:solidFill>
          <a:ln w="9525">
            <a:solidFill>
              <a:srgbClr val="334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F5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5D67B"/>
                </a:solidFill>
                <a:latin typeface="Consolas"/>
                <a:ea typeface="等线"/>
                <a:cs typeface="等线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26332E"/>
          </a:solidFill>
          <a:ln w="9525">
            <a:solidFill>
              <a:srgbClr val="334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F5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5D67B"/>
                </a:solidFill>
                <a:latin typeface="Consolas"/>
                <a:ea typeface="等线"/>
                <a:cs typeface="等线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黑板粉笔  ·  Chalkboard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5D67B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5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3342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F5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5D67B"/>
                </a:solidFill>
                <a:latin typeface="Consolas"/>
                <a:ea typeface="等线"/>
                <a:cs typeface="等线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课程目标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F5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5D67B"/>
                </a:solidFill>
                <a:latin typeface="Consolas"/>
                <a:ea typeface="等线"/>
                <a:cs typeface="等线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核心概念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F5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5D67B"/>
                </a:solidFill>
                <a:latin typeface="Consolas"/>
                <a:ea typeface="等线"/>
                <a:cs typeface="等线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代码演示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F5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5D67B"/>
                </a:solidFill>
                <a:latin typeface="Consolas"/>
                <a:ea typeface="等线"/>
                <a:cs typeface="等线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练习与作业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黑板粉笔  ·  Chalkboard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5D67B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5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5D67B"/>
          </a:solidFill>
          <a:ln w="9525">
            <a:solidFill>
              <a:srgbClr val="334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onsolas"/>
                <a:ea typeface="等线"/>
                <a:cs typeface="等线"/>
              </a:rPr>
              <a:t>环境准备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A9B6AE"/>
                </a:solidFill>
                <a:latin typeface="Consolas"/>
                <a:ea typeface="等线"/>
                <a:cs typeface="等线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6553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26332E"/>
          </a:solidFill>
          <a:ln w="9525">
            <a:solidFill>
              <a:srgbClr val="334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编写代码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A9B6AE"/>
                </a:solidFill>
                <a:latin typeface="Consolas"/>
                <a:ea typeface="等线"/>
                <a:cs typeface="等线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5D67B"/>
          </a:solidFill>
          <a:ln w="9525">
            <a:solidFill>
              <a:srgbClr val="334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onsolas"/>
                <a:ea typeface="等线"/>
                <a:cs typeface="等线"/>
              </a:rPr>
              <a:t>运行调试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A9B6AE"/>
                </a:solidFill>
                <a:latin typeface="Consolas"/>
                <a:ea typeface="等线"/>
                <a:cs typeface="等线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3741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26332E"/>
          </a:solidFill>
          <a:ln w="9525">
            <a:solidFill>
              <a:srgbClr val="334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提交作业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黑板粉笔  ·  Chalkboard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5D67B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5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6000"/>
            </a:avLst>
          </a:prstGeom>
          <a:solidFill>
            <a:srgbClr val="26332E"/>
          </a:solidFill>
          <a:ln w="9525">
            <a:solidFill>
              <a:srgbClr val="334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91840" y="2743200"/>
            <a:ext cx="2560320" cy="2560320"/>
          </a:xfrm>
          <a:prstGeom prst="ellipse">
            <a:avLst/>
          </a:prstGeom>
          <a:solidFill>
            <a:srgbClr val="F5D67B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114800" y="3566160"/>
            <a:ext cx="914400" cy="914400"/>
          </a:xfrm>
          <a:prstGeom prst="ellipse">
            <a:avLst/>
          </a:prstGeom>
          <a:solidFill>
            <a:srgbClr val="263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356616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5D67B"/>
                </a:solidFill>
                <a:latin typeface="Segoe UI"/>
                <a:ea typeface="微软雅黑"/>
                <a:cs typeface="微软雅黑"/>
              </a:rPr>
              <a:t>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图表占位 · 在 PowerPoint 中插入图表替换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关键结论 / 解读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F5D67B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F5D67B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F5D67B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黑板粉笔  ·  Chalkboard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5D67B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5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F5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263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3342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1F3EE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1F3EE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1F3EE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3342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1F3EE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1F3EE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1F3EE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263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3342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1F3EE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1F3EE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1F3EE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黑板粉笔  ·  Chalkboard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5D67B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5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26332E"/>
          </a:solidFill>
          <a:ln w="12700">
            <a:solidFill>
              <a:srgbClr val="33423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26332E"/>
          </a:solidFill>
          <a:ln w="12700">
            <a:solidFill>
              <a:srgbClr val="33423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26332E"/>
          </a:solidFill>
          <a:ln w="12700">
            <a:solidFill>
              <a:srgbClr val="33423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26332E"/>
          </a:solidFill>
          <a:ln w="12700">
            <a:solidFill>
              <a:srgbClr val="33423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26332E"/>
          </a:solidFill>
          <a:ln w="12700">
            <a:solidFill>
              <a:srgbClr val="33423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26332E"/>
          </a:solidFill>
          <a:ln w="12700">
            <a:solidFill>
              <a:srgbClr val="33423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黑板粉笔  ·  Chalkboard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F5D67B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2011680"/>
            <a:ext cx="2377440" cy="2377440"/>
          </a:xfrm>
          <a:prstGeom prst="ellipse">
            <a:avLst/>
          </a:prstGeom>
          <a:solidFill>
            <a:srgbClr val="8FD3C7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F5D67B"/>
                </a:solidFill>
                <a:latin typeface="Consolas"/>
                <a:ea typeface="等线"/>
                <a:cs typeface="等线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F1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代码演示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黑板粉笔  ·  Chalkboard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F5D67B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2011680"/>
            <a:ext cx="2377440" cy="2377440"/>
          </a:xfrm>
          <a:prstGeom prst="ellipse">
            <a:avLst/>
          </a:prstGeom>
          <a:solidFill>
            <a:srgbClr val="8FD3C7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F5D67B"/>
                </a:solidFill>
                <a:latin typeface="Consolas"/>
                <a:ea typeface="等线"/>
                <a:cs typeface="等线"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在此输入课程寄语或重要结论。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F5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黑板粉笔  ·  Chalkboard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5D67B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5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26332E"/>
          </a:solidFill>
          <a:ln w="9525">
            <a:solidFill>
              <a:srgbClr val="334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334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F5D67B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26332E"/>
          </a:solidFill>
          <a:ln w="9525">
            <a:solidFill>
              <a:srgbClr val="334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334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F5D67B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26332E"/>
          </a:solidFill>
          <a:ln w="9525">
            <a:solidFill>
              <a:srgbClr val="3342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334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F5D67B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黑板粉笔  ·  Chalkboard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5D67B"/>
                </a:solidFill>
                <a:latin typeface="Segoe UI"/>
                <a:ea typeface="微软雅黑"/>
                <a:cs typeface="微软雅黑"/>
              </a:rPr>
              <a:t>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对比矩阵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5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58368"/>
          </a:xfrm>
          <a:prstGeom prst="rect">
            <a:avLst/>
          </a:prstGeom>
          <a:solidFill>
            <a:srgbClr val="F1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维度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42283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选项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8727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选项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171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选项 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807208"/>
            <a:ext cx="10545775" cy="658368"/>
          </a:xfrm>
          <a:prstGeom prst="rect">
            <a:avLst/>
          </a:prstGeom>
          <a:solidFill>
            <a:srgbClr val="263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822960" y="2807208"/>
            <a:ext cx="10545775" cy="0"/>
          </a:xfrm>
          <a:prstGeom prst="line">
            <a:avLst/>
          </a:prstGeom>
          <a:ln w="7620">
            <a:solidFill>
              <a:srgbClr val="3342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05840" y="2952048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1F3EE"/>
                </a:solidFill>
                <a:latin typeface="Segoe UI"/>
                <a:ea typeface="微软雅黑"/>
                <a:cs typeface="微软雅黑"/>
              </a:rPr>
              <a:t>维度一</a:t>
            </a:r>
          </a:p>
        </p:txBody>
      </p:sp>
      <p:sp>
        <p:nvSpPr>
          <p:cNvPr id="14" name="Oval 13"/>
          <p:cNvSpPr/>
          <p:nvPr/>
        </p:nvSpPr>
        <p:spPr>
          <a:xfrm>
            <a:off x="4677041" y="3035808"/>
            <a:ext cx="201168" cy="201168"/>
          </a:xfrm>
          <a:prstGeom prst="ellipse">
            <a:avLst/>
          </a:prstGeom>
          <a:solidFill>
            <a:srgbClr val="F5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3485" y="3035808"/>
            <a:ext cx="201168" cy="201168"/>
          </a:xfrm>
          <a:prstGeom prst="ellipse">
            <a:avLst/>
          </a:prstGeom>
          <a:solidFill>
            <a:srgbClr val="F5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949929" y="3035808"/>
            <a:ext cx="201168" cy="201168"/>
          </a:xfrm>
          <a:prstGeom prst="ellipse">
            <a:avLst/>
          </a:prstGeom>
          <a:solidFill>
            <a:srgbClr val="334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822960" y="3465576"/>
            <a:ext cx="10545775" cy="0"/>
          </a:xfrm>
          <a:prstGeom prst="line">
            <a:avLst/>
          </a:prstGeom>
          <a:ln w="7620">
            <a:solidFill>
              <a:srgbClr val="3342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05840" y="3610416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1F3EE"/>
                </a:solidFill>
                <a:latin typeface="Segoe UI"/>
                <a:ea typeface="微软雅黑"/>
                <a:cs typeface="微软雅黑"/>
              </a:rPr>
              <a:t>维度二</a:t>
            </a:r>
          </a:p>
        </p:txBody>
      </p:sp>
      <p:sp>
        <p:nvSpPr>
          <p:cNvPr id="19" name="Oval 18"/>
          <p:cNvSpPr/>
          <p:nvPr/>
        </p:nvSpPr>
        <p:spPr>
          <a:xfrm>
            <a:off x="4677041" y="3694176"/>
            <a:ext cx="201168" cy="201168"/>
          </a:xfrm>
          <a:prstGeom prst="ellipse">
            <a:avLst/>
          </a:prstGeom>
          <a:solidFill>
            <a:srgbClr val="F5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3485" y="3694176"/>
            <a:ext cx="201168" cy="201168"/>
          </a:xfrm>
          <a:prstGeom prst="ellipse">
            <a:avLst/>
          </a:prstGeom>
          <a:solidFill>
            <a:srgbClr val="334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949929" y="3694176"/>
            <a:ext cx="201168" cy="201168"/>
          </a:xfrm>
          <a:prstGeom prst="ellipse">
            <a:avLst/>
          </a:prstGeom>
          <a:solidFill>
            <a:srgbClr val="F5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4123944"/>
            <a:ext cx="10545775" cy="658368"/>
          </a:xfrm>
          <a:prstGeom prst="rect">
            <a:avLst/>
          </a:prstGeom>
          <a:solidFill>
            <a:srgbClr val="263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822960" y="4123944"/>
            <a:ext cx="10545775" cy="0"/>
          </a:xfrm>
          <a:prstGeom prst="line">
            <a:avLst/>
          </a:prstGeom>
          <a:ln w="7620">
            <a:solidFill>
              <a:srgbClr val="3342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005840" y="4268784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1F3EE"/>
                </a:solidFill>
                <a:latin typeface="Segoe UI"/>
                <a:ea typeface="微软雅黑"/>
                <a:cs typeface="微软雅黑"/>
              </a:rPr>
              <a:t>维度三</a:t>
            </a:r>
          </a:p>
        </p:txBody>
      </p:sp>
      <p:sp>
        <p:nvSpPr>
          <p:cNvPr id="25" name="Oval 24"/>
          <p:cNvSpPr/>
          <p:nvPr/>
        </p:nvSpPr>
        <p:spPr>
          <a:xfrm>
            <a:off x="4677041" y="4352544"/>
            <a:ext cx="201168" cy="201168"/>
          </a:xfrm>
          <a:prstGeom prst="ellipse">
            <a:avLst/>
          </a:prstGeom>
          <a:solidFill>
            <a:srgbClr val="F5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13485" y="4352544"/>
            <a:ext cx="201168" cy="201168"/>
          </a:xfrm>
          <a:prstGeom prst="ellipse">
            <a:avLst/>
          </a:prstGeom>
          <a:solidFill>
            <a:srgbClr val="F5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9929" y="4352544"/>
            <a:ext cx="201168" cy="201168"/>
          </a:xfrm>
          <a:prstGeom prst="ellipse">
            <a:avLst/>
          </a:prstGeom>
          <a:solidFill>
            <a:srgbClr val="F5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黑板粉笔  ·  Chalkboard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F5D67B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2011680"/>
            <a:ext cx="2377440" cy="2377440"/>
          </a:xfrm>
          <a:prstGeom prst="ellipse">
            <a:avLst/>
          </a:prstGeom>
          <a:solidFill>
            <a:srgbClr val="8FD3C7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8229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5D67B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77639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F5D67B"/>
                </a:solidFill>
                <a:latin typeface="Consolas"/>
                <a:ea typeface="等线"/>
                <a:cs typeface="等线"/>
              </a:rPr>
              <a:t>在此输入关键数字的含义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5488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在此输入补充说明（占位）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黑板粉笔  ·  Chalkboard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5D67B"/>
                </a:solidFill>
                <a:latin typeface="Segoe UI"/>
                <a:ea typeface="微软雅黑"/>
                <a:cs typeface="微软雅黑"/>
              </a:rPr>
              <a:t>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分步说明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5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371600" y="2286000"/>
            <a:ext cx="0" cy="2331720"/>
          </a:xfrm>
          <a:prstGeom prst="line">
            <a:avLst/>
          </a:prstGeom>
          <a:ln w="20320">
            <a:solidFill>
              <a:srgbClr val="3342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197864" y="2212848"/>
            <a:ext cx="347472" cy="347472"/>
          </a:xfrm>
          <a:prstGeom prst="ellipse">
            <a:avLst/>
          </a:prstGeom>
          <a:solidFill>
            <a:srgbClr val="F5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97864" y="221284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1488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课程目标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48716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11" name="Oval 10"/>
          <p:cNvSpPr/>
          <p:nvPr/>
        </p:nvSpPr>
        <p:spPr>
          <a:xfrm>
            <a:off x="1197864" y="2990088"/>
            <a:ext cx="347472" cy="347472"/>
          </a:xfrm>
          <a:prstGeom prst="ellipse">
            <a:avLst/>
          </a:prstGeom>
          <a:solidFill>
            <a:srgbClr val="F5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97864" y="299008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926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核心概念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26440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15" name="Oval 14"/>
          <p:cNvSpPr/>
          <p:nvPr/>
        </p:nvSpPr>
        <p:spPr>
          <a:xfrm>
            <a:off x="1197864" y="3767327"/>
            <a:ext cx="347472" cy="347472"/>
          </a:xfrm>
          <a:prstGeom prst="ellipse">
            <a:avLst/>
          </a:prstGeom>
          <a:solidFill>
            <a:srgbClr val="F5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97864" y="3767327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7033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代码演示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04164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19" name="Oval 18"/>
          <p:cNvSpPr/>
          <p:nvPr/>
        </p:nvSpPr>
        <p:spPr>
          <a:xfrm>
            <a:off x="1197864" y="4544567"/>
            <a:ext cx="347472" cy="347472"/>
          </a:xfrm>
          <a:prstGeom prst="ellipse">
            <a:avLst/>
          </a:prstGeom>
          <a:solidFill>
            <a:srgbClr val="F5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97864" y="4544567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480559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练习与作业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81888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黑板粉笔  ·  Chalkboard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F5D67B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2011680"/>
            <a:ext cx="2377440" cy="2377440"/>
          </a:xfrm>
          <a:prstGeom prst="ellipse">
            <a:avLst/>
          </a:prstGeom>
          <a:solidFill>
            <a:srgbClr val="8FD3C7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F1F3EE"/>
                </a:solidFill>
                <a:latin typeface="Consolas"/>
                <a:ea typeface="等线"/>
                <a:cs typeface="等线"/>
              </a:rPr>
              <a:t>谢谢观看</a:t>
            </a:r>
          </a:p>
        </p:txBody>
      </p:sp>
      <p:sp>
        <p:nvSpPr>
          <p:cNvPr id="6" name="Rectangle 5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F5D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9B6AE"/>
                </a:solidFill>
                <a:latin typeface="Segoe UI"/>
                <a:ea typeface="微软雅黑"/>
                <a:cs typeface="微软雅黑"/>
              </a:rPr>
              <a:t>黑板粉笔  ·  Chalkboard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