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示例构成（右键 → 编辑数据）</c:v>
                </c:pt>
              </c:strCache>
            </c:strRef>
          </c:tx>
          <c:dPt>
            <c:idx val="0"/>
            <c:spPr>
              <a:solidFill>
                <a:srgbClr val="3FA88C"/>
              </a:solidFill>
            </c:spPr>
          </c:dPt>
          <c:dPt>
            <c:idx val="1"/>
            <c:spPr>
              <a:solidFill>
                <a:srgbClr val="E2A03F"/>
              </a:solidFill>
            </c:spPr>
          </c:dPt>
          <c:dPt>
            <c:idx val="2"/>
            <c:spPr>
              <a:solidFill>
                <a:srgbClr val="3FA88C"/>
              </a:solidFill>
            </c:spPr>
          </c:dPt>
          <c:dPt>
            <c:idx val="3"/>
            <c:spPr>
              <a:solidFill>
                <a:srgbClr val="E2A03F"/>
              </a:solidFill>
            </c:spPr>
          </c:dPt>
          <c:cat>
            <c:strRef>
              <c:f>Sheet1!$A$2:$A$5</c:f>
              <c:strCache>
                <c:ptCount val="4"/>
                <c:pt idx="0">
                  <c:v>板块一</c:v>
                </c:pt>
                <c:pt idx="1">
                  <c:v>板块二</c:v>
                </c:pt>
                <c:pt idx="2">
                  <c:v>板块三</c:v>
                </c:pt>
                <c:pt idx="3">
                  <c:v>板块四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25</c:v>
                </c:pt>
                <c:pt idx="2">
                  <c:v>20</c:v>
                </c:pt>
                <c:pt idx="3">
                  <c:v>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【页面定位】SECTION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【页面定位】在此输入课程寄语或重要结论。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【页面定位】LEVELS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【页面定位】GLOSSARY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【页面定位】HIGHLIGHT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【页面定位】QUOTES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3FA88C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编程教学课件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编程教学课件 · 在此输入副标题 / 项目名称</a:t>
            </a:r>
          </a:p>
        </p:txBody>
      </p:sp>
    </p:spTree>
  </p:cSld>
  <p:clrMapOvr>
    <a:masterClrMapping/>
  </p:clrMapOvr>
  <p:transition spd="med" advClick="1" advTm="6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课程目标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核心概念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代码演示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练习与作业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4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8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课程目标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r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课程目标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在此输入「课程目标」的要点一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在此输入「课程目标」的要点二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在此输入「课程目标」的要点三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在此输入「课程目标」的要点四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核心概念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A · 课程目标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B · 核心概念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A03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A03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A03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8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2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4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6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8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01" dur="45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课程目标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核心概念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代码演示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练习与作业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6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3FA88C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环境准备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编写代码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3FA88C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运行调试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提交作业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8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0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4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6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371600" y="2286000"/>
          <a:ext cx="5486400" cy="3520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pan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2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4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6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8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代码演示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r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在此输入课程寄语或重要结论。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LEVELS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分层结构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sosceles Triangle 5"/>
          <p:cNvSpPr/>
          <p:nvPr/>
        </p:nvSpPr>
        <p:spPr>
          <a:xfrm>
            <a:off x="4907127" y="2240280"/>
            <a:ext cx="2377440" cy="1078992"/>
          </a:xfrm>
          <a:prstGeom prst="triangl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07127" y="262432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层级一</a:t>
            </a:r>
          </a:p>
        </p:txBody>
      </p:sp>
      <p:sp>
        <p:nvSpPr>
          <p:cNvPr id="8" name="Trapezoid 7"/>
          <p:cNvSpPr/>
          <p:nvPr/>
        </p:nvSpPr>
        <p:spPr>
          <a:xfrm>
            <a:off x="3809847" y="3447288"/>
            <a:ext cx="4572000" cy="1078992"/>
          </a:xfrm>
          <a:prstGeom prst="trapezoid">
            <a:avLst>
              <a:gd name="adj" fmla="val 22000"/>
            </a:avLst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7047" y="3813048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层级二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10447" y="379476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1" name="Trapezoid 10"/>
          <p:cNvSpPr/>
          <p:nvPr/>
        </p:nvSpPr>
        <p:spPr>
          <a:xfrm>
            <a:off x="2712567" y="4654296"/>
            <a:ext cx="6766560" cy="1078992"/>
          </a:xfrm>
          <a:prstGeom prst="trapezoid">
            <a:avLst>
              <a:gd name="adj" fmla="val 22000"/>
            </a:avLst>
          </a:prstGeom>
          <a:solidFill>
            <a:srgbClr val="9A9A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69767" y="5020056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层级三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07727" y="500176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allery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4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6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8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0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术语表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motion:hero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3FA8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E2A03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3FA8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E2A03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3FA8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E2A03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3FA8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00" fill="hold" nodeType="afterEffect" grpId="0" presetID="6" presetClass="emph" presetSubtype="0">
                            <p:stCondLst>
                              <p:cond delay="710"/>
                            </p:stCondLst>
                            <p:childTnLst>
                              <p:animScale>
                                <p:cBhvr>
                                  <p:cTn id="101" dur="500" fill="hold"/>
                                  <p:tgtEl>
                                    <p:spTgt spid="6"/>
                                  </p:tgtEl>
                                </p:cBhvr>
                                <p:by x="108000" y="108000"/>
                              </p:animScale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allery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0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柔和科技图表">
  <a:themeElements>
    <a:clrScheme name="SlideForge 柔和科技图表">
      <a:dk1>
        <a:srgbClr val="2B2B2B"/>
      </a:dk1>
      <a:lt1>
        <a:srgbClr val="F5F3EF"/>
      </a:lt1>
      <a:dk2>
        <a:srgbClr val="9A9A93"/>
      </a:dk2>
      <a:lt2>
        <a:srgbClr val="FFFFFF"/>
      </a:lt2>
      <a:accent1>
        <a:srgbClr val="3FA88C"/>
      </a:accent1>
      <a:accent2>
        <a:srgbClr val="E2A03F"/>
      </a:accent2>
      <a:accent3>
        <a:srgbClr val="E2A03F"/>
      </a:accent3>
      <a:accent4>
        <a:srgbClr val="E4E0D8"/>
      </a:accent4>
      <a:accent5>
        <a:srgbClr val="9A9A93"/>
      </a:accent5>
      <a:accent6>
        <a:srgbClr val="FFFFFF"/>
      </a:accent6>
      <a:hlink>
        <a:srgbClr val="3FA88C"/>
      </a:hlink>
      <a:folHlink>
        <a:srgbClr val="9A9A93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