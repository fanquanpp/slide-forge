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示例系列（右键→编辑数据）</c:v>
                </c:pt>
              </c:strCache>
            </c:strRef>
          </c:tx>
          <c:spPr>
            <a:solidFill>
              <a:srgbClr val="38D39F"/>
            </a:solidFill>
          </c:spPr>
          <c:cat>
            <c:strRef>
              <c:f>Sheet1!$A$2:$A$7</c:f>
              <c:strCache>
                <c:ptCount val="6"/>
                <c:pt idx="0">
                  <c:v>指标一</c:v>
                </c:pt>
                <c:pt idx="1">
                  <c:v>指标二</c:v>
                </c:pt>
                <c:pt idx="2">
                  <c:v>指标三</c:v>
                </c:pt>
                <c:pt idx="3">
                  <c:v>指标四</c:v>
                </c:pt>
                <c:pt idx="4">
                  <c:v>指标五</c:v>
                </c:pt>
                <c:pt idx="5">
                  <c:v>指标六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</c:v>
                </c:pt>
                <c:pt idx="1">
                  <c:v>80</c:v>
                </c:pt>
                <c:pt idx="2">
                  <c:v>45</c:v>
                </c:pt>
                <c:pt idx="3">
                  <c:v>95</c:v>
                </c:pt>
                <c:pt idx="4">
                  <c:v>70</c:v>
                </c:pt>
                <c:pt idx="5">
                  <c:v>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【页面定位】编程教学课件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【页面定位】在此输入课程寄语或重要结论。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【页面定位】STEPS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【页面定位】GLOSSARY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【页面定位】HIGHLIGHT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5486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$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58600" y="658368"/>
            <a:ext cx="128016" cy="25603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编程教学课件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编程教学课件 · 在此输入副标题 / 项目名称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团队 / 姓名  ·  YYYY-MM-DD</a:t>
            </a:r>
          </a:p>
        </p:txBody>
      </p:sp>
    </p:spTree>
  </p:cSld>
  <p:clrMapOvr>
    <a:masterClrMapping/>
  </p:clrMapOvr>
  <p:transition spd="med" advClick="1" advTm="8000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课程目标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核心概念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代码演示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练习与作业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5486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$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58600" y="658368"/>
            <a:ext cx="128016" cy="25603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C8F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课程目标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课程目标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70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在此输入「课程目标」的要点一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70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在此输入「课程目标」的要点二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70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在此输入「课程目标」的要点三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70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在此输入「课程目标」的要点四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核心概念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A · 课程目标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45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45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45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E2E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B · 核心概念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E23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45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E23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45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E23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45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C8F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E0A"/>
                </a:solidFill>
                <a:latin typeface="Consolas"/>
                <a:ea typeface="等线"/>
                <a:cs typeface="等线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4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1E2A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课程目标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核心概念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代码演示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练习与作业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38D39F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环境准备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编写代码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38D39F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运行调试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提交作业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188720" y="2331720"/>
          <a:ext cx="585216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原生可编辑图表 · 右键图表 → 编辑数据 即可替换数值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关键结论 / 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25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25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25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在此输入要点三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111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1E2A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1E2A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111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1E2A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111711"/>
          </a:solidFill>
          <a:ln w="12700">
            <a:solidFill>
              <a:srgbClr val="1E2A1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111711"/>
          </a:solidFill>
          <a:ln w="12700">
            <a:solidFill>
              <a:srgbClr val="1E2A1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111711"/>
          </a:solidFill>
          <a:ln w="12700">
            <a:solidFill>
              <a:srgbClr val="1E2A1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111711"/>
          </a:solidFill>
          <a:ln w="12700">
            <a:solidFill>
              <a:srgbClr val="1E2A1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111711"/>
          </a:solidFill>
          <a:ln w="12700">
            <a:solidFill>
              <a:srgbClr val="1E2A1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111711"/>
          </a:solidFill>
          <a:ln w="12700">
            <a:solidFill>
              <a:srgbClr val="1E2A1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5486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$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58600" y="658368"/>
            <a:ext cx="128016" cy="25603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C8F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代码演示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5486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$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58600" y="658368"/>
            <a:ext cx="128016" cy="25603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在此输入课程寄语或重要结论。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— 署名 / 出处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分步说明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1E2A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课程目标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核心概念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代码演示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练习与作业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在此输入步骤说明（占位）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术语表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术语一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03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在此输入释义（占位）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633472"/>
            <a:ext cx="10515600" cy="0"/>
          </a:xfrm>
          <a:prstGeom prst="line">
            <a:avLst/>
          </a:prstGeom>
          <a:ln w="7620">
            <a:solidFill>
              <a:srgbClr val="1E2A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761487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术语二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761487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在此输入释义（占位）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3291839"/>
            <a:ext cx="10515600" cy="0"/>
          </a:xfrm>
          <a:prstGeom prst="line">
            <a:avLst/>
          </a:prstGeom>
          <a:ln w="7620">
            <a:solidFill>
              <a:srgbClr val="1E2A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41985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术语三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1985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在此输入释义（占位）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950207"/>
            <a:ext cx="10515600" cy="0"/>
          </a:xfrm>
          <a:prstGeom prst="line">
            <a:avLst/>
          </a:prstGeom>
          <a:ln w="7620">
            <a:solidFill>
              <a:srgbClr val="1E2A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07822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术语四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7822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在此输入释义（占位）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608576"/>
            <a:ext cx="10515600" cy="0"/>
          </a:xfrm>
          <a:prstGeom prst="line">
            <a:avLst/>
          </a:prstGeom>
          <a:ln w="7620">
            <a:solidFill>
              <a:srgbClr val="1E2A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在此输入指标说明 · 占位文本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5394960" cy="3566160"/>
          </a:xfrm>
          <a:prstGeom prst="roundRect">
            <a:avLst>
              <a:gd name="adj" fmla="val 5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370832"/>
            <a:ext cx="438912" cy="1024127"/>
          </a:xfrm>
          <a:prstGeom prst="rect">
            <a:avLst/>
          </a:prstGeom>
          <a:solidFill>
            <a:srgbClr val="38D39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4304" y="3730752"/>
            <a:ext cx="438912" cy="1664207"/>
          </a:xfrm>
          <a:prstGeom prst="rect">
            <a:avLst/>
          </a:prstGeom>
          <a:solidFill>
            <a:srgbClr val="E2E2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4114800"/>
            <a:ext cx="438912" cy="1280160"/>
          </a:xfrm>
          <a:prstGeom prst="rect">
            <a:avLst/>
          </a:prstGeom>
          <a:solidFill>
            <a:srgbClr val="38D39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3218688"/>
            <a:ext cx="438912" cy="2176272"/>
          </a:xfrm>
          <a:prstGeom prst="rect">
            <a:avLst/>
          </a:prstGeom>
          <a:solidFill>
            <a:srgbClr val="E2E2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3858768"/>
            <a:ext cx="438912" cy="1536192"/>
          </a:xfrm>
          <a:prstGeom prst="rect">
            <a:avLst/>
          </a:prstGeom>
          <a:solidFill>
            <a:srgbClr val="38D39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2962656"/>
            <a:ext cx="438912" cy="2432303"/>
          </a:xfrm>
          <a:prstGeom prst="rect">
            <a:avLst/>
          </a:prstGeom>
          <a:solidFill>
            <a:srgbClr val="E2E2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602736"/>
            <a:ext cx="438912" cy="1792223"/>
          </a:xfrm>
          <a:prstGeom prst="rect">
            <a:avLst/>
          </a:prstGeom>
          <a:solidFill>
            <a:srgbClr val="38D39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5486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$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58600" y="658368"/>
            <a:ext cx="128016" cy="25603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