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1E5FBF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【页面定位】游戏设计提案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【页面定位】在此输入一句设计信条 / 立项理由。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【页面定位】INTERSECTION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【页面定位】DASHBOARD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【页面定位】RISK MATRIX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游戏设计提案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游戏设计提案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在此输入「游戏概述」的要点一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在此输入「游戏概述」的要点二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在此输入「游戏概述」的要点三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在此输入「游戏概述」的要点四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A · 游戏概述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B · 核心玩法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4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游戏概述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核心玩法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开发计划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玩法验证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资源制作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系统整合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测试调优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美术与世界观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在此输入一句设计信条 / 立项理由。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INTERSECTION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三要素交集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1E5FB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要素一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C9A227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要素二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5B6B8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要素三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要素一：在此输入一句要点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要素二：在此输入一句要点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要素三：在此输入一句要点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指标看板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1E5FB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1E5FB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1E5FB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1E5FB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1E5FB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1E5FB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1E5FB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1E5FB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1E5FB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1E5FB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C9A22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57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69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57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69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211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概率 × 影响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148840"/>
            <a:ext cx="2194560" cy="896112"/>
          </a:xfrm>
          <a:prstGeom prst="rect">
            <a:avLst/>
          </a:prstGeom>
          <a:solidFill>
            <a:srgbClr val="C9A227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1104" y="2148840"/>
            <a:ext cx="2194560" cy="896112"/>
          </a:xfrm>
          <a:prstGeom prst="rect">
            <a:avLst/>
          </a:prstGeom>
          <a:solidFill>
            <a:srgbClr val="C9A227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0528" y="2148840"/>
            <a:ext cx="2194560" cy="896112"/>
          </a:xfrm>
          <a:prstGeom prst="rect">
            <a:avLst/>
          </a:prstGeom>
          <a:solidFill>
            <a:srgbClr val="C9A227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9952" y="2148840"/>
            <a:ext cx="2194560" cy="896112"/>
          </a:xfrm>
          <a:prstGeom prst="rect">
            <a:avLst/>
          </a:prstGeom>
          <a:solidFill>
            <a:srgbClr val="1E5FB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099816"/>
            <a:ext cx="2194560" cy="896112"/>
          </a:xfrm>
          <a:prstGeom prst="rect">
            <a:avLst/>
          </a:prstGeom>
          <a:solidFill>
            <a:srgbClr val="C9A227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3099816"/>
            <a:ext cx="2194560" cy="896112"/>
          </a:xfrm>
          <a:prstGeom prst="rect">
            <a:avLst/>
          </a:prstGeom>
          <a:solidFill>
            <a:srgbClr val="C9A227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528" y="3099816"/>
            <a:ext cx="2194560" cy="896112"/>
          </a:xfrm>
          <a:prstGeom prst="rect">
            <a:avLst/>
          </a:prstGeom>
          <a:solidFill>
            <a:srgbClr val="1E5FB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3099816"/>
            <a:ext cx="2194560" cy="896112"/>
          </a:xfrm>
          <a:prstGeom prst="rect">
            <a:avLst/>
          </a:prstGeom>
          <a:solidFill>
            <a:srgbClr val="1E5FB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4050791"/>
            <a:ext cx="2194560" cy="896112"/>
          </a:xfrm>
          <a:prstGeom prst="rect">
            <a:avLst/>
          </a:prstGeom>
          <a:solidFill>
            <a:srgbClr val="C9A227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4050791"/>
            <a:ext cx="2194560" cy="896112"/>
          </a:xfrm>
          <a:prstGeom prst="rect">
            <a:avLst/>
          </a:prstGeom>
          <a:solidFill>
            <a:srgbClr val="1E5FB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0528" y="4050791"/>
            <a:ext cx="2194560" cy="896112"/>
          </a:xfrm>
          <a:prstGeom prst="rect">
            <a:avLst/>
          </a:prstGeom>
          <a:solidFill>
            <a:srgbClr val="1E5FB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9952" y="4050791"/>
            <a:ext cx="2194560" cy="896112"/>
          </a:xfrm>
          <a:prstGeom prst="rect">
            <a:avLst/>
          </a:prstGeom>
          <a:solidFill>
            <a:srgbClr val="10233F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01768"/>
            <a:ext cx="2194560" cy="896112"/>
          </a:xfrm>
          <a:prstGeom prst="rect">
            <a:avLst/>
          </a:prstGeom>
          <a:solidFill>
            <a:srgbClr val="1E5FB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5001768"/>
            <a:ext cx="2194560" cy="896112"/>
          </a:xfrm>
          <a:prstGeom prst="rect">
            <a:avLst/>
          </a:prstGeom>
          <a:solidFill>
            <a:srgbClr val="1E5FB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528" y="5001768"/>
            <a:ext cx="2194560" cy="896112"/>
          </a:xfrm>
          <a:prstGeom prst="rect">
            <a:avLst/>
          </a:prstGeom>
          <a:solidFill>
            <a:srgbClr val="10233F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5001768"/>
            <a:ext cx="2194560" cy="896112"/>
          </a:xfrm>
          <a:prstGeom prst="rect">
            <a:avLst/>
          </a:prstGeom>
          <a:solidFill>
            <a:srgbClr val="10233F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175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影响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43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概率 →</a:t>
            </a:r>
          </a:p>
        </p:txBody>
      </p:sp>
      <p:sp>
        <p:nvSpPr>
          <p:cNvPr id="24" name="Oval 23"/>
          <p:cNvSpPr/>
          <p:nvPr/>
        </p:nvSpPr>
        <p:spPr>
          <a:xfrm>
            <a:off x="5202936" y="2441448"/>
            <a:ext cx="310896" cy="31089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2936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21945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1 · 风险一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392424"/>
            <a:ext cx="310896" cy="31089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2761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2 · 风险二</a:t>
            </a:r>
          </a:p>
        </p:txBody>
      </p:sp>
      <p:sp>
        <p:nvSpPr>
          <p:cNvPr id="30" name="Oval 29"/>
          <p:cNvSpPr/>
          <p:nvPr/>
        </p:nvSpPr>
        <p:spPr>
          <a:xfrm>
            <a:off x="9701784" y="4343400"/>
            <a:ext cx="310896" cy="31089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4343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332841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3 · 风险三</a:t>
            </a:r>
          </a:p>
        </p:txBody>
      </p:sp>
      <p:sp>
        <p:nvSpPr>
          <p:cNvPr id="33" name="Oval 32"/>
          <p:cNvSpPr/>
          <p:nvPr/>
        </p:nvSpPr>
        <p:spPr>
          <a:xfrm>
            <a:off x="2953512" y="2441448"/>
            <a:ext cx="310896" cy="31089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53512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3895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4 · 风险四</a:t>
            </a:r>
          </a:p>
        </p:txBody>
      </p:sp>
      <p:sp>
        <p:nvSpPr>
          <p:cNvPr id="3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45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570"/>
                                  <p:tgtEl>
                                    <p:spTgt spid="3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690"/>
                                  <p:tgtEl>
                                    <p:spTgt spid="3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81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45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57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商务蓝调">
  <a:themeElements>
    <a:clrScheme name="SlideForge 商务蓝调">
      <a:dk1>
        <a:srgbClr val="10233F"/>
      </a:dk1>
      <a:lt1>
        <a:srgbClr val="FFFFFF"/>
      </a:lt1>
      <a:dk2>
        <a:srgbClr val="5B6B82"/>
      </a:dk2>
      <a:lt2>
        <a:srgbClr val="F2F5FA"/>
      </a:lt2>
      <a:accent1>
        <a:srgbClr val="1E5FBF"/>
      </a:accent1>
      <a:accent2>
        <a:srgbClr val="C9A227"/>
      </a:accent2>
      <a:accent3>
        <a:srgbClr val="C9A227"/>
      </a:accent3>
      <a:accent4>
        <a:srgbClr val="D7E0EE"/>
      </a:accent4>
      <a:accent5>
        <a:srgbClr val="5B6B82"/>
      </a:accent5>
      <a:accent6>
        <a:srgbClr val="F2F5FA"/>
      </a:accent6>
      <a:hlink>
        <a:srgbClr val="1E5FBF"/>
      </a:hlink>
      <a:folHlink>
        <a:srgbClr val="5B6B8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