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377440"/>
            <a:ext cx="99669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2000"/>
              </a:lnSpc>
              <a:spcAft>
                <a:spcPts val="400"/>
              </a:spcAft>
            </a:pPr>
            <a:r>
              <a:rPr sz="46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项目汇报与复盘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88620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114800"/>
            <a:ext cx="9966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项目汇报与复盘 · 在此输入副标题 / 项目名称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566928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团队 / 姓名  ·  YYYY-MM-DD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81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8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49424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2231136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889503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3035808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3017520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675887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822191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03903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462272"/>
            <a:ext cx="10424160" cy="6400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608576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590288"/>
            <a:ext cx="9144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在此输入「目标回顾」的要点四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42" presetClass="entr" presetSubtype="1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3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1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10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3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4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5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8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37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52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1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1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3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4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5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9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2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9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18" presetClass="entr" presetSubtype="1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A · 目标回顾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B · 执行过程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C9A227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dissolv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3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1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10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45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8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5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37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52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9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1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1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4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9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2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7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18" presetClass="entr" presetSubtype="1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22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31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zoom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1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10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45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8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37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52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71" dur="690"/>
                                  <p:tgtEl>
                                    <p:spTgt spid="2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9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4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9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22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51" dur="690"/>
                                  <p:tgtEl>
                                    <p:spTgt spid="2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18" presetClass="entr" presetSubtype="1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22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9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42" presetClass="entr" presetSubtype="1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311" dur="57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目标回顾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执行过程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反思与下一步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10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45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8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11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37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31" dur="57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52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4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9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9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22" presetClass="entr" presetSubtype="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18" presetClass="entr" presetSubtype="1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5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22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42" presetClass="entr" presetSubtype="1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91" dur="57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3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3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计划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执行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1E5FBF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检查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改进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hecker dir="across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45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8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37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52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3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4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7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9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91" dur="57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22" presetClass="entr" presetSubtype="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2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18" presetClass="entr" presetSubtype="12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3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22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5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42" presetClass="entr" presetSubtype="1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7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43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9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1" presetClass="entr" presetSubtype="2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311" dur="81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V="1">
            <a:off x="1463040" y="3840480"/>
            <a:ext cx="1280160" cy="9144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2743200" y="384048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023360" y="3108960"/>
            <a:ext cx="1280160" cy="118872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303520" y="3108960"/>
            <a:ext cx="1280160" cy="45720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6583680" y="2743200"/>
            <a:ext cx="1280160" cy="822960"/>
          </a:xfrm>
          <a:prstGeom prst="line">
            <a:avLst/>
          </a:prstGeom>
          <a:ln w="31750">
            <a:solidFill>
              <a:srgbClr val="1E5FB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Oval 11"/>
          <p:cNvSpPr/>
          <p:nvPr/>
        </p:nvSpPr>
        <p:spPr>
          <a:xfrm>
            <a:off x="1399032" y="46908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679192" y="37764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3959352" y="423367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239512" y="30449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519672" y="350215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99831" y="2679192"/>
            <a:ext cx="128016" cy="12801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关键结论 / 解读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newsflash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45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8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37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52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31" dur="810"/>
                                  <p:tgtEl>
                                    <p:spTgt spid="1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4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51" dur="45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9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7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22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2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91" dur="690"/>
                                  <p:tgtEl>
                                    <p:spTgt spid="2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18" presetClass="entr" presetSubtype="12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21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22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3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42" presetClass="entr" presetSubtype="1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5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43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1" presetClass="entr" presetSubtype="2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91" dur="81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10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31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8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37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52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4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9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22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18" presetClass="entr" presetSubtype="1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91" dur="81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22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21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42" presetClass="entr" presetSubtype="1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31" dur="57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3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5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1" presetClass="entr" presetSubtype="2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7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10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91" dur="45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2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31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2F5FA"/>
          </a:solidFill>
          <a:ln w="12700">
            <a:solidFill>
              <a:srgbClr val="D7E0E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37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52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21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4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9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3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22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5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18" presetClass="entr" presetSubtype="1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7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22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42" presetClass="entr" presetSubtype="1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3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23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1" presetClass="entr" presetSubtype="2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251" dur="81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10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71" dur="45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25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9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45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311" dur="69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1023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结果与数据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52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21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4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9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11" dur="57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22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3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18" presetClass="entr" presetSubtype="1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5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22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42" presetClass="entr" presetSubtype="1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91" dur="57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在此输入一条关键复盘结论。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push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21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4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9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22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111" dur="69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18" presetClass="entr" presetSubtype="1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22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51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42" presetClass="entr" presetSubtype="1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3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9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wipe dir="u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4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9" presetClass="entr" presetSubtype="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22" presetClass="entr" presetSubtype="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18" presetClass="entr" presetSubtype="1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22" presetClass="entr" presetSubtype="1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31" dur="45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42" presetClass="entr" presetSubtype="1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5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3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7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810" fill="hold" nodeType="afterEffect" grpId="0" presetID="21" presetClass="entr" presetSubtype="2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9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450" fill="hold" nodeType="afterEffect" grpId="0" presetID="10" presetClass="entr" presetSubtype="0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211" dur="45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570" fill="hold" nodeType="afterEffect" grpId="0" presetID="2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3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690" fill="hold" nodeType="afterEffect" grpId="0" presetID="45" presetClass="entr" presetSubtype="1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51" dur="69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810" fill="hold" nodeType="afterEffect" grpId="0" presetID="22" presetClass="entr" presetSubtype="8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71" dur="81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450" fill="hold" nodeType="afterEffect" grpId="0" presetID="37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9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570" fill="hold" nodeType="afterEffect" grpId="0" presetID="52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311" dur="57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6000"/>
            </a:avLst>
          </a:prstGeom>
          <a:solidFill>
            <a:srgbClr val="F2F5FA"/>
          </a:solidFill>
          <a:ln w="9525">
            <a:solidFill>
              <a:srgbClr val="D7E0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split orient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570" fill="hold" nodeType="clickEffect" grpId="0" presetID="9" presetClass="entr" presetSubtype="0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51" dur="57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690" fill="hold" nodeType="afterEffect" grpId="0" presetID="22" presetClass="entr" presetSubtype="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71" dur="69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810" fill="hold" nodeType="afterEffect" grpId="0" presetID="18" presetClass="entr" presetSubtype="12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91" dur="81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450" fill="hold" nodeType="afterEffect" grpId="0" presetID="22" presetClass="entr" presetSubtype="1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11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570" fill="hold" nodeType="afterEffect" grpId="0" presetID="42" presetClass="entr" presetSubtype="1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3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690" fill="hold" nodeType="afterEffect" grpId="0" presetID="43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51" dur="69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810" fill="hold" nodeType="afterEffect" grpId="0" presetID="21" presetClass="entr" presetSubtype="2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71" dur="81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450" fill="hold" nodeType="afterEffect" grpId="0" presetID="10" presetClass="entr" presetSubtype="0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9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570" fill="hold" nodeType="afterEffect" grpId="0" presetID="2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21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690" fill="hold" nodeType="afterEffect" grpId="0" presetID="45" presetClass="entr" presetSubtype="1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31" dur="69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810" fill="hold" nodeType="afterEffect" grpId="0" presetID="22" presetClass="entr" presetSubtype="8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450" fill="hold" nodeType="afterEffect" grpId="0" presetID="37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71" dur="45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570" fill="hold" nodeType="afterEffect" grpId="0" presetID="52" presetClass="entr" presetSubtype="0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91" dur="57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690" fill="hold" nodeType="afterEffect" grpId="0" presetID="21" presetClass="entr" presetSubtype="1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31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多线路线图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36829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286000" y="297180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37744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716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8172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66560" y="225856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1E5FBF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76288" y="229514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14216"/>
            <a:ext cx="1371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线二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286000" y="4617720"/>
            <a:ext cx="9052560" cy="0"/>
          </a:xfrm>
          <a:prstGeom prst="line">
            <a:avLst/>
          </a:prstGeom>
          <a:ln w="1270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237744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8716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904488"/>
            <a:ext cx="1042415" cy="1335024"/>
          </a:xfrm>
          <a:prstGeom prst="roundRect">
            <a:avLst>
              <a:gd name="adj" fmla="val 30000"/>
            </a:avLst>
          </a:prstGeom>
          <a:solidFill>
            <a:srgbClr val="C9A227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81728" y="3941064"/>
            <a:ext cx="822959" cy="12618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任务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blinds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690" fill="hold" nodeType="clickEffect" grpId="0" presetID="22" presetClass="entr" presetSubtype="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right)">
                                <p:cBhvr>
                                  <p:cTn id="51" dur="69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810" fill="hold" nodeType="afterEffect" grpId="0" presetID="18" presetClass="entr" presetSubtype="12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71" dur="81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450" fill="hold" nodeType="afterEffect" grpId="0" presetID="22" presetClass="entr" presetSubtype="1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91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570" fill="hold" nodeType="afterEffect" grpId="0" presetID="42" presetClass="entr" presetSubtype="1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11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690" fill="hold" nodeType="afterEffect" grpId="0" presetID="43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31" dur="69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810" fill="hold" nodeType="afterEffect" grpId="0" presetID="21" presetClass="entr" presetSubtype="2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51" dur="81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450" fill="hold" nodeType="afterEffect" grpId="0" presetID="10" presetClass="entr" presetSubtype="0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71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570" fill="hold" nodeType="afterEffect" grpId="0" presetID="2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91" dur="57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690" fill="hold" nodeType="afterEffect" grpId="0" presetID="45" presetClass="entr" presetSubtype="1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211" dur="69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810" fill="hold" nodeType="afterEffect" grpId="0" presetID="22" presetClass="entr" presetSubtype="8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3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450" fill="hold" nodeType="afterEffect" grpId="0" presetID="37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5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570" fill="hold" nodeType="afterEffect" grpId="0" presetID="52" presetClass="entr" presetSubtype="0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71" dur="57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690" fill="hold" nodeType="afterEffect" grpId="0" presetID="21" presetClass="entr" presetSubtype="1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91" dur="690"/>
                                  <p:tgtEl>
                                    <p:spTgt spid="1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810" fill="hold" nodeType="afterEffect" grpId="0" presetID="22" presetClass="entr" presetSubtype="4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311" dur="810"/>
                                  <p:tgtEl>
                                    <p:spTgt spid="1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清单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68680" y="2148839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30551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03120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554480" y="2615184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/>
          <p:cNvSpPr/>
          <p:nvPr/>
        </p:nvSpPr>
        <p:spPr>
          <a:xfrm>
            <a:off x="868680" y="2807207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788919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761487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554480" y="3273551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868680" y="3465575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447287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3419856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554480" y="3931920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68680" y="4123944"/>
            <a:ext cx="310896" cy="310896"/>
          </a:xfrm>
          <a:prstGeom prst="rect">
            <a:avLst/>
          </a:prstGeom>
          <a:noFill/>
          <a:ln w="17780">
            <a:solidFill>
              <a:srgbClr val="1E5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105656"/>
            <a:ext cx="310896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1E5FBF"/>
                </a:solidFill>
                <a:latin typeface="Segoe UI"/>
                <a:ea typeface="微软雅黑"/>
                <a:cs typeface="微软雅黑"/>
              </a:rPr>
              <a:t>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78224"/>
            <a:ext cx="9692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50" b="0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在此输入待办项四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554480" y="4590288"/>
            <a:ext cx="9784080" cy="0"/>
          </a:xfrm>
          <a:prstGeom prst="line">
            <a:avLst/>
          </a:prstGeom>
          <a:ln w="7620">
            <a:solidFill>
              <a:srgbClr val="D7E0EE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ircle dir="in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810" fill="hold" nodeType="clickEffect" grpId="0" presetID="18" presetClass="entr" presetSubtype="12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ircle(in)">
                                <p:cBhvr>
                                  <p:cTn id="51" dur="81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450" fill="hold" nodeType="afterEffect" grpId="0" presetID="22" presetClass="entr" presetSubtype="1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71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570" fill="hold" nodeType="afterEffect" grpId="0" presetID="42" presetClass="entr" presetSubtype="1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91" dur="57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690" fill="hold" nodeType="afterEffect" grpId="0" presetID="43" presetClass="entr" presetSubtype="0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111" dur="69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810" fill="hold" nodeType="afterEffect" grpId="0" presetID="21" presetClass="entr" presetSubtype="2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31" dur="81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450" fill="hold" nodeType="afterEffect" grpId="0" presetID="10" presetClass="entr" presetSubtype="0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51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570" fill="hold" nodeType="afterEffect" grpId="0" presetID="2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71" dur="57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9" dur="690" fill="hold" nodeType="afterEffect" grpId="0" presetID="45" presetClass="entr" presetSubtype="1">
                            <p:stCondLst>
                              <p:cond delay="910"/>
                            </p:stCondLst>
                            <p:childTnLst>
                              <p:set>
                                <p:cBhvr>
                                  <p:cTn id="2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91" dur="690"/>
                                  <p:tgtEl>
                                    <p:spTgt spid="12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1" dur="810" fill="hold" nodeType="afterEffect" grpId="0" presetID="22" presetClass="entr" presetSubtype="8">
                            <p:stCondLst>
                              <p:cond delay="1040"/>
                            </p:stCondLst>
                            <p:childTnLst>
                              <p:set>
                                <p:cBhvr>
                                  <p:cTn id="2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1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left)">
                                <p:cBhvr>
                                  <p:cTn id="211" dur="810"/>
                                  <p:tgtEl>
                                    <p:spTgt spid="11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3" dur="450" fill="hold" nodeType="afterEffect" grpId="0" presetID="37" presetClass="entr" presetSubtype="0">
                            <p:stCondLst>
                              <p:cond delay="1170"/>
                            </p:stCondLst>
                            <p:childTnLst>
                              <p:set>
                                <p:cBhvr>
                                  <p:cTn id="2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edge">
                                <p:cBhvr>
                                  <p:cTn id="231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5" dur="570" fill="hold" nodeType="afterEffect" grpId="0" presetID="52" presetClass="entr" presetSubtype="0">
                            <p:stCondLst>
                              <p:cond delay="1300"/>
                            </p:stCondLst>
                            <p:childTnLst>
                              <p:set>
                                <p:cBhvr>
                                  <p:cTn id="2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randombar(horizontal)">
                                <p:cBhvr>
                                  <p:cTn id="251" dur="570"/>
                                  <p:tgtEl>
                                    <p:spTgt spid="1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7" dur="690" fill="hold" nodeType="afterEffect" grpId="0" presetID="21" presetClass="entr" presetSubtype="1">
                            <p:stCondLst>
                              <p:cond delay="1430"/>
                            </p:stCondLst>
                            <p:childTnLst>
                              <p:set>
                                <p:cBhvr>
                                  <p:cTn id="2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1)">
                                <p:cBhvr>
                                  <p:cTn id="271" dur="690"/>
                                  <p:tgtEl>
                                    <p:spTgt spid="1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29" dur="810" fill="hold" nodeType="afterEffect" grpId="0" presetID="22" presetClass="entr" presetSubtype="4">
                            <p:stCondLst>
                              <p:cond delay="1560"/>
                            </p:stCondLst>
                            <p:childTnLst>
                              <p:set>
                                <p:cBhvr>
                                  <p:cTn id="3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down)">
                                <p:cBhvr>
                                  <p:cTn id="291" dur="810"/>
                                  <p:tgtEl>
                                    <p:spTgt spid="1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31" dur="450" fill="hold" nodeType="afterEffect" grpId="0" presetID="9" presetClass="entr" presetSubtype="0">
                            <p:stCondLst>
                              <p:cond delay="1690"/>
                            </p:stCondLst>
                            <p:childTnLst>
                              <p:set>
                                <p:cBhvr>
                                  <p:cTn id="3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11" dur="450"/>
                                  <p:tgtEl>
                                    <p:spTgt spid="1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46304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10233F"/>
                </a:solidFill>
                <a:latin typeface="Segoe UI"/>
                <a:ea typeface="微软雅黑"/>
                <a:cs typeface="微软雅黑"/>
              </a:rPr>
              <a:t>谢谢观看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1E5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7E0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5B6B82"/>
                </a:solidFill>
                <a:latin typeface="Segoe UI"/>
                <a:ea typeface="微软雅黑"/>
                <a:cs typeface="微软雅黑"/>
              </a:rPr>
              <a:t>商务蓝调  ·  Corporate Blue</a:t>
            </a:r>
          </a:p>
        </p:txBody>
      </p:sp>
    </p:spTree>
  </p:cSld>
  <p:clrMapOvr>
    <a:masterClrMapping/>
  </p:clrMapOvr>
  <p:transition spd="med">
    <p:comb dir="horz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5" dur="450" fill="hold" nodeType="clickEffect" grpId="0" presetID="22" presetClass="entr" presetSubtype="1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ipe(up)">
                                <p:cBhvr>
                                  <p:cTn id="51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7" dur="570" fill="hold" nodeType="afterEffect" grpId="0" presetID="42" presetClass="entr" presetSubtype="10">
                            <p:stCondLst>
                              <p:cond delay="130"/>
                            </p:stCondLst>
                            <p:childTnLst>
                              <p:set>
                                <p:cBhvr>
                                  <p:cTn id="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linds(horizontal)">
                                <p:cBhvr>
                                  <p:cTn id="71" dur="57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9" dur="690" fill="hold" nodeType="afterEffect" grpId="0" presetID="43" presetClass="entr" presetSubtype="0">
                            <p:stCondLst>
                              <p:cond delay="260"/>
                            </p:stCondLst>
                            <p:childTnLst>
                              <p:set>
                                <p:cBhvr>
                                  <p:cTn id="10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checkerboard(across)">
                                <p:cBhvr>
                                  <p:cTn id="91" dur="69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1" dur="810" fill="hold" nodeType="afterEffect" grpId="0" presetID="21" presetClass="entr" presetSubtype="2">
                            <p:stCondLst>
                              <p:cond delay="390"/>
                            </p:stCondLst>
                            <p:childTnLst>
                              <p:set>
                                <p:cBhvr>
                                  <p:cTn id="12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wheel(2)">
                                <p:cBhvr>
                                  <p:cTn id="111" dur="81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3" dur="450" fill="hold" nodeType="afterEffect" grpId="0" presetID="10" presetClass="entr" presetSubtype="0">
                            <p:stCondLst>
                              <p:cond delay="520"/>
                            </p:stCondLst>
                            <p:childTnLst>
                              <p:set>
                                <p:cBhvr>
                                  <p:cTn id="14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dissolve">
                                <p:cBhvr>
                                  <p:cTn id="131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5" dur="570" fill="hold" nodeType="afterEffect" grpId="0" presetID="25" presetClass="entr" presetSubtype="1">
                            <p:stCondLst>
                              <p:cond delay="650"/>
                            </p:stCondLst>
                            <p:childTnLst>
                              <p:set>
                                <p:cBhvr>
                                  <p:cTn id="16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strips(downRight)">
                                <p:cBhvr>
                                  <p:cTn id="151" dur="57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  <p:par>
                          <p:cTn id="17" dur="690" fill="hold" nodeType="afterEffect" grpId="0" presetID="45" presetClass="entr" presetSubtype="1">
                            <p:stCondLst>
                              <p:cond delay="780"/>
                            </p:stCondLst>
                            <p:childTnLst>
                              <p:set>
                                <p:cBhvr>
                                  <p:cTn id="18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barn(inHorizontal)">
                                <p:cBhvr>
                                  <p:cTn id="171" dur="69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