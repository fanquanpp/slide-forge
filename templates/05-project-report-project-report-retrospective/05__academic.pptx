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874519"/>
            <a:ext cx="822960" cy="91440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194560"/>
            <a:ext cx="96926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44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项目汇报与复盘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9144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项目汇报与复盘 · 在此输入副标题 / 项目名称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949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团队 / 姓名  ·  YYYY-MM-DD</a:t>
            </a:r>
          </a:p>
        </p:txBody>
      </p: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目录 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目标回顾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7983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8023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8023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执行过程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结果与数据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8031" y="2377440"/>
            <a:ext cx="2430703" cy="219456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71" y="2606040"/>
            <a:ext cx="179062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6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71" y="3383280"/>
            <a:ext cx="1790623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500" b="0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反思与下一步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9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3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51" dur="69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7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10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9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31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22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目标回顾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18" presetClass="entr" presetSubtype="1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7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目标回顾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48840"/>
            <a:ext cx="10424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在此输入「目标回顾」的要点一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在此输入「目标回顾」的要点二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在此输入「目标回顾」的要点三</a:t>
            </a:r>
          </a:p>
          <a:p>
            <a:pPr>
              <a:lnSpc>
                <a:spcPct val="115000"/>
              </a:lnSpc>
              <a:spcAft>
                <a:spcPts val="1400"/>
              </a:spcAft>
            </a:pPr>
            <a:r>
              <a:rPr sz="1189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70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在此输入「目标回顾」的要点四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52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1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4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9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2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18" presetClass="entr" presetSubtype="1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执行过程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5029200" cy="109728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A · 目标回顾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21031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2103120"/>
            <a:ext cx="5029200" cy="109728"/>
          </a:xfrm>
          <a:prstGeom prst="rect">
            <a:avLst/>
          </a:prstGeom>
          <a:solidFill>
            <a:srgbClr val="B455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237744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B · 执行过程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063240"/>
            <a:ext cx="42976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B4552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B4552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100"/>
              </a:spcAft>
            </a:pPr>
            <a:r>
              <a:rPr sz="1014">
                <a:solidFill>
                  <a:srgbClr val="B4552D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45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4" name="Oval 13"/>
          <p:cNvSpPr/>
          <p:nvPr/>
        </p:nvSpPr>
        <p:spPr>
          <a:xfrm>
            <a:off x="5711799" y="3703320"/>
            <a:ext cx="768096" cy="768096"/>
          </a:xfrm>
          <a:prstGeom prst="ellipse">
            <a:avLst/>
          </a:prstGeom>
          <a:solidFill>
            <a:srgbClr val="22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1799" y="3703320"/>
            <a:ext cx="768096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1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4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9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2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18" presetClass="entr" presetSubtype="1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22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5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42" presetClass="entr" presetSubtype="1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7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43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1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1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10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3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2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45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7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2" presetClass="entr" presetSubtype="8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91" dur="81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37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关键数据一览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43000" y="2468879"/>
            <a:ext cx="457200" cy="54864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指标一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7983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8023" y="2468879"/>
            <a:ext cx="457200" cy="54864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8023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8023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指标二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8023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3047" y="2468879"/>
            <a:ext cx="457200" cy="54864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53047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53047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指标三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3047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38031" y="2103120"/>
            <a:ext cx="2430703" cy="388620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071" y="2468879"/>
            <a:ext cx="457200" cy="54864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071" y="2651760"/>
            <a:ext cx="1790623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071" y="4590288"/>
            <a:ext cx="179062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指标四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71" y="5212080"/>
            <a:ext cx="1790623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4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9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2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18" presetClass="entr" presetSubtype="1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22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3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42" presetClass="entr" presetSubtype="1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5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43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71" dur="690"/>
                                  <p:tgtEl>
                                    <p:spTgt spid="2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1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9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10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1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3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45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2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51" dur="690"/>
                                  <p:tgtEl>
                                    <p:spTgt spid="2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2" presetClass="entr" presetSubtype="8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7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37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9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52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311" dur="57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排期 / 路线图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234440" y="3063240"/>
            <a:ext cx="9722815" cy="0"/>
          </a:xfrm>
          <a:prstGeom prst="line">
            <a:avLst/>
          </a:prstGeom>
          <a:ln w="25400">
            <a:solidFill>
              <a:srgbClr val="DD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88136" y="2916936"/>
            <a:ext cx="292608" cy="292608"/>
          </a:xfrm>
          <a:prstGeom prst="ellipse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目标回顾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1" name="Oval 10"/>
          <p:cNvSpPr/>
          <p:nvPr/>
        </p:nvSpPr>
        <p:spPr>
          <a:xfrm>
            <a:off x="4329074" y="2916936"/>
            <a:ext cx="292608" cy="292608"/>
          </a:xfrm>
          <a:prstGeom prst="ellipse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09618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0978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执行过程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0978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5" name="Oval 14"/>
          <p:cNvSpPr/>
          <p:nvPr/>
        </p:nvSpPr>
        <p:spPr>
          <a:xfrm>
            <a:off x="7570012" y="2916936"/>
            <a:ext cx="292608" cy="292608"/>
          </a:xfrm>
          <a:prstGeom prst="ellipse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50556" y="2496312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01916" y="182880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结果与数据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916" y="221284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19" name="Oval 18"/>
          <p:cNvSpPr/>
          <p:nvPr/>
        </p:nvSpPr>
        <p:spPr>
          <a:xfrm>
            <a:off x="10810951" y="2916936"/>
            <a:ext cx="292608" cy="292608"/>
          </a:xfrm>
          <a:prstGeom prst="ellipse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91495" y="3154680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42855" y="34747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反思与下一步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2855" y="3858768"/>
            <a:ext cx="1828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在此输入说明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split orient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9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22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18" presetClass="entr" presetSubtype="1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22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11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42" presetClass="entr" presetSubtype="1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3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43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5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1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7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10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9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2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45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2" presetClass="entr" presetSubtype="8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5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37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7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52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91" dur="570"/>
                                  <p:tgtEl>
                                    <p:spTgt spid="1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1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3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工作流程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34508C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6241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B7280"/>
                </a:solidFill>
                <a:latin typeface="Georgia"/>
                <a:ea typeface="宋体"/>
                <a:cs typeface="宋体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6553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17721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执行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9835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B7280"/>
                </a:solidFill>
                <a:latin typeface="Georgia"/>
                <a:ea typeface="宋体"/>
                <a:cs typeface="宋体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0147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34508C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1315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Georgia"/>
                <a:ea typeface="宋体"/>
                <a:cs typeface="宋体"/>
              </a:rPr>
              <a:t>检查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93429" y="3246120"/>
            <a:ext cx="1920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800" b="0" i="0">
                <a:solidFill>
                  <a:srgbClr val="6B7280"/>
                </a:solidFill>
                <a:latin typeface="Georgia"/>
                <a:ea typeface="宋体"/>
                <a:cs typeface="宋体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03741" y="2743200"/>
            <a:ext cx="2464993" cy="1371600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04909" y="3246120"/>
            <a:ext cx="206265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4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改进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blinds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22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18" presetClass="entr" presetSubtype="1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22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42" presetClass="entr" presetSubtype="1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43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3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1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10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7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9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45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21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2" presetClass="entr" presetSubtype="8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3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37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5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52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7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1" presetClass="entr" presetSubtype="1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91" dur="69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22" presetClass="entr" presetSubtype="4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3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数据图表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103120"/>
            <a:ext cx="7680960" cy="388620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371600" y="3877056"/>
            <a:ext cx="685800" cy="1609344"/>
          </a:xfrm>
          <a:prstGeom prst="rect">
            <a:avLst/>
          </a:prstGeom>
          <a:solidFill>
            <a:srgbClr val="34508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14600" y="3145535"/>
            <a:ext cx="685800" cy="2340864"/>
          </a:xfrm>
          <a:prstGeom prst="rect">
            <a:avLst/>
          </a:prstGeom>
          <a:solidFill>
            <a:srgbClr val="B4552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0" y="4169663"/>
            <a:ext cx="685800" cy="1316736"/>
          </a:xfrm>
          <a:prstGeom prst="rect">
            <a:avLst/>
          </a:prstGeom>
          <a:solidFill>
            <a:srgbClr val="34508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00600" y="2706624"/>
            <a:ext cx="685800" cy="2779776"/>
          </a:xfrm>
          <a:prstGeom prst="rect">
            <a:avLst/>
          </a:prstGeom>
          <a:solidFill>
            <a:srgbClr val="B4552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0" y="3438144"/>
            <a:ext cx="685800" cy="2048255"/>
          </a:xfrm>
          <a:prstGeom prst="rect">
            <a:avLst/>
          </a:prstGeom>
          <a:solidFill>
            <a:srgbClr val="34508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86600" y="3730752"/>
            <a:ext cx="685800" cy="1755648"/>
          </a:xfrm>
          <a:prstGeom prst="rect">
            <a:avLst/>
          </a:prstGeom>
          <a:solidFill>
            <a:srgbClr val="B4552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" y="562356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图表占位 · 在 PowerPoint 中插入图表替换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2240280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关键结论 / 解读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743200"/>
            <a:ext cx="26517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在此输入要点一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在此输入要点二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875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●  </a:t>
            </a:r>
            <a:r>
              <a:rPr sz="125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在此输入要点三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circle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18" presetClass="entr" presetSubtype="1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22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42" presetClass="entr" presetSubtype="1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43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1" presetClass="entr" presetSubtype="2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3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10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5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71" dur="57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45" presetClass="entr" presetSubtype="1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9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8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211" dur="81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37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3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52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5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1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22" presetClass="entr" presetSubtype="4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91" dur="81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9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明细表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48840"/>
            <a:ext cx="10545775" cy="640080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项目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1098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36356" y="227685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备注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788920"/>
            <a:ext cx="10545775" cy="6400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>
            <a:off x="822960" y="2788920"/>
            <a:ext cx="10545775" cy="0"/>
          </a:xfrm>
          <a:prstGeom prst="line">
            <a:avLst/>
          </a:prstGeom>
          <a:ln w="7620">
            <a:solidFill>
              <a:srgbClr val="DD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项一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6356" y="291693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3429000"/>
            <a:ext cx="10545775" cy="0"/>
          </a:xfrm>
          <a:prstGeom prst="line">
            <a:avLst/>
          </a:prstGeom>
          <a:ln w="7620">
            <a:solidFill>
              <a:srgbClr val="DD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项二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6356" y="3557016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069079"/>
            <a:ext cx="10545775" cy="640080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822960" y="4069079"/>
            <a:ext cx="10545775" cy="0"/>
          </a:xfrm>
          <a:prstGeom prst="line">
            <a:avLst/>
          </a:prstGeom>
          <a:ln w="7620">
            <a:solidFill>
              <a:srgbClr val="DD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项三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在此填内容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36356" y="4197095"/>
            <a:ext cx="3149498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在此填备注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comb dir="horz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22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42" presetClass="entr" presetSubtype="1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43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1" presetClass="entr" presetSubtype="2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10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45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71" dur="69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8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9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37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21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52" presetClass="entr" presetSubtype="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3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21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51" dur="69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2" presetClass="entr" presetSubtype="4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7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9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91" dur="45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22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31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KEY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图集 / 案例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32378" cy="180594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作品 1</a:t>
            </a:r>
          </a:p>
        </p:txBody>
      </p:sp>
      <p:sp>
        <p:nvSpPr>
          <p:cNvPr id="8" name="Rectangle 7"/>
          <p:cNvSpPr/>
          <p:nvPr/>
        </p:nvSpPr>
        <p:spPr>
          <a:xfrm>
            <a:off x="4429658" y="2103120"/>
            <a:ext cx="3332378" cy="180594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29658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作品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36356" y="2103120"/>
            <a:ext cx="3332378" cy="180594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36356" y="284149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作品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183379"/>
            <a:ext cx="3332378" cy="180594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作品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29658" y="4183379"/>
            <a:ext cx="3332378" cy="180594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9658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作品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36356" y="4183379"/>
            <a:ext cx="3332378" cy="1805940"/>
          </a:xfrm>
          <a:prstGeom prst="rect">
            <a:avLst/>
          </a:prstGeom>
          <a:solidFill>
            <a:srgbClr val="F4F6F8"/>
          </a:solidFill>
          <a:ln w="12700">
            <a:solidFill>
              <a:srgbClr val="DDE3E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36356" y="4921757"/>
            <a:ext cx="333237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作品 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42" presetClass="entr" presetSubtype="1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43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1" presetClass="entr" presetSubtype="2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10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111" dur="45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2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3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45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51" dur="69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8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7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37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9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52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211" dur="57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21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231" dur="69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2" presetClass="entr" presetSubtype="4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251" dur="81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9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7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22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9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18" presetClass="entr" presetSubtype="1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31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20240"/>
            <a:ext cx="2743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400"/>
              </a:spcAft>
            </a:pPr>
            <a:r>
              <a:rPr sz="96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566928" cy="54864"/>
          </a:xfrm>
          <a:prstGeom prst="rect">
            <a:avLst/>
          </a:prstGeom>
          <a:solidFill>
            <a:srgbClr val="222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结果与数据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7863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在此输入本章导语 · 一句话点题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43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1" presetClass="entr" presetSubtype="2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10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2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45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8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37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828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5176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2600" b="0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在此输入一条关键复盘结论。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4754880"/>
            <a:ext cx="566928" cy="54864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49377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— 署名 / 出处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1" presetClass="entr" presetSubtype="2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10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2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45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8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31" dur="81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37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51" dur="45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52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71" dur="57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团队 / 分工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879549" y="2697480"/>
            <a:ext cx="1188720" cy="1188720"/>
          </a:xfrm>
          <a:prstGeom prst="ellipse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9549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姓名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角色一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44898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501487" y="2697480"/>
            <a:ext cx="1188720" cy="1188720"/>
          </a:xfrm>
          <a:prstGeom prst="ellipse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1487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7778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7778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角色二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6836" y="2286000"/>
            <a:ext cx="3301898" cy="329184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23426" y="2697480"/>
            <a:ext cx="1188720" cy="1188720"/>
          </a:xfrm>
          <a:prstGeom prst="ellipse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23426" y="2697480"/>
            <a:ext cx="118872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1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头像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9716" y="411480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姓名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9716" y="4526280"/>
            <a:ext cx="29361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0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角色三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checker dir="across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10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2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45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8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37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31" dur="45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52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51" dur="57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690" fill="hold" nodeType="afterEffect" grpId="0" presetID="21" presetClass="entr" presetSubtype="1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7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810" fill="hold" nodeType="afterEffect" grpId="0" presetID="22" presetClass="entr" presetSubtype="4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9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450" fill="hold" nodeType="afterEffect" grpId="0" presetID="9" presetClass="entr" presetSubtype="0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1" dur="45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570" fill="hold" nodeType="afterEffect" grpId="0" presetID="22" presetClass="entr" presetSubtype="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3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690" fill="hold" nodeType="afterEffect" grpId="0" presetID="18" presetClass="entr" presetSubtype="12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51" dur="69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810" fill="hold" nodeType="afterEffect" grpId="0" presetID="22" presetClass="entr" presetSubtype="1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71" dur="810"/>
                                  <p:tgtEl>
                                    <p:spTgt spid="1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450" fill="hold" nodeType="afterEffect" grpId="0" presetID="42" presetClass="entr" presetSubtype="1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9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570" fill="hold" nodeType="afterEffect" grpId="0" presetID="43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31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分步说明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371600" y="2286000"/>
            <a:ext cx="0" cy="2331720"/>
          </a:xfrm>
          <a:prstGeom prst="line">
            <a:avLst/>
          </a:prstGeom>
          <a:ln w="20320">
            <a:solidFill>
              <a:srgbClr val="DD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197864" y="2212848"/>
            <a:ext cx="347472" cy="347472"/>
          </a:xfrm>
          <a:prstGeom prst="ellipse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97864" y="221284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1488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目标回顾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48716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1" name="Oval 10"/>
          <p:cNvSpPr/>
          <p:nvPr/>
        </p:nvSpPr>
        <p:spPr>
          <a:xfrm>
            <a:off x="1197864" y="2990088"/>
            <a:ext cx="347472" cy="347472"/>
          </a:xfrm>
          <a:prstGeom prst="ellipse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97864" y="299008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9260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执行过程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26440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5" name="Oval 14"/>
          <p:cNvSpPr/>
          <p:nvPr/>
        </p:nvSpPr>
        <p:spPr>
          <a:xfrm>
            <a:off x="1197864" y="3767327"/>
            <a:ext cx="347472" cy="347472"/>
          </a:xfrm>
          <a:prstGeom prst="ellipse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97864" y="376732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7033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结果与数据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04164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19" name="Oval 18"/>
          <p:cNvSpPr/>
          <p:nvPr/>
        </p:nvSpPr>
        <p:spPr>
          <a:xfrm>
            <a:off x="1197864" y="4544567"/>
            <a:ext cx="347472" cy="347472"/>
          </a:xfrm>
          <a:prstGeom prst="ellipse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97864" y="454456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  <a:ea typeface="微软雅黑"/>
                <a:cs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480559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反思与下一步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4818888"/>
            <a:ext cx="8961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在此输入步骤说明（占位）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570" fill="hold" nodeType="clickEffect" grpId="0" presetID="2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51" dur="57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690" fill="hold" nodeType="afterEffect" grpId="0" presetID="45" presetClass="entr" presetSubtype="1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71" dur="69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810" fill="hold" nodeType="afterEffect" grpId="0" presetID="22" presetClass="entr" presetSubtype="8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91" dur="81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450" fill="hold" nodeType="afterEffect" grpId="0" presetID="37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11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570" fill="hold" nodeType="afterEffect" grpId="0" presetID="52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31" dur="57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690" fill="hold" nodeType="afterEffect" grpId="0" presetID="21" presetClass="entr" presetSubtype="1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51" dur="69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810" fill="hold" nodeType="afterEffect" grpId="0" presetID="22" presetClass="entr" presetSubtype="4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7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450" fill="hold" nodeType="afterEffect" grpId="0" presetID="9" presetClass="entr" presetSubtype="0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91" dur="45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570" fill="hold" nodeType="afterEffect" grpId="0" presetID="22" presetClass="entr" presetSubtype="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21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690" fill="hold" nodeType="afterEffect" grpId="0" presetID="18" presetClass="entr" presetSubtype="12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3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810" fill="hold" nodeType="afterEffect" grpId="0" presetID="22" presetClass="entr" presetSubtype="1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5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450" fill="hold" nodeType="afterEffect" grpId="0" presetID="42" presetClass="entr" presetSubtype="1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7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570" fill="hold" nodeType="afterEffect" grpId="0" presetID="43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91" dur="570"/>
                                  <p:tgtEl>
                                    <p:spTgt spid="1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690" fill="hold" nodeType="afterEffect" grpId="0" presetID="21" presetClass="entr" presetSubtype="2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31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GLOSSARY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术语表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术语一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2103120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2633472"/>
            <a:ext cx="10515600" cy="0"/>
          </a:xfrm>
          <a:prstGeom prst="line">
            <a:avLst/>
          </a:prstGeom>
          <a:ln w="7620">
            <a:solidFill>
              <a:srgbClr val="DD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60" y="2761487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术语二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761487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3291839"/>
            <a:ext cx="10515600" cy="0"/>
          </a:xfrm>
          <a:prstGeom prst="line">
            <a:avLst/>
          </a:prstGeom>
          <a:ln w="7620">
            <a:solidFill>
              <a:srgbClr val="DD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3419856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术语三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419856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22960" y="3950207"/>
            <a:ext cx="10515600" cy="0"/>
          </a:xfrm>
          <a:prstGeom prst="line">
            <a:avLst/>
          </a:prstGeom>
          <a:ln w="7620">
            <a:solidFill>
              <a:srgbClr val="DD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22960" y="4078224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术语四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4078224"/>
            <a:ext cx="749807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 i="0">
                <a:solidFill>
                  <a:srgbClr val="22252A"/>
                </a:solidFill>
                <a:latin typeface="Segoe UI"/>
                <a:ea typeface="微软雅黑"/>
                <a:cs typeface="微软雅黑"/>
              </a:rPr>
              <a:t>在此输入释义（占位）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22960" y="4608576"/>
            <a:ext cx="10515600" cy="0"/>
          </a:xfrm>
          <a:prstGeom prst="line">
            <a:avLst/>
          </a:prstGeom>
          <a:ln w="7620">
            <a:solidFill>
              <a:srgbClr val="DDE3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690" fill="hold" nodeType="clickEffect" grpId="0" presetID="45" presetClass="entr" presetSubtype="1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arn(inHorizontal)">
                                <p:cBhvr>
                                  <p:cTn id="51" dur="69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810" fill="hold" nodeType="afterEffect" grpId="0" presetID="22" presetClass="entr" presetSubtype="8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71" dur="81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450" fill="hold" nodeType="afterEffect" grpId="0" presetID="37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91" dur="45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570" fill="hold" nodeType="afterEffect" grpId="0" presetID="52" presetClass="entr" presetSubtype="0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111" dur="57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690" fill="hold" nodeType="afterEffect" grpId="0" presetID="21" presetClass="entr" presetSubtype="1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31" dur="69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810" fill="hold" nodeType="afterEffect" grpId="0" presetID="22" presetClass="entr" presetSubtype="4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5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450" fill="hold" nodeType="afterEffect" grpId="0" presetID="9" presetClass="entr" presetSubtype="0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1" dur="45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570" fill="hold" nodeType="afterEffect" grpId="0" presetID="22" presetClass="entr" presetSubtype="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91" dur="57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690" fill="hold" nodeType="afterEffect" grpId="0" presetID="18" presetClass="entr" presetSubtype="12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21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810" fill="hold" nodeType="afterEffect" grpId="0" presetID="22" presetClass="entr" presetSubtype="1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31" dur="81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450" fill="hold" nodeType="afterEffect" grpId="0" presetID="42" presetClass="entr" presetSubtype="1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51" dur="45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570" fill="hold" nodeType="afterEffect" grpId="0" presetID="43" presetClass="entr" presetSubtype="0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71" dur="57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690" fill="hold" nodeType="afterEffect" grpId="0" presetID="21" presetClass="entr" presetSubtype="2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810" fill="hold" nodeType="afterEffect" grpId="0" presetID="10" presetClass="entr" presetSubtype="0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311" dur="81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 i="0">
                <a:solidFill>
                  <a:srgbClr val="34508C"/>
                </a:solidFill>
                <a:latin typeface="Segoe UI"/>
                <a:ea typeface="微软雅黑"/>
                <a:cs typeface="微软雅黑"/>
              </a:rPr>
              <a:t>HIGHLIGHT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关键指标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72768"/>
            <a:ext cx="566928" cy="50292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4572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7200" b="1" i="0">
                <a:solidFill>
                  <a:srgbClr val="34508C"/>
                </a:solidFill>
                <a:latin typeface="Georgia"/>
                <a:ea typeface="宋体"/>
                <a:cs typeface="宋体"/>
              </a:rPr>
              <a:t>00%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749039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在此输入指标说明 · 占位文本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2194560"/>
            <a:ext cx="5394960" cy="356616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9525">
            <a:solidFill>
              <a:srgbClr val="DDE3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09360" y="4370832"/>
            <a:ext cx="438912" cy="1024127"/>
          </a:xfrm>
          <a:prstGeom prst="rect">
            <a:avLst/>
          </a:prstGeom>
          <a:solidFill>
            <a:srgbClr val="34508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04304" y="3730752"/>
            <a:ext cx="438912" cy="1664207"/>
          </a:xfrm>
          <a:prstGeom prst="rect">
            <a:avLst/>
          </a:prstGeom>
          <a:solidFill>
            <a:srgbClr val="B4552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99248" y="4114800"/>
            <a:ext cx="438912" cy="1280160"/>
          </a:xfrm>
          <a:prstGeom prst="rect">
            <a:avLst/>
          </a:prstGeom>
          <a:solidFill>
            <a:srgbClr val="34508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94192" y="3218688"/>
            <a:ext cx="438912" cy="2176272"/>
          </a:xfrm>
          <a:prstGeom prst="rect">
            <a:avLst/>
          </a:prstGeom>
          <a:solidFill>
            <a:srgbClr val="B4552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089136" y="3858768"/>
            <a:ext cx="438912" cy="1536192"/>
          </a:xfrm>
          <a:prstGeom prst="rect">
            <a:avLst/>
          </a:prstGeom>
          <a:solidFill>
            <a:srgbClr val="34508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784080" y="2962656"/>
            <a:ext cx="438912" cy="2432303"/>
          </a:xfrm>
          <a:prstGeom prst="rect">
            <a:avLst/>
          </a:prstGeom>
          <a:solidFill>
            <a:srgbClr val="B4552D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479024" y="3602736"/>
            <a:ext cx="438912" cy="1792223"/>
          </a:xfrm>
          <a:prstGeom prst="rect">
            <a:avLst/>
          </a:prstGeom>
          <a:solidFill>
            <a:srgbClr val="34508C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810" fill="hold" nodeType="clickEffect" grpId="0" presetID="22" presetClass="entr" presetSubtype="8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left)">
                                <p:cBhvr>
                                  <p:cTn id="51" dur="81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450" fill="hold" nodeType="afterEffect" grpId="0" presetID="37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71" dur="45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570" fill="hold" nodeType="afterEffect" grpId="0" presetID="52" presetClass="entr" presetSubtype="0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91" dur="57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690" fill="hold" nodeType="afterEffect" grpId="0" presetID="21" presetClass="entr" presetSubtype="1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111" dur="69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810" fill="hold" nodeType="afterEffect" grpId="0" presetID="22" presetClass="entr" presetSubtype="4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31" dur="81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450" fill="hold" nodeType="afterEffect" grpId="0" presetID="9" presetClass="entr" presetSubtype="0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51" dur="45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7" dur="570" fill="hold" nodeType="afterEffect" grpId="0" presetID="22" presetClass="entr" presetSubtype="2">
                            <p:stCondLst>
                              <p:cond delay="780"/>
                            </p:stCondLst>
                            <p:childTnLs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71" dur="57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9" dur="690" fill="hold" nodeType="afterEffect" grpId="0" presetID="18" presetClass="entr" presetSubtype="12">
                            <p:stCondLst>
                              <p:cond delay="91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ircle(in)">
                                <p:cBhvr>
                                  <p:cTn id="191" dur="69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1" dur="810" fill="hold" nodeType="afterEffect" grpId="0" presetID="22" presetClass="entr" presetSubtype="1">
                            <p:stCondLst>
                              <p:cond delay="1040"/>
                            </p:stCondLst>
                            <p:childTnLst>
                              <p:set>
                                <p:cBhvr>
                                  <p:cTn id="2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up)">
                                <p:cBhvr>
                                  <p:cTn id="211" dur="81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3" dur="450" fill="hold" nodeType="afterEffect" grpId="0" presetID="42" presetClass="entr" presetSubtype="10">
                            <p:stCondLst>
                              <p:cond delay="117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blinds(horizontal)">
                                <p:cBhvr>
                                  <p:cTn id="2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5" dur="570" fill="hold" nodeType="afterEffect" grpId="0" presetID="43" presetClass="entr" presetSubtype="0">
                            <p:stCondLst>
                              <p:cond delay="1300"/>
                            </p:stCondLst>
                            <p:childTnLst>
                              <p:set>
                                <p:cBhvr>
                                  <p:cTn id="2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checkerboard(across)">
                                <p:cBhvr>
                                  <p:cTn id="251" dur="570"/>
                                  <p:tgtEl>
                                    <p:spTgt spid="1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7" dur="690" fill="hold" nodeType="afterEffect" grpId="0" presetID="21" presetClass="entr" presetSubtype="2">
                            <p:stCondLst>
                              <p:cond delay="1430"/>
                            </p:stCondLst>
                            <p:childTnLst>
                              <p:set>
                                <p:cBhvr>
                                  <p:cTn id="2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2)">
                                <p:cBhvr>
                                  <p:cTn id="271" dur="690"/>
                                  <p:tgtEl>
                                    <p:spTgt spid="11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29" dur="810" fill="hold" nodeType="afterEffect" grpId="0" presetID="10" presetClass="entr" presetSubtype="0">
                            <p:stCondLst>
                              <p:cond delay="1560"/>
                            </p:stCondLst>
                            <p:childTnLst>
                              <p:set>
                                <p:cBhvr>
                                  <p:cTn id="3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dissolve">
                                <p:cBhvr>
                                  <p:cTn id="291" dur="810"/>
                                  <p:tgtEl>
                                    <p:spTgt spid="9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31" dur="450" fill="hold" nodeType="afterEffect" grpId="0" presetID="25" presetClass="entr" presetSubtype="1">
                            <p:stCondLst>
                              <p:cond delay="1690"/>
                            </p:stCondLst>
                            <p:childTnLst>
                              <p:set>
                                <p:cBhvr>
                                  <p:cTn id="3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strips(downRight)">
                                <p:cBhvr>
                                  <p:cTn id="311" dur="450"/>
                                  <p:tgtEl>
                                    <p:spTgt spid="1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475488"/>
            <a:ext cx="2194560" cy="18288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651760"/>
            <a:ext cx="9966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800" b="1" i="0">
                <a:solidFill>
                  <a:srgbClr val="22252A"/>
                </a:solidFill>
                <a:latin typeface="Georgia"/>
                <a:ea typeface="宋体"/>
                <a:cs typeface="宋体"/>
              </a:rPr>
              <a:t>谢谢观看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84367" y="3931920"/>
            <a:ext cx="822960" cy="91440"/>
          </a:xfrm>
          <a:prstGeom prst="rect">
            <a:avLst/>
          </a:prstGeom>
          <a:solidFill>
            <a:srgbClr val="345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9966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6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在此输入联系方式 / 二维码 / 致谢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291072"/>
            <a:ext cx="10545775" cy="7315"/>
          </a:xfrm>
          <a:prstGeom prst="rect">
            <a:avLst/>
          </a:prstGeom>
          <a:solidFill>
            <a:srgbClr val="DDE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355080"/>
            <a:ext cx="6583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 i="0">
                <a:solidFill>
                  <a:srgbClr val="6B7280"/>
                </a:solidFill>
                <a:latin typeface="Segoe UI"/>
                <a:ea typeface="微软雅黑"/>
                <a:cs typeface="微软雅黑"/>
              </a:rPr>
              <a:t>学术严谨  ·  Academic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5" dur="450" fill="hold" nodeType="clickEffect" grpId="0" presetID="37" presetClass="entr" presetSubtype="0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edge">
                                <p:cBhvr>
                                  <p:cTn id="51" dur="45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7" dur="570" fill="hold" nodeType="afterEffect" grpId="0" presetID="52" presetClass="entr" presetSubtype="0">
                            <p:stCondLst>
                              <p:cond delay="130"/>
                            </p:stCondLst>
                            <p:childTnLst>
                              <p:set>
                                <p:cBhvr>
                                  <p:cTn id="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randombar(horizontal)">
                                <p:cBhvr>
                                  <p:cTn id="71" dur="570"/>
                                  <p:tgtEl>
                                    <p:spTgt spid="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9" dur="690" fill="hold" nodeType="afterEffect" grpId="0" presetID="21" presetClass="entr" presetSubtype="1">
                            <p:stCondLst>
                              <p:cond delay="260"/>
                            </p:stCondLst>
                            <p:childTnLs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heel(1)">
                                <p:cBhvr>
                                  <p:cTn id="91" dur="69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1" dur="810" fill="hold" nodeType="afterEffect" grpId="0" presetID="22" presetClass="entr" presetSubtype="4">
                            <p:stCondLst>
                              <p:cond delay="39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down)">
                                <p:cBhvr>
                                  <p:cTn id="111" dur="81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3" dur="450" fill="hold" nodeType="afterEffect" grpId="0" presetID="9" presetClass="entr" presetSubtype="0">
                            <p:stCondLst>
                              <p:cond delay="520"/>
                            </p:stCondLst>
                            <p:childTnLs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1" dur="45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15" dur="570" fill="hold" nodeType="afterEffect" grpId="0" presetID="22" presetClass="entr" presetSubtype="2">
                            <p:stCondLst>
                              <p:cond delay="65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wipe(right)">
                                <p:cBhvr>
                                  <p:cTn id="151" dur="57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