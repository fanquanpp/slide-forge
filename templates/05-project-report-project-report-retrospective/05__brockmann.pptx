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示例构成（右键 → 编辑数据）</c:v>
                </c:pt>
              </c:strCache>
            </c:strRef>
          </c:tx>
          <c:dPt>
            <c:idx val="0"/>
            <c:spPr>
              <a:solidFill>
                <a:srgbClr val="E2231A"/>
              </a:solidFill>
            </c:spPr>
          </c:dPt>
          <c:dPt>
            <c:idx val="1"/>
            <c:spPr>
              <a:solidFill>
                <a:srgbClr val="111111"/>
              </a:solidFill>
            </c:spPr>
          </c:dPt>
          <c:dPt>
            <c:idx val="2"/>
            <c:spPr>
              <a:solidFill>
                <a:srgbClr val="E2231A"/>
              </a:solidFill>
            </c:spPr>
          </c:dPt>
          <c:dPt>
            <c:idx val="3"/>
            <c:spPr>
              <a:solidFill>
                <a:srgbClr val="111111"/>
              </a:solidFill>
            </c:spPr>
          </c:dPt>
          <c:cat>
            <c:strRef>
              <c:f>Sheet1!$A$2:$A$5</c:f>
              <c:strCache>
                <c:ptCount val="4"/>
                <c:pt idx="0">
                  <c:v>板块一</c:v>
                </c:pt>
                <c:pt idx="1">
                  <c:v>板块二</c:v>
                </c:pt>
                <c:pt idx="2">
                  <c:v>板块三</c:v>
                </c:pt>
                <c:pt idx="3">
                  <c:v>板块四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【页面定位】SECTION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【页面定位】01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【页面定位】OVERVIEW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【页面定位】METRICS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【页面定位】PROCESS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【页面定位】DATA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【页面定位】KEY POINTS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【页面定位】02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【页面定位】在此输入一条关键复盘结论。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【页面定位】SWOT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【页面定位】TEAM —— 收尾页：总结要点并给出行动号召或联系方式。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【页面定位】RISK MATRIX —— 开场页：自我介绍或破题，停留时间可稍长。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【页面定位】OPTIONS —— 概览页：快速带过结构，告诉听众接下来讲什么。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【页面定位】MATRIX —— 内容页：逐条展开，配合动画节奏点击推进。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【页面定位】谢谢观看 —— 数据页：先说结论，再用图表佐证。</a:t>
            </a:r>
          </a:p>
          <a:p>
            <a:r>
              <a:t>【放映】内容元素按层次错峰入场（装饰与页脚保持静态，不抢戏）；开启“使用计时器”后按本页驻留时长（6/8/10 秒）自动翻页。</a:t>
            </a:r>
          </a:p>
          <a:p>
            <a:r>
              <a:t>【编辑】直接点击文本框替换占位文字；「设计 → 变体 → 颜色」可一键换成本套内置主题色；图片占位框右键“更改图片”即可替换。</a:t>
            </a:r>
          </a:p>
          <a:p>
            <a:r>
              <a:t>【联动】图表为原生可编辑图表：右键“编辑数据”即可替换数值。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:decor-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rome:decor-4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rome:decor-5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:decor-6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decor-7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:decor-8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:decor-9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:decor-10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rome:decor-11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rome:decor-12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:decor-13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E2231A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194560"/>
            <a:ext cx="3657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SECTION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286000"/>
            <a:ext cx="6035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36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项目汇报与复盘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420624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项目汇报与复盘 · 在此输入副标题 / 项目名称</a:t>
            </a:r>
          </a:p>
        </p:txBody>
      </p:sp>
    </p:spTree>
  </p:cSld>
  <p:clrMapOvr>
    <a:masterClrMapping/>
  </p:clrMapOvr>
  <p:transition spd="med" advClick="1" advTm="6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0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目标回顾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结果与数据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反思与下一步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0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2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4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6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8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0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2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4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6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8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:decor-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rome:decor-4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rome:decor-5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:decor-6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decor-7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:decor-8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:decor-9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:decor-10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rome:decor-11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rome:decor-12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:decor-13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目标回顾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20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reveal dir="r"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6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8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01" dur="69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目标回顾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57400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1031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在此输入「目标回顾」的要点一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2660904"/>
            <a:ext cx="9418320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843784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9503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在此输入「目标回顾」的要点二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20240" y="3447288"/>
            <a:ext cx="9418320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630168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675887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在此输入「目标回顾」的要点三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920240" y="4233672"/>
            <a:ext cx="9418320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4165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462272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在此输入「目标回顾」的要点四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20240" y="5020056"/>
            <a:ext cx="9418320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2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4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6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8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0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2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4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6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8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0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A · 目标回顾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B · 执行过程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0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2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4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6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8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0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2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4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6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 advClick="1" advTm="10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0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2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41" dur="81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6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8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21" dur="81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4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6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8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01" dur="810"/>
                                  <p:tgtEl>
                                    <p:spTgt spid="2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目标回顾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结果与数据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反思与下一步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 advClick="1" advTm="8000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8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2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41" dur="45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6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52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21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2" presetClass="entr" presetSubtype="4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2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9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22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61" dur="69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18" presetClass="entr" presetSubtype="1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22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30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E2231A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E2231A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检查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改进</a:t>
            </a:r>
          </a:p>
        </p:txBody>
      </p:sp>
      <p:sp>
        <p:nvSpPr>
          <p:cNvPr id="17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 advClick="1" advTm="8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0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2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4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6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21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8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22" presetClass="entr" presetSubtype="4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0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9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2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22" presetClass="entr" presetSubtype="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4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18" presetClass="entr" presetSubtype="1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6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22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8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1371600" y="2286000"/>
          <a:ext cx="548640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原生可编辑图表 · 右键图表 → 编辑数据 即可替换数值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 advClick="1" advTm="10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0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2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4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6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 advClick="1" advTm="10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2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4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6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8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2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4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6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7F7F5"/>
          </a:solidFill>
          <a:ln w="12700">
            <a:solidFill>
              <a:srgbClr val="D8D8D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pan dir="l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0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2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4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8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0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2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4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6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8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0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:decor-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rome:decor-4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rome:decor-5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:decor-6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decor-7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:decor-8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:decor-9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:decor-10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rome:decor-11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rome:decor-12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:decor-13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结果与数据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20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6000">
        <p14:reveal dir="r"/>
      </p:transition>
    </mc:Choice>
    <mc:Fallback>
      <p:transition spd="med" advClick="1" advTm="6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4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6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81" dur="69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01" dur="81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:decor-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rome:decor-4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rome:decor-5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:decor-6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decor-7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:decor-8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:decor-9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:decor-10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rome:decor-11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rome:decor-12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:decor-13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在此输入一条关键复盘结论。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20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4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6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8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0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SWOT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态势分析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109728" cy="182880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4942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77439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优势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88036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10312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5080" y="2103120"/>
            <a:ext cx="109728" cy="18288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24942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2377439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劣势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88036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06908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069080"/>
            <a:ext cx="109728" cy="182880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21538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34340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机会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84632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406908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4069080"/>
            <a:ext cx="109728" cy="182880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215384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4343400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挑战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846320"/>
            <a:ext cx="4480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804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1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2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2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4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22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6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42" presetClass="entr" presetSubtype="1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8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43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0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1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2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10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4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2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6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45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22" presetClass="entr" presetSubtype="8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gallery dir="r"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4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6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8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69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0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81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2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45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4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57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6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69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8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81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0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45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2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57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4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69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6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81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8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45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01" dur="45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RISK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概率 × 影响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2148840"/>
            <a:ext cx="2194560" cy="896112"/>
          </a:xfrm>
          <a:prstGeom prst="rect">
            <a:avLst/>
          </a:prstGeom>
          <a:solidFill>
            <a:srgbClr val="111111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261104" y="2148840"/>
            <a:ext cx="2194560" cy="896112"/>
          </a:xfrm>
          <a:prstGeom prst="rect">
            <a:avLst/>
          </a:prstGeom>
          <a:solidFill>
            <a:srgbClr val="111111">
              <a:alpha val="24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10528" y="2148840"/>
            <a:ext cx="2194560" cy="896112"/>
          </a:xfrm>
          <a:prstGeom prst="rect">
            <a:avLst/>
          </a:prstGeom>
          <a:solidFill>
            <a:srgbClr val="111111">
              <a:alpha val="32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59952" y="2148840"/>
            <a:ext cx="2194560" cy="896112"/>
          </a:xfrm>
          <a:prstGeom prst="rect">
            <a:avLst/>
          </a:prstGeom>
          <a:solidFill>
            <a:srgbClr val="E2231A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011680" y="3099816"/>
            <a:ext cx="2194560" cy="896112"/>
          </a:xfrm>
          <a:prstGeom prst="rect">
            <a:avLst/>
          </a:prstGeom>
          <a:solidFill>
            <a:srgbClr val="111111">
              <a:alpha val="24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61104" y="3099816"/>
            <a:ext cx="2194560" cy="896112"/>
          </a:xfrm>
          <a:prstGeom prst="rect">
            <a:avLst/>
          </a:prstGeom>
          <a:solidFill>
            <a:srgbClr val="111111">
              <a:alpha val="32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10528" y="3099816"/>
            <a:ext cx="2194560" cy="896112"/>
          </a:xfrm>
          <a:prstGeom prst="rect">
            <a:avLst/>
          </a:prstGeom>
          <a:solidFill>
            <a:srgbClr val="E2231A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59952" y="3099816"/>
            <a:ext cx="2194560" cy="896112"/>
          </a:xfrm>
          <a:prstGeom prst="rect">
            <a:avLst/>
          </a:prstGeom>
          <a:solidFill>
            <a:srgbClr val="E2231A">
              <a:alpha val="49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0" y="4050791"/>
            <a:ext cx="2194560" cy="896112"/>
          </a:xfrm>
          <a:prstGeom prst="rect">
            <a:avLst/>
          </a:prstGeom>
          <a:solidFill>
            <a:srgbClr val="111111">
              <a:alpha val="32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61104" y="4050791"/>
            <a:ext cx="2194560" cy="896112"/>
          </a:xfrm>
          <a:prstGeom prst="rect">
            <a:avLst/>
          </a:prstGeom>
          <a:solidFill>
            <a:srgbClr val="E2231A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10528" y="4050791"/>
            <a:ext cx="2194560" cy="896112"/>
          </a:xfrm>
          <a:prstGeom prst="rect">
            <a:avLst/>
          </a:prstGeom>
          <a:solidFill>
            <a:srgbClr val="E2231A">
              <a:alpha val="49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59952" y="4050791"/>
            <a:ext cx="2194560" cy="896112"/>
          </a:xfrm>
          <a:prstGeom prst="rect">
            <a:avLst/>
          </a:prstGeom>
          <a:solidFill>
            <a:srgbClr val="111111">
              <a:alpha val="57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11680" y="5001768"/>
            <a:ext cx="2194560" cy="896112"/>
          </a:xfrm>
          <a:prstGeom prst="rect">
            <a:avLst/>
          </a:prstGeom>
          <a:solidFill>
            <a:srgbClr val="E2231A">
              <a:alpha val="41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61104" y="5001768"/>
            <a:ext cx="2194560" cy="896112"/>
          </a:xfrm>
          <a:prstGeom prst="rect">
            <a:avLst/>
          </a:prstGeom>
          <a:solidFill>
            <a:srgbClr val="E2231A">
              <a:alpha val="4933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10528" y="5001768"/>
            <a:ext cx="2194560" cy="896112"/>
          </a:xfrm>
          <a:prstGeom prst="rect">
            <a:avLst/>
          </a:prstGeom>
          <a:solidFill>
            <a:srgbClr val="111111">
              <a:alpha val="5766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59952" y="5001768"/>
            <a:ext cx="2194560" cy="896112"/>
          </a:xfrm>
          <a:prstGeom prst="rect">
            <a:avLst/>
          </a:prstGeom>
          <a:solidFill>
            <a:srgbClr val="111111">
              <a:alpha val="6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01752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影响 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94360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概率 →</a:t>
            </a:r>
          </a:p>
        </p:txBody>
      </p:sp>
      <p:sp>
        <p:nvSpPr>
          <p:cNvPr id="24" name="Oval 23"/>
          <p:cNvSpPr/>
          <p:nvPr/>
        </p:nvSpPr>
        <p:spPr>
          <a:xfrm>
            <a:off x="5202936" y="2441448"/>
            <a:ext cx="310896" cy="310896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02936" y="2441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219456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1 · 风险一</a:t>
            </a:r>
          </a:p>
        </p:txBody>
      </p:sp>
      <p:sp>
        <p:nvSpPr>
          <p:cNvPr id="27" name="Oval 26"/>
          <p:cNvSpPr/>
          <p:nvPr/>
        </p:nvSpPr>
        <p:spPr>
          <a:xfrm>
            <a:off x="7452360" y="3392424"/>
            <a:ext cx="310896" cy="310896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52360" y="33924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276148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2 · 风险二</a:t>
            </a:r>
          </a:p>
        </p:txBody>
      </p:sp>
      <p:sp>
        <p:nvSpPr>
          <p:cNvPr id="30" name="Oval 29"/>
          <p:cNvSpPr/>
          <p:nvPr/>
        </p:nvSpPr>
        <p:spPr>
          <a:xfrm>
            <a:off x="9701784" y="4343400"/>
            <a:ext cx="310896" cy="310896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01784" y="434340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3328415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3 · 风险三</a:t>
            </a:r>
          </a:p>
        </p:txBody>
      </p:sp>
      <p:sp>
        <p:nvSpPr>
          <p:cNvPr id="33" name="Oval 32"/>
          <p:cNvSpPr/>
          <p:nvPr/>
        </p:nvSpPr>
        <p:spPr>
          <a:xfrm>
            <a:off x="2953512" y="2441448"/>
            <a:ext cx="310896" cy="310896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53512" y="244144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3895344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4 · 风险四</a:t>
            </a:r>
          </a:p>
        </p:txBody>
      </p:sp>
      <p:sp>
        <p:nvSpPr>
          <p:cNvPr id="36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 advClick="1" advTm="10000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45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4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57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69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8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81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0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45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2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57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4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69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61" dur="690"/>
                                  <p:tgtEl>
                                    <p:spTgt spid="2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81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81" dur="810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45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01" dur="450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57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21" dur="570"/>
                                  <p:tgtEl>
                                    <p:spTgt spid="2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69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41" dur="690"/>
                                  <p:tgtEl>
                                    <p:spTgt spid="2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81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61" dur="810"/>
                                  <p:tgtEl>
                                    <p:spTgt spid="2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45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81" dur="45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57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0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方案对比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方案一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9658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E2231A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49698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方案二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9698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9698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6356" y="2148840"/>
            <a:ext cx="3332378" cy="3794760"/>
          </a:xfrm>
          <a:prstGeom prst="roundRect">
            <a:avLst>
              <a:gd name="adj" fmla="val 6000"/>
            </a:avLst>
          </a:prstGeom>
          <a:solidFill>
            <a:srgbClr val="F7F7F5"/>
          </a:solidFill>
          <a:ln w="9525">
            <a:solidFill>
              <a:srgbClr val="D8D8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6396" y="2423160"/>
            <a:ext cx="26922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方案三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6396" y="2834640"/>
            <a:ext cx="26922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657600"/>
            <a:ext cx="269229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875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在此输入要点</a:t>
            </a:r>
          </a:p>
        </p:txBody>
      </p:sp>
      <p:sp>
        <p:nvSpPr>
          <p:cNvPr id="1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advTm="10000">
        <p14:ripple/>
      </p:transition>
    </mc:Choice>
    <mc:Fallback>
      <p:transition spd="med" advClick="1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57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69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6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81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8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45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0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57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2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69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4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81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6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45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8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57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0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69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2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81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4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45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6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57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8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69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0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E2231A"/>
                </a:solidFill>
                <a:latin typeface="Segoe UI"/>
                <a:ea typeface="微软雅黑"/>
                <a:cs typeface="微软雅黑"/>
              </a:rPr>
              <a:t>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对比矩阵</a:t>
            </a:r>
          </a:p>
        </p:txBody>
      </p:sp>
      <p:sp>
        <p:nvSpPr>
          <p:cNvPr id="5" name="!!brand-band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5836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2283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78727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171" y="2293680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选项 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807208"/>
            <a:ext cx="10545775" cy="658368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22960" y="2807208"/>
            <a:ext cx="10545775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2952048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维度一</a:t>
            </a:r>
          </a:p>
        </p:txBody>
      </p:sp>
      <p:sp>
        <p:nvSpPr>
          <p:cNvPr id="14" name="Oval 13"/>
          <p:cNvSpPr/>
          <p:nvPr/>
        </p:nvSpPr>
        <p:spPr>
          <a:xfrm>
            <a:off x="4677041" y="3035808"/>
            <a:ext cx="201168" cy="20116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3485" y="3035808"/>
            <a:ext cx="201168" cy="20116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49929" y="3035808"/>
            <a:ext cx="201168" cy="201168"/>
          </a:xfrm>
          <a:prstGeom prst="ellipse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822960" y="3465576"/>
            <a:ext cx="10545775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3610416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维度二</a:t>
            </a:r>
          </a:p>
        </p:txBody>
      </p:sp>
      <p:sp>
        <p:nvSpPr>
          <p:cNvPr id="19" name="Oval 18"/>
          <p:cNvSpPr/>
          <p:nvPr/>
        </p:nvSpPr>
        <p:spPr>
          <a:xfrm>
            <a:off x="4677041" y="3694176"/>
            <a:ext cx="201168" cy="20116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3485" y="3694176"/>
            <a:ext cx="201168" cy="201168"/>
          </a:xfrm>
          <a:prstGeom prst="ellipse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49929" y="3694176"/>
            <a:ext cx="201168" cy="20116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123944"/>
            <a:ext cx="10545775" cy="658368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22960" y="4123944"/>
            <a:ext cx="10545775" cy="0"/>
          </a:xfrm>
          <a:prstGeom prst="line">
            <a:avLst/>
          </a:prstGeom>
          <a:ln w="7620">
            <a:solidFill>
              <a:srgbClr val="D8D8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05840" y="4268784"/>
            <a:ext cx="2270683" cy="3950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维度三</a:t>
            </a:r>
          </a:p>
        </p:txBody>
      </p:sp>
      <p:sp>
        <p:nvSpPr>
          <p:cNvPr id="25" name="Oval 24"/>
          <p:cNvSpPr/>
          <p:nvPr/>
        </p:nvSpPr>
        <p:spPr>
          <a:xfrm>
            <a:off x="4677041" y="4352544"/>
            <a:ext cx="201168" cy="20116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13485" y="4352544"/>
            <a:ext cx="201168" cy="20116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49929" y="4352544"/>
            <a:ext cx="201168" cy="201168"/>
          </a:xfrm>
          <a:prstGeom prst="ellipse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 advClick="1" advTm="10000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69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4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81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6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45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8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0" dur="57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0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2" dur="69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2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4" dur="81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4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6" dur="45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6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8" dur="57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1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8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0" dur="69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0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2" dur="81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2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4" dur="45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4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6" dur="57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6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8" dur="69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2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8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0" dur="81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01" dur="81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decor-1"/>
          <p:cNvSpPr/>
          <p:nvPr/>
        </p:nvSpPr>
        <p:spPr>
          <a:xfrm>
            <a:off x="914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rome:decor-2"/>
          <p:cNvSpPr/>
          <p:nvPr/>
        </p:nvSpPr>
        <p:spPr>
          <a:xfrm>
            <a:off x="1828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hrome:decor-3"/>
          <p:cNvSpPr/>
          <p:nvPr/>
        </p:nvSpPr>
        <p:spPr>
          <a:xfrm>
            <a:off x="2743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rome:decor-4"/>
          <p:cNvSpPr/>
          <p:nvPr/>
        </p:nvSpPr>
        <p:spPr>
          <a:xfrm>
            <a:off x="3657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rome:decor-5"/>
          <p:cNvSpPr/>
          <p:nvPr/>
        </p:nvSpPr>
        <p:spPr>
          <a:xfrm>
            <a:off x="4572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hrome:decor-6"/>
          <p:cNvSpPr/>
          <p:nvPr/>
        </p:nvSpPr>
        <p:spPr>
          <a:xfrm>
            <a:off x="5486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rome:decor-7"/>
          <p:cNvSpPr/>
          <p:nvPr/>
        </p:nvSpPr>
        <p:spPr>
          <a:xfrm>
            <a:off x="6400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rome:decor-8"/>
          <p:cNvSpPr/>
          <p:nvPr/>
        </p:nvSpPr>
        <p:spPr>
          <a:xfrm>
            <a:off x="73152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rome:decor-9"/>
          <p:cNvSpPr/>
          <p:nvPr/>
        </p:nvSpPr>
        <p:spPr>
          <a:xfrm>
            <a:off x="82296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rome:decor-10"/>
          <p:cNvSpPr/>
          <p:nvPr/>
        </p:nvSpPr>
        <p:spPr>
          <a:xfrm>
            <a:off x="91440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rome:decor-11"/>
          <p:cNvSpPr/>
          <p:nvPr/>
        </p:nvSpPr>
        <p:spPr>
          <a:xfrm>
            <a:off x="100584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rome:decor-12"/>
          <p:cNvSpPr/>
          <p:nvPr/>
        </p:nvSpPr>
        <p:spPr>
          <a:xfrm>
            <a:off x="10972800" y="0"/>
            <a:ext cx="5486" cy="6858000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hrome:decor-13"/>
          <p:cNvSpPr/>
          <p:nvPr/>
        </p:nvSpPr>
        <p:spPr>
          <a:xfrm>
            <a:off x="822960" y="0"/>
            <a:ext cx="45720" cy="685800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111111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19" name="!!footer-rule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8D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rome:footer-l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6B6B"/>
                </a:solidFill>
                <a:latin typeface="Segoe UI"/>
                <a:ea typeface="微软雅黑"/>
                <a:cs typeface="微软雅黑"/>
              </a:rPr>
              <a:t>数学网格功能主义  ·  Swiss Grid</a:t>
            </a:r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dur="81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4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" dur="45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61" dur="45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8" dur="57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8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lideForge 数学网格功能主义">
  <a:themeElements>
    <a:clrScheme name="SlideForge 数学网格功能主义">
      <a:dk1>
        <a:srgbClr val="111111"/>
      </a:dk1>
      <a:lt1>
        <a:srgbClr val="FFFFFF"/>
      </a:lt1>
      <a:dk2>
        <a:srgbClr val="6B6B6B"/>
      </a:dk2>
      <a:lt2>
        <a:srgbClr val="F7F7F5"/>
      </a:lt2>
      <a:accent1>
        <a:srgbClr val="E2231A"/>
      </a:accent1>
      <a:accent2>
        <a:srgbClr val="111111"/>
      </a:accent2>
      <a:accent3>
        <a:srgbClr val="111111"/>
      </a:accent3>
      <a:accent4>
        <a:srgbClr val="D8D8D4"/>
      </a:accent4>
      <a:accent5>
        <a:srgbClr val="6B6B6B"/>
      </a:accent5>
      <a:accent6>
        <a:srgbClr val="F7F7F5"/>
      </a:accent6>
      <a:hlink>
        <a:srgbClr val="E2231A"/>
      </a:hlink>
      <a:folHlink>
        <a:srgbClr val="6B6B6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