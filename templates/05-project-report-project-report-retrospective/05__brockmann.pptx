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0" y="0"/>
            <a:ext cx="5486" cy="6858000"/>
          </a:xfrm>
          <a:prstGeom prst="rect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828800" y="0"/>
            <a:ext cx="5486" cy="6858000"/>
          </a:xfrm>
          <a:prstGeom prst="rect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2743200" y="0"/>
            <a:ext cx="5486" cy="6858000"/>
          </a:xfrm>
          <a:prstGeom prst="rect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3657600" y="0"/>
            <a:ext cx="5486" cy="6858000"/>
          </a:xfrm>
          <a:prstGeom prst="rect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572000" y="0"/>
            <a:ext cx="5486" cy="6858000"/>
          </a:xfrm>
          <a:prstGeom prst="rect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486400" y="0"/>
            <a:ext cx="5486" cy="6858000"/>
          </a:xfrm>
          <a:prstGeom prst="rect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400800" y="0"/>
            <a:ext cx="5486" cy="6858000"/>
          </a:xfrm>
          <a:prstGeom prst="rect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315200" y="0"/>
            <a:ext cx="5486" cy="6858000"/>
          </a:xfrm>
          <a:prstGeom prst="rect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229600" y="0"/>
            <a:ext cx="5486" cy="6858000"/>
          </a:xfrm>
          <a:prstGeom prst="rect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9144000" y="0"/>
            <a:ext cx="5486" cy="6858000"/>
          </a:xfrm>
          <a:prstGeom prst="rect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0058400" y="0"/>
            <a:ext cx="5486" cy="6858000"/>
          </a:xfrm>
          <a:prstGeom prst="rect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10972800" y="0"/>
            <a:ext cx="5486" cy="6858000"/>
          </a:xfrm>
          <a:prstGeom prst="rect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22960" y="0"/>
            <a:ext cx="45720" cy="6858000"/>
          </a:xfrm>
          <a:prstGeom prst="rect">
            <a:avLst/>
          </a:prstGeom>
          <a:solidFill>
            <a:srgbClr val="E223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22960" y="1874519"/>
            <a:ext cx="822960" cy="91440"/>
          </a:xfrm>
          <a:prstGeom prst="rect">
            <a:avLst/>
          </a:prstGeom>
          <a:solidFill>
            <a:srgbClr val="E223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2960" y="2194560"/>
            <a:ext cx="969264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400"/>
              </a:spcAft>
            </a:pPr>
            <a:r>
              <a:rPr sz="4400" b="1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项目汇报与复盘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2960" y="3794760"/>
            <a:ext cx="91440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项目汇报 / 复盘 · 在此输入项目名称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2960" y="5394960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团队 / 部门  ·  YYYY-MM-DD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E2231A"/>
                </a:solidFill>
                <a:latin typeface="Segoe UI"/>
                <a:ea typeface="微软雅黑"/>
                <a:cs typeface="微软雅黑"/>
              </a:rPr>
              <a:t>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5156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目录  CONTENTS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E223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2148840"/>
            <a:ext cx="7315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E2231A"/>
                </a:solidFill>
                <a:latin typeface="Segoe UI"/>
                <a:ea typeface="微软雅黑"/>
                <a:cs typeface="微软雅黑"/>
              </a:rP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783080" y="2130552"/>
            <a:ext cx="4206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目标回顾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1783080" y="2660904"/>
            <a:ext cx="4160520" cy="0"/>
          </a:xfrm>
          <a:prstGeom prst="line">
            <a:avLst/>
          </a:prstGeom>
          <a:ln w="9525">
            <a:solidFill>
              <a:srgbClr val="D8D8D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6309360" y="2148840"/>
            <a:ext cx="7315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E2231A"/>
                </a:solidFill>
                <a:latin typeface="Segoe UI"/>
                <a:ea typeface="微软雅黑"/>
                <a:cs typeface="微软雅黑"/>
              </a:rPr>
              <a:t>02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269480" y="2130552"/>
            <a:ext cx="4206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执行过程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7269480" y="2660904"/>
            <a:ext cx="4160520" cy="0"/>
          </a:xfrm>
          <a:prstGeom prst="line">
            <a:avLst/>
          </a:prstGeom>
          <a:ln w="9525">
            <a:solidFill>
              <a:srgbClr val="D8D8D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822960" y="3063240"/>
            <a:ext cx="7315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E2231A"/>
                </a:solidFill>
                <a:latin typeface="Segoe UI"/>
                <a:ea typeface="微软雅黑"/>
                <a:cs typeface="微软雅黑"/>
              </a:rPr>
              <a:t>03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783080" y="3044952"/>
            <a:ext cx="4206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结果与数据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1783080" y="3575304"/>
            <a:ext cx="4160520" cy="0"/>
          </a:xfrm>
          <a:prstGeom prst="line">
            <a:avLst/>
          </a:prstGeom>
          <a:ln w="9525">
            <a:solidFill>
              <a:srgbClr val="D8D8D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6309360" y="3063240"/>
            <a:ext cx="7315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E2231A"/>
                </a:solidFill>
                <a:latin typeface="Segoe UI"/>
                <a:ea typeface="微软雅黑"/>
                <a:cs typeface="微软雅黑"/>
              </a:rPr>
              <a:t>04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69480" y="3044952"/>
            <a:ext cx="4206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反思与下一步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7269480" y="3575304"/>
            <a:ext cx="4160520" cy="0"/>
          </a:xfrm>
          <a:prstGeom prst="line">
            <a:avLst/>
          </a:prstGeom>
          <a:ln w="9525">
            <a:solidFill>
              <a:srgbClr val="D8D8D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ectangle 1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6355080"/>
            <a:ext cx="6400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数学网格功能主义  ·  Swiss Grid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0" y="0"/>
            <a:ext cx="5486" cy="6858000"/>
          </a:xfrm>
          <a:prstGeom prst="rect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828800" y="0"/>
            <a:ext cx="5486" cy="6858000"/>
          </a:xfrm>
          <a:prstGeom prst="rect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2743200" y="0"/>
            <a:ext cx="5486" cy="6858000"/>
          </a:xfrm>
          <a:prstGeom prst="rect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3657600" y="0"/>
            <a:ext cx="5486" cy="6858000"/>
          </a:xfrm>
          <a:prstGeom prst="rect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572000" y="0"/>
            <a:ext cx="5486" cy="6858000"/>
          </a:xfrm>
          <a:prstGeom prst="rect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486400" y="0"/>
            <a:ext cx="5486" cy="6858000"/>
          </a:xfrm>
          <a:prstGeom prst="rect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400800" y="0"/>
            <a:ext cx="5486" cy="6858000"/>
          </a:xfrm>
          <a:prstGeom prst="rect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315200" y="0"/>
            <a:ext cx="5486" cy="6858000"/>
          </a:xfrm>
          <a:prstGeom prst="rect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229600" y="0"/>
            <a:ext cx="5486" cy="6858000"/>
          </a:xfrm>
          <a:prstGeom prst="rect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9144000" y="0"/>
            <a:ext cx="5486" cy="6858000"/>
          </a:xfrm>
          <a:prstGeom prst="rect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0058400" y="0"/>
            <a:ext cx="5486" cy="6858000"/>
          </a:xfrm>
          <a:prstGeom prst="rect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10972800" y="0"/>
            <a:ext cx="5486" cy="6858000"/>
          </a:xfrm>
          <a:prstGeom prst="rect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22960" y="0"/>
            <a:ext cx="45720" cy="6858000"/>
          </a:xfrm>
          <a:prstGeom prst="rect">
            <a:avLst/>
          </a:prstGeom>
          <a:solidFill>
            <a:srgbClr val="E223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2960" y="1920240"/>
            <a:ext cx="27432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  <a:spcAft>
                <a:spcPts val="400"/>
              </a:spcAft>
            </a:pPr>
            <a:r>
              <a:rPr sz="9600" b="1" i="0">
                <a:solidFill>
                  <a:srgbClr val="E2231A"/>
                </a:solidFill>
                <a:latin typeface="Segoe UI"/>
                <a:ea typeface="微软雅黑"/>
                <a:cs typeface="微软雅黑"/>
              </a:rPr>
              <a:t>01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22960" y="3520440"/>
            <a:ext cx="566928" cy="54864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2960" y="3703320"/>
            <a:ext cx="8686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400" b="1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目标回顾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2960" y="4709160"/>
            <a:ext cx="7863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在此输入本章导语 · 一句话点题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22960" y="6355080"/>
            <a:ext cx="6400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数学网格功能主义  ·  Swiss Grid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E2231A"/>
                </a:solidFill>
                <a:latin typeface="Segoe UI"/>
                <a:ea typeface="微软雅黑"/>
                <a:cs typeface="微软雅黑"/>
              </a:rPr>
              <a:t>OBJECTIVES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5156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目标回顾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E223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2148840"/>
            <a:ext cx="1042416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400"/>
              </a:spcAft>
            </a:pPr>
            <a:r>
              <a:rPr sz="1189">
                <a:solidFill>
                  <a:srgbClr val="E2231A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70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在此输入目标一及达成情况</a:t>
            </a:r>
          </a:p>
          <a:p>
            <a:pPr>
              <a:lnSpc>
                <a:spcPct val="115000"/>
              </a:lnSpc>
              <a:spcAft>
                <a:spcPts val="1400"/>
              </a:spcAft>
            </a:pPr>
            <a:r>
              <a:rPr sz="1189">
                <a:solidFill>
                  <a:srgbClr val="E2231A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70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在此输入目标二及达成情况</a:t>
            </a:r>
          </a:p>
          <a:p>
            <a:pPr>
              <a:lnSpc>
                <a:spcPct val="115000"/>
              </a:lnSpc>
              <a:spcAft>
                <a:spcPts val="1400"/>
              </a:spcAft>
            </a:pPr>
            <a:r>
              <a:rPr sz="1189">
                <a:solidFill>
                  <a:srgbClr val="E2231A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70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在此输入目标三及达成情况</a:t>
            </a:r>
          </a:p>
          <a:p>
            <a:pPr>
              <a:lnSpc>
                <a:spcPct val="115000"/>
              </a:lnSpc>
              <a:spcAft>
                <a:spcPts val="1400"/>
              </a:spcAft>
            </a:pPr>
            <a:r>
              <a:rPr sz="1189">
                <a:solidFill>
                  <a:srgbClr val="E2231A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70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在此输入目标四及达成情况</a:t>
            </a:r>
          </a:p>
        </p:txBody>
      </p:sp>
      <p:sp>
        <p:nvSpPr>
          <p:cNvPr id="7" name="Rectangle 6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6355080"/>
            <a:ext cx="6400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数学网格功能主义  ·  Swiss Grid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E2231A"/>
                </a:solidFill>
                <a:latin typeface="Segoe UI"/>
                <a:ea typeface="微软雅黑"/>
                <a:cs typeface="微软雅黑"/>
              </a:rPr>
              <a:t>OBJECTIVES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5156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做得好 / 待改进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E223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5029200" cy="3840480"/>
          </a:xfrm>
          <a:prstGeom prst="roundRect">
            <a:avLst>
              <a:gd name="adj" fmla="val 5000"/>
            </a:avLst>
          </a:prstGeom>
          <a:solidFill>
            <a:srgbClr val="F7F7F5"/>
          </a:solidFill>
          <a:ln w="9525">
            <a:solidFill>
              <a:srgbClr val="D8D8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22960" y="2103120"/>
            <a:ext cx="5029200" cy="109728"/>
          </a:xfrm>
          <a:prstGeom prst="rect">
            <a:avLst/>
          </a:prstGeom>
          <a:solidFill>
            <a:srgbClr val="E223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88720" y="2377440"/>
            <a:ext cx="4297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A · 做得好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0" y="3063240"/>
            <a:ext cx="429768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E2231A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在此输入要点一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E2231A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在此输入要点二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E2231A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在此输入要点三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355080" y="2103120"/>
            <a:ext cx="5029200" cy="3840480"/>
          </a:xfrm>
          <a:prstGeom prst="roundRect">
            <a:avLst>
              <a:gd name="adj" fmla="val 5000"/>
            </a:avLst>
          </a:prstGeom>
          <a:solidFill>
            <a:srgbClr val="F7F7F5"/>
          </a:solidFill>
          <a:ln w="9525">
            <a:solidFill>
              <a:srgbClr val="D8D8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355080" y="2103120"/>
            <a:ext cx="5029200" cy="109728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720840" y="2377440"/>
            <a:ext cx="4297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B · 待改进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720840" y="3063240"/>
            <a:ext cx="429768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在此输入要点一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在此输入要点二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在此输入要点三</a:t>
            </a:r>
          </a:p>
        </p:txBody>
      </p:sp>
      <p:sp>
        <p:nvSpPr>
          <p:cNvPr id="14" name="Oval 13"/>
          <p:cNvSpPr/>
          <p:nvPr/>
        </p:nvSpPr>
        <p:spPr>
          <a:xfrm>
            <a:off x="5711799" y="3703320"/>
            <a:ext cx="768096" cy="768096"/>
          </a:xfrm>
          <a:prstGeom prst="ellipse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711799" y="3703320"/>
            <a:ext cx="768096" cy="768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VS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2960" y="6355080"/>
            <a:ext cx="6400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数学网格功能主义  ·  Swiss Grid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E2231A"/>
                </a:solidFill>
                <a:latin typeface="Segoe UI"/>
                <a:ea typeface="微软雅黑"/>
                <a:cs typeface="微软雅黑"/>
              </a:rPr>
              <a:t>METRICS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5156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关键数据一览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E223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2430703" cy="3886200"/>
          </a:xfrm>
          <a:prstGeom prst="roundRect">
            <a:avLst>
              <a:gd name="adj" fmla="val 6000"/>
            </a:avLst>
          </a:prstGeom>
          <a:solidFill>
            <a:srgbClr val="F7F7F5"/>
          </a:solidFill>
          <a:ln w="9525">
            <a:solidFill>
              <a:srgbClr val="D8D8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143000" y="2468879"/>
            <a:ext cx="457200" cy="54864"/>
          </a:xfrm>
          <a:prstGeom prst="rect">
            <a:avLst/>
          </a:prstGeom>
          <a:solidFill>
            <a:srgbClr val="E223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43000" y="2670048"/>
            <a:ext cx="1790623" cy="16322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000" b="1" i="0">
                <a:solidFill>
                  <a:srgbClr val="E2231A"/>
                </a:solidFill>
                <a:latin typeface="Segoe UI"/>
                <a:ea typeface="微软雅黑"/>
                <a:cs typeface="微软雅黑"/>
              </a:rPr>
              <a:t>达成率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4668012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指标一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43000" y="5289804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527983" y="2103120"/>
            <a:ext cx="2430703" cy="3886200"/>
          </a:xfrm>
          <a:prstGeom prst="roundRect">
            <a:avLst>
              <a:gd name="adj" fmla="val 6000"/>
            </a:avLst>
          </a:prstGeom>
          <a:solidFill>
            <a:srgbClr val="F7F7F5"/>
          </a:solidFill>
          <a:ln w="9525">
            <a:solidFill>
              <a:srgbClr val="D8D8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848023" y="2468879"/>
            <a:ext cx="457200" cy="54864"/>
          </a:xfrm>
          <a:prstGeom prst="rect">
            <a:avLst/>
          </a:prstGeom>
          <a:solidFill>
            <a:srgbClr val="E223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848023" y="2670048"/>
            <a:ext cx="1790623" cy="16322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000" b="1" i="0">
                <a:solidFill>
                  <a:srgbClr val="E2231A"/>
                </a:solidFill>
                <a:latin typeface="Segoe UI"/>
                <a:ea typeface="微软雅黑"/>
                <a:cs typeface="微软雅黑"/>
              </a:rPr>
              <a:t>数量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848023" y="4668012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指标二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848023" y="5289804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33007" y="2103120"/>
            <a:ext cx="2430703" cy="3886200"/>
          </a:xfrm>
          <a:prstGeom prst="roundRect">
            <a:avLst>
              <a:gd name="adj" fmla="val 6000"/>
            </a:avLst>
          </a:prstGeom>
          <a:solidFill>
            <a:srgbClr val="F7F7F5"/>
          </a:solidFill>
          <a:ln w="9525">
            <a:solidFill>
              <a:srgbClr val="D8D8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553047" y="2468879"/>
            <a:ext cx="457200" cy="54864"/>
          </a:xfrm>
          <a:prstGeom prst="rect">
            <a:avLst/>
          </a:prstGeom>
          <a:solidFill>
            <a:srgbClr val="E223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53047" y="2670048"/>
            <a:ext cx="1790623" cy="16322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000" b="1" i="0">
                <a:solidFill>
                  <a:srgbClr val="E2231A"/>
                </a:solidFill>
                <a:latin typeface="Segoe UI"/>
                <a:ea typeface="微软雅黑"/>
                <a:cs typeface="微软雅黑"/>
              </a:rPr>
              <a:t>时长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53047" y="4668012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指标三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53047" y="5289804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938031" y="2103120"/>
            <a:ext cx="2430703" cy="3886200"/>
          </a:xfrm>
          <a:prstGeom prst="roundRect">
            <a:avLst>
              <a:gd name="adj" fmla="val 6000"/>
            </a:avLst>
          </a:prstGeom>
          <a:solidFill>
            <a:srgbClr val="F7F7F5"/>
          </a:solidFill>
          <a:ln w="9525">
            <a:solidFill>
              <a:srgbClr val="D8D8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9258071" y="2468879"/>
            <a:ext cx="457200" cy="54864"/>
          </a:xfrm>
          <a:prstGeom prst="rect">
            <a:avLst/>
          </a:prstGeom>
          <a:solidFill>
            <a:srgbClr val="E223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258071" y="2670048"/>
            <a:ext cx="1790623" cy="16322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000" b="1" i="0">
                <a:solidFill>
                  <a:srgbClr val="E2231A"/>
                </a:solidFill>
                <a:latin typeface="Segoe UI"/>
                <a:ea typeface="微软雅黑"/>
                <a:cs typeface="微软雅黑"/>
              </a:rPr>
              <a:t>成本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258071" y="4668012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指标四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258071" y="5289804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22960" y="6355080"/>
            <a:ext cx="6400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数学网格功能主义  ·  Swiss Grid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E2231A"/>
                </a:solidFill>
                <a:latin typeface="Segoe UI"/>
                <a:ea typeface="微软雅黑"/>
                <a:cs typeface="微软雅黑"/>
              </a:rPr>
              <a:t>RESULTS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5156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排期 / 路线图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E223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" name="Connector 5"/>
          <p:cNvCxnSpPr/>
          <p:nvPr/>
        </p:nvCxnSpPr>
        <p:spPr>
          <a:xfrm>
            <a:off x="1234440" y="3063240"/>
            <a:ext cx="9722815" cy="0"/>
          </a:xfrm>
          <a:prstGeom prst="line">
            <a:avLst/>
          </a:prstGeom>
          <a:ln w="25400">
            <a:solidFill>
              <a:srgbClr val="D8D8D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Oval 6"/>
          <p:cNvSpPr/>
          <p:nvPr/>
        </p:nvSpPr>
        <p:spPr>
          <a:xfrm>
            <a:off x="1088136" y="2916936"/>
            <a:ext cx="292608" cy="292608"/>
          </a:xfrm>
          <a:prstGeom prst="ellipse">
            <a:avLst/>
          </a:prstGeom>
          <a:solidFill>
            <a:srgbClr val="E223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2496312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E2231A"/>
                </a:solidFill>
                <a:latin typeface="Segoe UI"/>
                <a:ea typeface="微软雅黑"/>
                <a:cs typeface="微软雅黑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0040" y="182880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立项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20040" y="221284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1" name="Oval 10"/>
          <p:cNvSpPr/>
          <p:nvPr/>
        </p:nvSpPr>
        <p:spPr>
          <a:xfrm>
            <a:off x="4329074" y="2916936"/>
            <a:ext cx="292608" cy="292608"/>
          </a:xfrm>
          <a:prstGeom prst="ellipse">
            <a:avLst/>
          </a:prstGeom>
          <a:solidFill>
            <a:srgbClr val="E223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109618" y="315468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E2231A"/>
                </a:solidFill>
                <a:latin typeface="Segoe UI"/>
                <a:ea typeface="微软雅黑"/>
                <a:cs typeface="微软雅黑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60978" y="347472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执行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60978" y="385876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5" name="Oval 14"/>
          <p:cNvSpPr/>
          <p:nvPr/>
        </p:nvSpPr>
        <p:spPr>
          <a:xfrm>
            <a:off x="7570012" y="2916936"/>
            <a:ext cx="292608" cy="292608"/>
          </a:xfrm>
          <a:prstGeom prst="ellipse">
            <a:avLst/>
          </a:prstGeom>
          <a:solidFill>
            <a:srgbClr val="E223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350556" y="2496312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E2231A"/>
                </a:solidFill>
                <a:latin typeface="Segoe UI"/>
                <a:ea typeface="微软雅黑"/>
                <a:cs typeface="微软雅黑"/>
              </a:rPr>
              <a:t>03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01916" y="182880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验收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01916" y="221284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9" name="Oval 18"/>
          <p:cNvSpPr/>
          <p:nvPr/>
        </p:nvSpPr>
        <p:spPr>
          <a:xfrm>
            <a:off x="10810951" y="2916936"/>
            <a:ext cx="292608" cy="292608"/>
          </a:xfrm>
          <a:prstGeom prst="ellipse">
            <a:avLst/>
          </a:prstGeom>
          <a:solidFill>
            <a:srgbClr val="E223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591495" y="315468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E2231A"/>
                </a:solidFill>
                <a:latin typeface="Segoe UI"/>
                <a:ea typeface="微软雅黑"/>
                <a:cs typeface="微软雅黑"/>
              </a:rPr>
              <a:t>04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042855" y="347472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复盘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042855" y="385876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22960" y="6355080"/>
            <a:ext cx="6400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数学网格功能主义  ·  Swiss Grid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E2231A"/>
                </a:solidFill>
                <a:latin typeface="Segoe UI"/>
                <a:ea typeface="微软雅黑"/>
                <a:cs typeface="微软雅黑"/>
              </a:rPr>
              <a:t>RESULTS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5156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工作流程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E223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Chevron 5"/>
          <p:cNvSpPr/>
          <p:nvPr/>
        </p:nvSpPr>
        <p:spPr>
          <a:xfrm>
            <a:off x="822960" y="2743200"/>
            <a:ext cx="2464993" cy="1371600"/>
          </a:xfrm>
          <a:prstGeom prst="chevron">
            <a:avLst/>
          </a:prstGeom>
          <a:solidFill>
            <a:srgbClr val="E2231A"/>
          </a:solidFill>
          <a:ln w="9525">
            <a:solidFill>
              <a:srgbClr val="D8D8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51560" y="3246120"/>
            <a:ext cx="2007793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5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计划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306241" y="3246120"/>
            <a:ext cx="19202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›</a:t>
            </a:r>
          </a:p>
        </p:txBody>
      </p:sp>
      <p:sp>
        <p:nvSpPr>
          <p:cNvPr id="9" name="Chevron 8"/>
          <p:cNvSpPr/>
          <p:nvPr/>
        </p:nvSpPr>
        <p:spPr>
          <a:xfrm>
            <a:off x="3516553" y="2743200"/>
            <a:ext cx="2464993" cy="1371600"/>
          </a:xfrm>
          <a:prstGeom prst="chevron">
            <a:avLst/>
          </a:prstGeom>
          <a:solidFill>
            <a:srgbClr val="F7F7F5"/>
          </a:solidFill>
          <a:ln w="9525">
            <a:solidFill>
              <a:srgbClr val="D8D8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745153" y="3246120"/>
            <a:ext cx="2007793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50" b="1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执行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99835" y="3246120"/>
            <a:ext cx="19202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›</a:t>
            </a:r>
          </a:p>
        </p:txBody>
      </p:sp>
      <p:sp>
        <p:nvSpPr>
          <p:cNvPr id="12" name="Chevron 11"/>
          <p:cNvSpPr/>
          <p:nvPr/>
        </p:nvSpPr>
        <p:spPr>
          <a:xfrm>
            <a:off x="6210147" y="2743200"/>
            <a:ext cx="2464993" cy="1371600"/>
          </a:xfrm>
          <a:prstGeom prst="chevron">
            <a:avLst/>
          </a:prstGeom>
          <a:solidFill>
            <a:srgbClr val="E2231A"/>
          </a:solidFill>
          <a:ln w="9525">
            <a:solidFill>
              <a:srgbClr val="D8D8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38747" y="3246120"/>
            <a:ext cx="2007793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5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检查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93429" y="3246120"/>
            <a:ext cx="19202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›</a:t>
            </a:r>
          </a:p>
        </p:txBody>
      </p:sp>
      <p:sp>
        <p:nvSpPr>
          <p:cNvPr id="15" name="Chevron 14"/>
          <p:cNvSpPr/>
          <p:nvPr/>
        </p:nvSpPr>
        <p:spPr>
          <a:xfrm>
            <a:off x="8903741" y="2743200"/>
            <a:ext cx="2464993" cy="1371600"/>
          </a:xfrm>
          <a:prstGeom prst="chevron">
            <a:avLst/>
          </a:prstGeom>
          <a:solidFill>
            <a:srgbClr val="F7F7F5"/>
          </a:solidFill>
          <a:ln w="9525">
            <a:solidFill>
              <a:srgbClr val="D8D8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32341" y="3246120"/>
            <a:ext cx="2007793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50" b="1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改进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2960" y="6355080"/>
            <a:ext cx="6400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数学网格功能主义  ·  Swiss Grid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E2231A"/>
                </a:solidFill>
                <a:latin typeface="Segoe UI"/>
                <a:ea typeface="微软雅黑"/>
                <a:cs typeface="微软雅黑"/>
              </a:rPr>
              <a:t>RESULTS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5156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数据图表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E223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7680960" cy="3886200"/>
          </a:xfrm>
          <a:prstGeom prst="roundRect">
            <a:avLst>
              <a:gd name="adj" fmla="val 5000"/>
            </a:avLst>
          </a:prstGeom>
          <a:solidFill>
            <a:srgbClr val="F7F7F5"/>
          </a:solidFill>
          <a:ln w="9525">
            <a:solidFill>
              <a:srgbClr val="D8D8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371600" y="3877056"/>
            <a:ext cx="685800" cy="1609344"/>
          </a:xfrm>
          <a:prstGeom prst="rect">
            <a:avLst/>
          </a:prstGeom>
          <a:solidFill>
            <a:srgbClr val="E2231A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2514600" y="3145535"/>
            <a:ext cx="685800" cy="2340864"/>
          </a:xfrm>
          <a:prstGeom prst="rect">
            <a:avLst/>
          </a:prstGeom>
          <a:solidFill>
            <a:srgbClr val="111111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3657600" y="4169663"/>
            <a:ext cx="685800" cy="1316736"/>
          </a:xfrm>
          <a:prstGeom prst="rect">
            <a:avLst/>
          </a:prstGeom>
          <a:solidFill>
            <a:srgbClr val="E2231A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800600" y="2706624"/>
            <a:ext cx="685800" cy="2779776"/>
          </a:xfrm>
          <a:prstGeom prst="rect">
            <a:avLst/>
          </a:prstGeom>
          <a:solidFill>
            <a:srgbClr val="111111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943600" y="3438144"/>
            <a:ext cx="685800" cy="2048255"/>
          </a:xfrm>
          <a:prstGeom prst="rect">
            <a:avLst/>
          </a:prstGeom>
          <a:solidFill>
            <a:srgbClr val="E2231A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086600" y="3730752"/>
            <a:ext cx="685800" cy="1755648"/>
          </a:xfrm>
          <a:prstGeom prst="rect">
            <a:avLst/>
          </a:prstGeom>
          <a:solidFill>
            <a:srgbClr val="111111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280160" y="5623560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50" b="0" i="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图表占位 · 在 PowerPoint 中插入图表替换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869680" y="2240280"/>
            <a:ext cx="26517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关键结论 / 解读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869680" y="2743200"/>
            <a:ext cx="265176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875">
                <a:solidFill>
                  <a:srgbClr val="E2231A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在此输入要点一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875">
                <a:solidFill>
                  <a:srgbClr val="E2231A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在此输入要点二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875">
                <a:solidFill>
                  <a:srgbClr val="E2231A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在此输入要点三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2960" y="6355080"/>
            <a:ext cx="6400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数学网格功能主义  ·  Swiss Grid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E2231A"/>
                </a:solidFill>
                <a:latin typeface="Segoe UI"/>
                <a:ea typeface="微软雅黑"/>
                <a:cs typeface="微软雅黑"/>
              </a:rPr>
              <a:t>RETROSPECTIVE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5156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明细表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E223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2148840"/>
            <a:ext cx="10545775" cy="640080"/>
          </a:xfrm>
          <a:prstGeom prst="rect">
            <a:avLst/>
          </a:prstGeom>
          <a:solidFill>
            <a:srgbClr val="E223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27685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指标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21098" y="227685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36356" y="227685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实际</a:t>
            </a:r>
          </a:p>
        </p:txBody>
      </p:sp>
      <p:sp>
        <p:nvSpPr>
          <p:cNvPr id="10" name="Rectangle 9"/>
          <p:cNvSpPr/>
          <p:nvPr/>
        </p:nvSpPr>
        <p:spPr>
          <a:xfrm>
            <a:off x="822960" y="2788920"/>
            <a:ext cx="10545775" cy="64008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1" name="Connector 10"/>
          <p:cNvCxnSpPr/>
          <p:nvPr/>
        </p:nvCxnSpPr>
        <p:spPr>
          <a:xfrm>
            <a:off x="822960" y="2788920"/>
            <a:ext cx="10545775" cy="0"/>
          </a:xfrm>
          <a:prstGeom prst="line">
            <a:avLst/>
          </a:prstGeom>
          <a:ln w="7620">
            <a:solidFill>
              <a:srgbClr val="D8D8D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1005840" y="291693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指标一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21098" y="291693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在此填目标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36356" y="291693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在此填实际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822960" y="3429000"/>
            <a:ext cx="10545775" cy="0"/>
          </a:xfrm>
          <a:prstGeom prst="line">
            <a:avLst/>
          </a:prstGeom>
          <a:ln w="7620">
            <a:solidFill>
              <a:srgbClr val="D8D8D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1005840" y="355701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指标二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21098" y="355701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在此填目标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036356" y="355701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在此填实际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22960" y="4069079"/>
            <a:ext cx="10545775" cy="64008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822960" y="4069079"/>
            <a:ext cx="10545775" cy="0"/>
          </a:xfrm>
          <a:prstGeom prst="line">
            <a:avLst/>
          </a:prstGeom>
          <a:ln w="7620">
            <a:solidFill>
              <a:srgbClr val="D8D8D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1005840" y="4197095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指标三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21098" y="4197095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在此填目标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036356" y="4197095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在此填实际</a:t>
            </a:r>
          </a:p>
        </p:txBody>
      </p:sp>
      <p:sp>
        <p:nvSpPr>
          <p:cNvPr id="24" name="Rectangle 23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22960" y="6355080"/>
            <a:ext cx="6400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数学网格功能主义  ·  Swiss Grid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E2231A"/>
                </a:solidFill>
                <a:latin typeface="Segoe UI"/>
                <a:ea typeface="微软雅黑"/>
                <a:cs typeface="微软雅黑"/>
              </a:rPr>
              <a:t>EXECUTION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5156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图集 / 案例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E223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2103120"/>
            <a:ext cx="3332378" cy="1805940"/>
          </a:xfrm>
          <a:prstGeom prst="rect">
            <a:avLst/>
          </a:prstGeom>
          <a:solidFill>
            <a:srgbClr val="F7F7F5"/>
          </a:solidFill>
          <a:ln w="12700">
            <a:solidFill>
              <a:srgbClr val="D8D8D4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284149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作品 1</a:t>
            </a:r>
          </a:p>
        </p:txBody>
      </p:sp>
      <p:sp>
        <p:nvSpPr>
          <p:cNvPr id="8" name="Rectangle 7"/>
          <p:cNvSpPr/>
          <p:nvPr/>
        </p:nvSpPr>
        <p:spPr>
          <a:xfrm>
            <a:off x="4429658" y="2103120"/>
            <a:ext cx="3332378" cy="1805940"/>
          </a:xfrm>
          <a:prstGeom prst="rect">
            <a:avLst/>
          </a:prstGeom>
          <a:solidFill>
            <a:srgbClr val="F7F7F5"/>
          </a:solidFill>
          <a:ln w="12700">
            <a:solidFill>
              <a:srgbClr val="D8D8D4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429658" y="284149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作品 2</a:t>
            </a:r>
          </a:p>
        </p:txBody>
      </p:sp>
      <p:sp>
        <p:nvSpPr>
          <p:cNvPr id="10" name="Rectangle 9"/>
          <p:cNvSpPr/>
          <p:nvPr/>
        </p:nvSpPr>
        <p:spPr>
          <a:xfrm>
            <a:off x="8036356" y="2103120"/>
            <a:ext cx="3332378" cy="1805940"/>
          </a:xfrm>
          <a:prstGeom prst="rect">
            <a:avLst/>
          </a:prstGeom>
          <a:solidFill>
            <a:srgbClr val="F7F7F5"/>
          </a:solidFill>
          <a:ln w="12700">
            <a:solidFill>
              <a:srgbClr val="D8D8D4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36356" y="284149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作品 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2960" y="4183379"/>
            <a:ext cx="3332378" cy="1805940"/>
          </a:xfrm>
          <a:prstGeom prst="rect">
            <a:avLst/>
          </a:prstGeom>
          <a:solidFill>
            <a:srgbClr val="F7F7F5"/>
          </a:solidFill>
          <a:ln w="12700">
            <a:solidFill>
              <a:srgbClr val="D8D8D4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2960" y="492175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作品 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429658" y="4183379"/>
            <a:ext cx="3332378" cy="1805940"/>
          </a:xfrm>
          <a:prstGeom prst="rect">
            <a:avLst/>
          </a:prstGeom>
          <a:solidFill>
            <a:srgbClr val="F7F7F5"/>
          </a:solidFill>
          <a:ln w="12700">
            <a:solidFill>
              <a:srgbClr val="D8D8D4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429658" y="492175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作品 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036356" y="4183379"/>
            <a:ext cx="3332378" cy="1805940"/>
          </a:xfrm>
          <a:prstGeom prst="rect">
            <a:avLst/>
          </a:prstGeom>
          <a:solidFill>
            <a:srgbClr val="F7F7F5"/>
          </a:solidFill>
          <a:ln w="12700">
            <a:solidFill>
              <a:srgbClr val="D8D8D4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36356" y="492175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作品 6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6355080"/>
            <a:ext cx="6400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数学网格功能主义  ·  Swiss Grid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0" y="0"/>
            <a:ext cx="5486" cy="6858000"/>
          </a:xfrm>
          <a:prstGeom prst="rect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828800" y="0"/>
            <a:ext cx="5486" cy="6858000"/>
          </a:xfrm>
          <a:prstGeom prst="rect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2743200" y="0"/>
            <a:ext cx="5486" cy="6858000"/>
          </a:xfrm>
          <a:prstGeom prst="rect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3657600" y="0"/>
            <a:ext cx="5486" cy="6858000"/>
          </a:xfrm>
          <a:prstGeom prst="rect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572000" y="0"/>
            <a:ext cx="5486" cy="6858000"/>
          </a:xfrm>
          <a:prstGeom prst="rect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486400" y="0"/>
            <a:ext cx="5486" cy="6858000"/>
          </a:xfrm>
          <a:prstGeom prst="rect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400800" y="0"/>
            <a:ext cx="5486" cy="6858000"/>
          </a:xfrm>
          <a:prstGeom prst="rect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315200" y="0"/>
            <a:ext cx="5486" cy="6858000"/>
          </a:xfrm>
          <a:prstGeom prst="rect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229600" y="0"/>
            <a:ext cx="5486" cy="6858000"/>
          </a:xfrm>
          <a:prstGeom prst="rect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9144000" y="0"/>
            <a:ext cx="5486" cy="6858000"/>
          </a:xfrm>
          <a:prstGeom prst="rect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0058400" y="0"/>
            <a:ext cx="5486" cy="6858000"/>
          </a:xfrm>
          <a:prstGeom prst="rect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10972800" y="0"/>
            <a:ext cx="5486" cy="6858000"/>
          </a:xfrm>
          <a:prstGeom prst="rect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22960" y="0"/>
            <a:ext cx="45720" cy="6858000"/>
          </a:xfrm>
          <a:prstGeom prst="rect">
            <a:avLst/>
          </a:prstGeom>
          <a:solidFill>
            <a:srgbClr val="E223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2960" y="1920240"/>
            <a:ext cx="27432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  <a:spcAft>
                <a:spcPts val="400"/>
              </a:spcAft>
            </a:pPr>
            <a:r>
              <a:rPr sz="9600" b="1" i="0">
                <a:solidFill>
                  <a:srgbClr val="E2231A"/>
                </a:solidFill>
                <a:latin typeface="Segoe UI"/>
                <a:ea typeface="微软雅黑"/>
                <a:cs typeface="微软雅黑"/>
              </a:rPr>
              <a:t>02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22960" y="3520440"/>
            <a:ext cx="566928" cy="54864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2960" y="3703320"/>
            <a:ext cx="8686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400" b="1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结果与数据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2960" y="4709160"/>
            <a:ext cx="7863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在此输入本章导语 · 一句话点题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22960" y="6355080"/>
            <a:ext cx="6400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数学网格功能主义  ·  Swiss Grid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0" y="0"/>
            <a:ext cx="5486" cy="6858000"/>
          </a:xfrm>
          <a:prstGeom prst="rect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828800" y="0"/>
            <a:ext cx="5486" cy="6858000"/>
          </a:xfrm>
          <a:prstGeom prst="rect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2743200" y="0"/>
            <a:ext cx="5486" cy="6858000"/>
          </a:xfrm>
          <a:prstGeom prst="rect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3657600" y="0"/>
            <a:ext cx="5486" cy="6858000"/>
          </a:xfrm>
          <a:prstGeom prst="rect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572000" y="0"/>
            <a:ext cx="5486" cy="6858000"/>
          </a:xfrm>
          <a:prstGeom prst="rect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486400" y="0"/>
            <a:ext cx="5486" cy="6858000"/>
          </a:xfrm>
          <a:prstGeom prst="rect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400800" y="0"/>
            <a:ext cx="5486" cy="6858000"/>
          </a:xfrm>
          <a:prstGeom prst="rect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315200" y="0"/>
            <a:ext cx="5486" cy="6858000"/>
          </a:xfrm>
          <a:prstGeom prst="rect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229600" y="0"/>
            <a:ext cx="5486" cy="6858000"/>
          </a:xfrm>
          <a:prstGeom prst="rect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9144000" y="0"/>
            <a:ext cx="5486" cy="6858000"/>
          </a:xfrm>
          <a:prstGeom prst="rect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0058400" y="0"/>
            <a:ext cx="5486" cy="6858000"/>
          </a:xfrm>
          <a:prstGeom prst="rect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10972800" y="0"/>
            <a:ext cx="5486" cy="6858000"/>
          </a:xfrm>
          <a:prstGeom prst="rect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22960" y="0"/>
            <a:ext cx="45720" cy="6858000"/>
          </a:xfrm>
          <a:prstGeom prst="rect">
            <a:avLst/>
          </a:prstGeom>
          <a:solidFill>
            <a:srgbClr val="E223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4400" y="1463040"/>
            <a:ext cx="182880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0" b="1" i="0">
                <a:solidFill>
                  <a:srgbClr val="E2231A"/>
                </a:solidFill>
                <a:latin typeface="Segoe UI"/>
                <a:ea typeface="微软雅黑"/>
                <a:cs typeface="微软雅黑"/>
              </a:rPr>
              <a:t>“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280160" y="2651760"/>
            <a:ext cx="960120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2600" b="0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在此输入一条关键复盘结论。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280160" y="4754880"/>
            <a:ext cx="566928" cy="54864"/>
          </a:xfrm>
          <a:prstGeom prst="rect">
            <a:avLst/>
          </a:prstGeom>
          <a:solidFill>
            <a:srgbClr val="E223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280160" y="4937760"/>
            <a:ext cx="7315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— 项目组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22960" y="6355080"/>
            <a:ext cx="6400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数学网格功能主义  ·  Swiss Grid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E2231A"/>
                </a:solidFill>
                <a:latin typeface="Segoe UI"/>
                <a:ea typeface="微软雅黑"/>
                <a:cs typeface="微软雅黑"/>
              </a:rPr>
              <a:t>RETROSPECTIVE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5156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团队 / 分工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E223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286000"/>
            <a:ext cx="3301898" cy="3291840"/>
          </a:xfrm>
          <a:prstGeom prst="roundRect">
            <a:avLst>
              <a:gd name="adj" fmla="val 6000"/>
            </a:avLst>
          </a:prstGeom>
          <a:solidFill>
            <a:srgbClr val="F7F7F5"/>
          </a:solidFill>
          <a:ln w="9525">
            <a:solidFill>
              <a:srgbClr val="D8D8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879549" y="2697480"/>
            <a:ext cx="1188720" cy="1188720"/>
          </a:xfrm>
          <a:prstGeom prst="ellipse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879549" y="2697480"/>
            <a:ext cx="1188720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头像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411480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姓名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452628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E2231A"/>
                </a:solidFill>
                <a:latin typeface="Segoe UI"/>
                <a:ea typeface="微软雅黑"/>
                <a:cs typeface="微软雅黑"/>
              </a:rPr>
              <a:t>负责人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444898" y="2286000"/>
            <a:ext cx="3301898" cy="3291840"/>
          </a:xfrm>
          <a:prstGeom prst="roundRect">
            <a:avLst>
              <a:gd name="adj" fmla="val 6000"/>
            </a:avLst>
          </a:prstGeom>
          <a:solidFill>
            <a:srgbClr val="F7F7F5"/>
          </a:solidFill>
          <a:ln w="9525">
            <a:solidFill>
              <a:srgbClr val="D8D8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5501487" y="2697480"/>
            <a:ext cx="1188720" cy="1188720"/>
          </a:xfrm>
          <a:prstGeom prst="ellipse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501487" y="2697480"/>
            <a:ext cx="1188720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头像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27778" y="411480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姓名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27778" y="452628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E2231A"/>
                </a:solidFill>
                <a:latin typeface="Segoe UI"/>
                <a:ea typeface="微软雅黑"/>
                <a:cs typeface="微软雅黑"/>
              </a:rPr>
              <a:t>执行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066836" y="2286000"/>
            <a:ext cx="3301898" cy="3291840"/>
          </a:xfrm>
          <a:prstGeom prst="roundRect">
            <a:avLst>
              <a:gd name="adj" fmla="val 6000"/>
            </a:avLst>
          </a:prstGeom>
          <a:solidFill>
            <a:srgbClr val="F7F7F5"/>
          </a:solidFill>
          <a:ln w="9525">
            <a:solidFill>
              <a:srgbClr val="D8D8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23426" y="2697480"/>
            <a:ext cx="1188720" cy="1188720"/>
          </a:xfrm>
          <a:prstGeom prst="ellipse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23426" y="2697480"/>
            <a:ext cx="1188720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头像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49716" y="411480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姓名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49716" y="452628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E2231A"/>
                </a:solidFill>
                <a:latin typeface="Segoe UI"/>
                <a:ea typeface="微软雅黑"/>
                <a:cs typeface="微软雅黑"/>
              </a:rPr>
              <a:t>协作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2960" y="6355080"/>
            <a:ext cx="6400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数学网格功能主义  ·  Swiss Grid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0" y="0"/>
            <a:ext cx="5486" cy="6858000"/>
          </a:xfrm>
          <a:prstGeom prst="rect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828800" y="0"/>
            <a:ext cx="5486" cy="6858000"/>
          </a:xfrm>
          <a:prstGeom prst="rect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2743200" y="0"/>
            <a:ext cx="5486" cy="6858000"/>
          </a:xfrm>
          <a:prstGeom prst="rect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3657600" y="0"/>
            <a:ext cx="5486" cy="6858000"/>
          </a:xfrm>
          <a:prstGeom prst="rect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572000" y="0"/>
            <a:ext cx="5486" cy="6858000"/>
          </a:xfrm>
          <a:prstGeom prst="rect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486400" y="0"/>
            <a:ext cx="5486" cy="6858000"/>
          </a:xfrm>
          <a:prstGeom prst="rect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400800" y="0"/>
            <a:ext cx="5486" cy="6858000"/>
          </a:xfrm>
          <a:prstGeom prst="rect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315200" y="0"/>
            <a:ext cx="5486" cy="6858000"/>
          </a:xfrm>
          <a:prstGeom prst="rect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229600" y="0"/>
            <a:ext cx="5486" cy="6858000"/>
          </a:xfrm>
          <a:prstGeom prst="rect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9144000" y="0"/>
            <a:ext cx="5486" cy="6858000"/>
          </a:xfrm>
          <a:prstGeom prst="rect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0058400" y="0"/>
            <a:ext cx="5486" cy="6858000"/>
          </a:xfrm>
          <a:prstGeom prst="rect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10972800" y="0"/>
            <a:ext cx="5486" cy="6858000"/>
          </a:xfrm>
          <a:prstGeom prst="rect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22960" y="0"/>
            <a:ext cx="45720" cy="6858000"/>
          </a:xfrm>
          <a:prstGeom prst="rect">
            <a:avLst/>
          </a:prstGeom>
          <a:solidFill>
            <a:srgbClr val="E223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97280" y="2651760"/>
            <a:ext cx="996696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4800" b="1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谢谢观看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684367" y="3931920"/>
            <a:ext cx="822960" cy="91440"/>
          </a:xfrm>
          <a:prstGeom prst="rect">
            <a:avLst/>
          </a:prstGeom>
          <a:solidFill>
            <a:srgbClr val="E223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97280" y="4206240"/>
            <a:ext cx="99669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600" b="0" i="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在此输入联系方式 / 二维码 / 致谢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22960" y="6355080"/>
            <a:ext cx="6400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数学网格功能主义  ·  Swiss Grid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