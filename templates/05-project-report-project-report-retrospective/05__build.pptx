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示例趋势（右键 → 编辑数据）</c:v>
                </c:pt>
              </c:strCache>
            </c:strRef>
          </c:tx>
          <c:spPr>
            <a:ln w="31750">
              <a:solidFill>
                <a:srgbClr val="2F6BFF"/>
              </a:solidFill>
            </a:ln>
          </c:spPr>
          <c:cat>
            <c:strRef>
              <c:f>Sheet1!$A$2:$A$7</c:f>
              <c:strCache>
                <c:ptCount val="6"/>
                <c:pt idx="0">
                  <c:v>一月</c:v>
                </c:pt>
                <c:pt idx="1">
                  <c:v>二月</c:v>
                </c:pt>
                <c:pt idx="2">
                  <c:v>三月</c:v>
                </c:pt>
                <c:pt idx="3">
                  <c:v>四月</c:v>
                </c:pt>
                <c:pt idx="4">
                  <c:v>五月</c:v>
                </c:pt>
                <c:pt idx="5">
                  <c:v>六月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</c:v>
                </c:pt>
                <c:pt idx="1">
                  <c:v>44</c:v>
                </c:pt>
                <c:pt idx="2">
                  <c:v>40</c:v>
                </c:pt>
                <c:pt idx="3">
                  <c:v>56</c:v>
                </c:pt>
                <c:pt idx="4">
                  <c:v>50</c:v>
                </c:pt>
                <c:pt idx="5">
                  <c:v>66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【页面定位】项目汇报与复盘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【页面定位】在此输入一条关键复盘结论。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【页面定位】SWOT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【页面定位】FUNNEL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【页面定位】PYRAMID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【页面定位】GLOSSARY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项目汇报与复盘</a:t>
            </a:r>
          </a:p>
        </p:txBody>
      </p:sp>
      <p:sp>
        <p:nvSpPr>
          <p:cNvPr id="4" name="Rectangle 3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项目汇报与复盘 · 在此输入副标题 / 项目名称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6000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目标回顾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执行过程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结果与数据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反思与下一步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4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0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2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4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8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目标回顾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flash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目标回顾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在此输入「目标回顾」的要点一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在此输入「目标回顾」的要点二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在此输入「目标回顾」的要点三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在此输入「目标回顾」的要点四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2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6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8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2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4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8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0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执行过程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A · 目标回顾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B · 执行过程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8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0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2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2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41" dur="69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6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21" dur="69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4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6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8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01" dur="69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目标回顾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执行过程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结果与数据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反思与下一步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2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4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6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8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2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4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2F6B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执行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2F6B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改进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2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4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6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8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0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2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6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4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6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2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4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6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2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4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8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conveyor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2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4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6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2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4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6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8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结果与数据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flash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在此输入一条关键复盘结论。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SWOT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态势分析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182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109728" cy="1828800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4942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377439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优势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88036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2103120"/>
            <a:ext cx="5029200" cy="182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2103120"/>
            <a:ext cx="109728" cy="18288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224942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377439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劣势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288036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69080"/>
            <a:ext cx="5029200" cy="182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4069080"/>
            <a:ext cx="109728" cy="1828800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21538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34340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机会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84632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4069080"/>
            <a:ext cx="5029200" cy="182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55080" y="4069080"/>
            <a:ext cx="109728" cy="1828800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421538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434340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挑战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484632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8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2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4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8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pan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2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4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6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8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0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2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4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6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8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0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转化漏斗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706727" y="2194560"/>
            <a:ext cx="8778240" cy="786384"/>
          </a:xfrm>
          <a:prstGeom prst="roundRect">
            <a:avLst>
              <a:gd name="adj" fmla="val 18000"/>
            </a:avLst>
          </a:prstGeom>
          <a:solidFill>
            <a:srgbClr val="2F6BFF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2487" y="2414015"/>
            <a:ext cx="67665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层级一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367" y="2414015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100%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21127" y="3127248"/>
            <a:ext cx="6949440" cy="786384"/>
          </a:xfrm>
          <a:prstGeom prst="roundRect">
            <a:avLst>
              <a:gd name="adj" fmla="val 18000"/>
            </a:avLst>
          </a:prstGeom>
          <a:solidFill>
            <a:srgbClr val="1A1A1A">
              <a:alpha val="8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6887" y="3346704"/>
            <a:ext cx="4937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层级二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8967" y="3346704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35527" y="4059935"/>
            <a:ext cx="5120640" cy="786384"/>
          </a:xfrm>
          <a:prstGeom prst="roundRect">
            <a:avLst>
              <a:gd name="adj" fmla="val 18000"/>
            </a:avLst>
          </a:prstGeom>
          <a:solidFill>
            <a:srgbClr val="2F6BFF">
              <a:alpha val="7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01287" y="4279392"/>
            <a:ext cx="3108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层级三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84567" y="4279392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49927" y="4992624"/>
            <a:ext cx="3291840" cy="786384"/>
          </a:xfrm>
          <a:prstGeom prst="roundRect">
            <a:avLst>
              <a:gd name="adj" fmla="val 18000"/>
            </a:avLst>
          </a:prstGeom>
          <a:solidFill>
            <a:srgbClr val="1A1A1A">
              <a:alpha val="6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15687" y="521208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层级四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0167" y="5212080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2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6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2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PYRAMID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金字塔结构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sosceles Triangle 5"/>
          <p:cNvSpPr/>
          <p:nvPr/>
        </p:nvSpPr>
        <p:spPr>
          <a:xfrm>
            <a:off x="4907127" y="2240280"/>
            <a:ext cx="2377440" cy="1078992"/>
          </a:xfrm>
          <a:prstGeom prst="triangl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07127" y="262432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顶层</a:t>
            </a:r>
          </a:p>
        </p:txBody>
      </p:sp>
      <p:sp>
        <p:nvSpPr>
          <p:cNvPr id="8" name="Trapezoid 7"/>
          <p:cNvSpPr/>
          <p:nvPr/>
        </p:nvSpPr>
        <p:spPr>
          <a:xfrm>
            <a:off x="3809847" y="3447288"/>
            <a:ext cx="4572000" cy="1078992"/>
          </a:xfrm>
          <a:prstGeom prst="trapezoid">
            <a:avLst>
              <a:gd name="adj" fmla="val 22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7047" y="3813048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中层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10447" y="379476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在此输入说明（占位）</a:t>
            </a:r>
          </a:p>
        </p:txBody>
      </p:sp>
      <p:sp>
        <p:nvSpPr>
          <p:cNvPr id="11" name="Trapezoid 10"/>
          <p:cNvSpPr/>
          <p:nvPr/>
        </p:nvSpPr>
        <p:spPr>
          <a:xfrm>
            <a:off x="2712567" y="4654296"/>
            <a:ext cx="6766560" cy="1078992"/>
          </a:xfrm>
          <a:prstGeom prst="trapezoid">
            <a:avLst>
              <a:gd name="adj" fmla="val 22000"/>
            </a:avLst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69767" y="5020056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基础层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07727" y="5001768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在此输入说明（占位）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4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6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0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2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术语表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2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4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6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2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4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8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4" name="Rectangle 3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呼吸留白极简">
  <a:themeElements>
    <a:clrScheme name="SlideForge 呼吸留白极简">
      <a:dk1>
        <a:srgbClr val="1A1A1A"/>
      </a:dk1>
      <a:lt1>
        <a:srgbClr val="FBFBFA"/>
      </a:lt1>
      <a:dk2>
        <a:srgbClr val="8A8A8A"/>
      </a:dk2>
      <a:lt2>
        <a:srgbClr val="FFFFFF"/>
      </a:lt2>
      <a:accent1>
        <a:srgbClr val="2F6BFF"/>
      </a:accent1>
      <a:accent2>
        <a:srgbClr val="1A1A1A"/>
      </a:accent2>
      <a:accent3>
        <a:srgbClr val="1A1A1A"/>
      </a:accent3>
      <a:accent4>
        <a:srgbClr val="E6E6E6"/>
      </a:accent4>
      <a:accent5>
        <a:srgbClr val="8A8A8A"/>
      </a:accent5>
      <a:accent6>
        <a:srgbClr val="FFFFFF"/>
      </a:accent6>
      <a:hlink>
        <a:srgbClr val="2F6BFF"/>
      </a:hlink>
      <a:folHlink>
        <a:srgbClr val="8A8A8A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