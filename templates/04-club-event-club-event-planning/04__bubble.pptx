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useTimings="1"/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notesMaster" Target="notesMasters/notesMaster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示例系列（右键 → 编辑数据）</c:v>
                </c:pt>
              </c:strCache>
            </c:strRef>
          </c:tx>
          <c:spPr>
            <a:solidFill>
              <a:srgbClr val="FF5FA2"/>
            </a:solidFill>
          </c:spPr>
          <c:cat>
            <c:strRef>
              <c:f>Sheet1!$A$2:$A$7</c:f>
              <c:strCache>
                <c:ptCount val="6"/>
                <c:pt idx="0">
                  <c:v>指标一</c:v>
                </c:pt>
                <c:pt idx="1">
                  <c:v>指标二</c:v>
                </c:pt>
                <c:pt idx="2">
                  <c:v>指标三</c:v>
                </c:pt>
                <c:pt idx="3">
                  <c:v>指标四</c:v>
                </c:pt>
                <c:pt idx="4">
                  <c:v>指标五</c:v>
                </c:pt>
                <c:pt idx="5">
                  <c:v>指标六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55</c:v>
                </c:pt>
                <c:pt idx="1">
                  <c:v>80</c:v>
                </c:pt>
                <c:pt idx="2">
                  <c:v>45</c:v>
                </c:pt>
                <c:pt idx="3">
                  <c:v>95</c:v>
                </c:pt>
                <c:pt idx="4">
                  <c:v>70</c:v>
                </c:pt>
                <c:pt idx="5">
                  <c:v>60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【页面定位】社团活动策划 —— 开场页：自我介绍或破题，停留时间可稍长。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【页面定位】OVERVIEW —— 概览页：快速带过结构，告诉听众接下来讲什么。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【页面定位】01 —— 内容页：逐条展开，配合动画节奏点击推进。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【页面定位】OVERVIEW —— 数据页：先说结论，再用图表佐证。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【页面定位】KEY POINTS —— 收尾页：总结要点并给出行动号召或联系方式。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【页面定位】METRICS —— 开场页：自我介绍或破题，停留时间可稍长。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【页面定位】PROCESS —— 概览页：快速带过结构，告诉听众接下来讲什么。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【页面定位】PROCESS —— 内容页：逐条展开，配合动画节奏点击推进。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【页面定位】DATA —— 数据页：先说结论，再用图表佐证。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【页面定位】DATA —— 收尾页：总结要点并给出行动号召或联系方式。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【页面定位】KEY POINTS —— 开场页：自我介绍或破题，停留时间可稍长。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【页面定位】02 —— 概览页：快速带过结构，告诉听众接下来讲什么。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【页面定位】在此输入活动口号 / 宣传语。 —— 内容页：逐条展开，配合动画节奏点击推进。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【页面定位】CONVERSION —— 数据页：先说结论，再用图表佐证。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【页面定位】TEAM —— 收尾页：总结要点并给出行动号召或联系方式。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【页面定位】RISK MATRIX —— 开场页：自我介绍或破题，停留时间可稍长。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【页面定位】OPTIONS —— 概览页：快速带过结构，告诉听众接下来讲什么。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【页面定位】MATRIX —— 内容页：逐条展开，配合动画节奏点击推进。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【页面定位】谢谢观看 —— 数据页：先说结论，再用图表佐证。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hrome:decor-1"/>
          <p:cNvSpPr/>
          <p:nvPr/>
        </p:nvSpPr>
        <p:spPr>
          <a:xfrm>
            <a:off x="9509760" y="-914400"/>
            <a:ext cx="2926080" cy="2926080"/>
          </a:xfrm>
          <a:prstGeom prst="ellipse">
            <a:avLst/>
          </a:prstGeom>
          <a:solidFill>
            <a:srgbClr val="FF5FA2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chrome:decor-2"/>
          <p:cNvSpPr/>
          <p:nvPr/>
        </p:nvSpPr>
        <p:spPr>
          <a:xfrm>
            <a:off x="10881360" y="1371600"/>
            <a:ext cx="1920240" cy="1920240"/>
          </a:xfrm>
          <a:prstGeom prst="ellipse">
            <a:avLst/>
          </a:prstGeom>
          <a:solidFill>
            <a:srgbClr val="FFD24D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chrome:decor-3"/>
          <p:cNvSpPr/>
          <p:nvPr/>
        </p:nvSpPr>
        <p:spPr>
          <a:xfrm>
            <a:off x="9418320" y="2926080"/>
            <a:ext cx="1371600" cy="1371600"/>
          </a:xfrm>
          <a:prstGeom prst="rect">
            <a:avLst/>
          </a:prstGeom>
          <a:solidFill>
            <a:srgbClr val="3EC6FF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1874519"/>
            <a:ext cx="822960" cy="91440"/>
          </a:xfrm>
          <a:prstGeom prst="rect">
            <a:avLst/>
          </a:prstGeom>
          <a:solidFill>
            <a:srgbClr val="FF5F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194560"/>
            <a:ext cx="969264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400"/>
              </a:spcAft>
            </a:pPr>
            <a:r>
              <a:rPr sz="4400" b="1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社团活动策划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794760"/>
            <a:ext cx="9144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社团活动策划 · 在此输入副标题 / 项目名称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539496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团队 / 姓名  ·  YYYY-MM-DD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advClick="1" advTm="6000">
        <p14:reveal dir="l"/>
      </p:transition>
    </mc:Choice>
    <mc:Fallback>
      <p:transition spd="med" advClick="1" advTm="6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570" fill="hold" nodeType="clickEffect" grpId="0" presetID="9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4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690" fill="hold" nodeType="afterEffect" grpId="0" presetID="22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6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810" fill="hold" nodeType="afterEffect" grpId="0" presetID="18" presetClass="entr" presetSubtype="1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8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450" fill="hold" nodeType="afterEffect" grpId="0" presetID="22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0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5FA2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目录  CONTENTS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5F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377440"/>
            <a:ext cx="2430703" cy="2194560"/>
          </a:xfrm>
          <a:prstGeom prst="roundRect">
            <a:avLst>
              <a:gd name="adj" fmla="val 32000"/>
            </a:avLst>
          </a:prstGeom>
          <a:solidFill>
            <a:srgbClr val="FFFFFF"/>
          </a:solidFill>
          <a:ln w="9525">
            <a:solidFill>
              <a:srgbClr val="F0E9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FF5FA2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活动背景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27983" y="2377440"/>
            <a:ext cx="2430703" cy="2194560"/>
          </a:xfrm>
          <a:prstGeom prst="roundRect">
            <a:avLst>
              <a:gd name="adj" fmla="val 32000"/>
            </a:avLst>
          </a:prstGeom>
          <a:solidFill>
            <a:srgbClr val="FFFFFF"/>
          </a:solidFill>
          <a:ln w="9525">
            <a:solidFill>
              <a:srgbClr val="F0E9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848023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FF5FA2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48023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活动流程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33007" y="2377440"/>
            <a:ext cx="2430703" cy="2194560"/>
          </a:xfrm>
          <a:prstGeom prst="roundRect">
            <a:avLst>
              <a:gd name="adj" fmla="val 32000"/>
            </a:avLst>
          </a:prstGeom>
          <a:solidFill>
            <a:srgbClr val="FFFFFF"/>
          </a:solidFill>
          <a:ln w="9525">
            <a:solidFill>
              <a:srgbClr val="F0E9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53047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FF5FA2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53047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宣传与报名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38031" y="2377440"/>
            <a:ext cx="2430703" cy="2194560"/>
          </a:xfrm>
          <a:prstGeom prst="roundRect">
            <a:avLst>
              <a:gd name="adj" fmla="val 32000"/>
            </a:avLst>
          </a:prstGeom>
          <a:solidFill>
            <a:srgbClr val="FFFFFF"/>
          </a:solidFill>
          <a:ln w="9525">
            <a:solidFill>
              <a:srgbClr val="F0E9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258071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FF5FA2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258071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预算与分工</a:t>
            </a:r>
          </a:p>
        </p:txBody>
      </p:sp>
      <p:sp>
        <p:nvSpPr>
          <p:cNvPr id="18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E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泡泡堂风  ·  Bubble Pop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690" fill="hold" nodeType="clickEffect" grpId="0" presetID="22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4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810" fill="hold" nodeType="afterEffect" grpId="0" presetID="18" presetClass="entr" presetSubtype="1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6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450" fill="hold" nodeType="afterEffect" grpId="0" presetID="22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8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570" fill="hold" nodeType="afterEffect" grpId="0" presetID="42" presetClass="entr" presetSubtype="1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0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690" fill="hold" nodeType="afterEffect" grpId="0" presetID="43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2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810" fill="hold" nodeType="afterEffect" grpId="0" presetID="21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4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450" fill="hold" nodeType="afterEffect" grpId="0" presetID="10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6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570" fill="hold" nodeType="afterEffect" grpId="0" presetID="25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8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690" fill="hold" nodeType="afterEffect" grpId="0" presetID="45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0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810" fill="hold" nodeType="afterEffect" grpId="0" presetID="22" presetClass="entr" presetSubtype="8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2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450" fill="hold" nodeType="afterEffect" grpId="0" presetID="37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4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570" fill="hold" nodeType="afterEffect" grpId="0" presetID="52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6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690" fill="hold" nodeType="afterEffect" grpId="0" presetID="21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8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810" fill="hold" nodeType="afterEffect" grpId="0" presetID="22" presetClass="entr" presetSubtype="4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301" dur="81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hrome:decor-1"/>
          <p:cNvSpPr/>
          <p:nvPr/>
        </p:nvSpPr>
        <p:spPr>
          <a:xfrm>
            <a:off x="9509760" y="-914400"/>
            <a:ext cx="2926080" cy="2926080"/>
          </a:xfrm>
          <a:prstGeom prst="ellipse">
            <a:avLst/>
          </a:prstGeom>
          <a:solidFill>
            <a:srgbClr val="FF5FA2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chrome:decor-2"/>
          <p:cNvSpPr/>
          <p:nvPr/>
        </p:nvSpPr>
        <p:spPr>
          <a:xfrm>
            <a:off x="10881360" y="1371600"/>
            <a:ext cx="1920240" cy="1920240"/>
          </a:xfrm>
          <a:prstGeom prst="ellipse">
            <a:avLst/>
          </a:prstGeom>
          <a:solidFill>
            <a:srgbClr val="FFD24D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chrome:decor-3"/>
          <p:cNvSpPr/>
          <p:nvPr/>
        </p:nvSpPr>
        <p:spPr>
          <a:xfrm>
            <a:off x="9418320" y="2926080"/>
            <a:ext cx="1371600" cy="1371600"/>
          </a:xfrm>
          <a:prstGeom prst="rect">
            <a:avLst/>
          </a:prstGeom>
          <a:solidFill>
            <a:srgbClr val="3EC6FF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FF5FA2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1F1B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活动背景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10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E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泡泡堂风  ·  Bubble Pop</a:t>
            </a:r>
          </a:p>
        </p:txBody>
      </p:sp>
    </p:spTree>
  </p:cSld>
  <p:clrMapOvr>
    <a:masterClrMapping/>
  </p:clrMapOvr>
  <p:transition spd="med" advClick="1" advTm="6000">
    <p:wipe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810" fill="hold" nodeType="clickEffect" grpId="0" presetID="18" presetClass="entr" presetSubtype="1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4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450" fill="hold" nodeType="afterEffect" grpId="0" presetID="22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6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570" fill="hold" nodeType="afterEffect" grpId="0" presetID="42" presetClass="entr" presetSubtype="1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8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690" fill="hold" nodeType="afterEffect" grpId="0" presetID="43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0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5FA2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活动背景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5F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148840"/>
            <a:ext cx="1042416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189">
                <a:solidFill>
                  <a:srgbClr val="FF5FA2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70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在此输入「活动背景」的要点一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189">
                <a:solidFill>
                  <a:srgbClr val="FF5FA2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70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在此输入「活动背景」的要点二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189">
                <a:solidFill>
                  <a:srgbClr val="FF5FA2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70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在此输入「活动背景」的要点三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189">
                <a:solidFill>
                  <a:srgbClr val="FF5FA2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70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在此输入「活动背景」的要点四</a:t>
            </a:r>
          </a:p>
        </p:txBody>
      </p:sp>
      <p:sp>
        <p:nvSpPr>
          <p:cNvPr id="7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E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泡泡堂风  ·  Bubble Pop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450" fill="hold" nodeType="clickEffect" grpId="0" presetID="22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4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570" fill="hold" nodeType="afterEffect" grpId="0" presetID="42" presetClass="entr" presetSubtype="1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6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690" fill="hold" nodeType="afterEffect" grpId="0" presetID="43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8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5FA2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活动流程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5F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5029200" cy="3840480"/>
          </a:xfrm>
          <a:prstGeom prst="roundRect">
            <a:avLst>
              <a:gd name="adj" fmla="val 32000"/>
            </a:avLst>
          </a:prstGeom>
          <a:solidFill>
            <a:srgbClr val="FFFFFF"/>
          </a:solidFill>
          <a:ln w="9525">
            <a:solidFill>
              <a:srgbClr val="F0E9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103120"/>
            <a:ext cx="5029200" cy="109728"/>
          </a:xfrm>
          <a:prstGeom prst="rect">
            <a:avLst/>
          </a:prstGeom>
          <a:solidFill>
            <a:srgbClr val="FF5F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A · 活动背景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FF5FA2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FF5FA2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FF5FA2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55080" y="2103120"/>
            <a:ext cx="5029200" cy="3840480"/>
          </a:xfrm>
          <a:prstGeom prst="roundRect">
            <a:avLst>
              <a:gd name="adj" fmla="val 32000"/>
            </a:avLst>
          </a:prstGeom>
          <a:solidFill>
            <a:srgbClr val="FFFFFF"/>
          </a:solidFill>
          <a:ln w="9525">
            <a:solidFill>
              <a:srgbClr val="F0E9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55080" y="2103120"/>
            <a:ext cx="5029200" cy="109728"/>
          </a:xfrm>
          <a:prstGeom prst="rect">
            <a:avLst/>
          </a:prstGeom>
          <a:solidFill>
            <a:srgbClr val="3EC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2084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B · 活动流程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2084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3EC6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3EC6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3EC6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4" name="Oval 13"/>
          <p:cNvSpPr/>
          <p:nvPr/>
        </p:nvSpPr>
        <p:spPr>
          <a:xfrm>
            <a:off x="5711799" y="3703320"/>
            <a:ext cx="768096" cy="768096"/>
          </a:xfrm>
          <a:prstGeom prst="ellipse">
            <a:avLst/>
          </a:prstGeom>
          <a:solidFill>
            <a:srgbClr val="1F1B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11799" y="3703320"/>
            <a:ext cx="768096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DF8"/>
                </a:solidFill>
                <a:latin typeface="Segoe UI"/>
                <a:ea typeface="微软雅黑"/>
                <a:cs typeface="微软雅黑"/>
              </a:rPr>
              <a:t>VS</a:t>
            </a:r>
          </a:p>
        </p:txBody>
      </p:sp>
      <p:sp>
        <p:nvSpPr>
          <p:cNvPr id="16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E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泡泡堂风  ·  Bubble Pop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med" advClick="1" advTm="8000">
        <p159:morph option="byObject"/>
      </p:transition>
    </mc:Choice>
    <mc:Fallback>
      <p:transition spd="med" advClick="1" advTm="8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570" fill="hold" nodeType="clickEffect" grpId="0" presetID="42" presetClass="entr" presetSubtype="1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4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690" fill="hold" nodeType="afterEffect" grpId="0" presetID="43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6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810" fill="hold" nodeType="afterEffect" grpId="0" presetID="21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8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450" fill="hold" nodeType="afterEffect" grpId="0" presetID="10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0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570" fill="hold" nodeType="afterEffect" grpId="0" presetID="2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2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690" fill="hold" nodeType="afterEffect" grpId="0" presetID="4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4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810" fill="hold" nodeType="afterEffect" grpId="0" presetID="22" presetClass="entr" presetSubtype="8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6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450" fill="hold" nodeType="afterEffect" grpId="0" presetID="37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8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570" fill="hold" nodeType="afterEffect" grpId="0" presetID="52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0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690" fill="hold" nodeType="afterEffect" grpId="0" presetID="21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2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810" fill="hold" nodeType="afterEffect" grpId="0" presetID="22" presetClass="entr" presetSubtype="4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4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450" fill="hold" nodeType="afterEffect" grpId="0" presetID="9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6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5FA2"/>
                </a:solidFill>
                <a:latin typeface="Segoe UI"/>
                <a:ea typeface="微软雅黑"/>
                <a:cs typeface="微软雅黑"/>
              </a:rPr>
              <a:t>METRICS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关键数据一览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5F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2430703" cy="3886200"/>
          </a:xfrm>
          <a:prstGeom prst="roundRect">
            <a:avLst>
              <a:gd name="adj" fmla="val 32000"/>
            </a:avLst>
          </a:prstGeom>
          <a:solidFill>
            <a:srgbClr val="FFFFFF"/>
          </a:solidFill>
          <a:ln w="9525">
            <a:solidFill>
              <a:srgbClr val="F0E9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43000" y="2468879"/>
            <a:ext cx="457200" cy="54864"/>
          </a:xfrm>
          <a:prstGeom prst="rect">
            <a:avLst/>
          </a:prstGeom>
          <a:solidFill>
            <a:srgbClr val="FF5F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F5FA2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指标一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27983" y="2103120"/>
            <a:ext cx="2430703" cy="3886200"/>
          </a:xfrm>
          <a:prstGeom prst="roundRect">
            <a:avLst>
              <a:gd name="adj" fmla="val 32000"/>
            </a:avLst>
          </a:prstGeom>
          <a:solidFill>
            <a:srgbClr val="FFFFFF"/>
          </a:solidFill>
          <a:ln w="9525">
            <a:solidFill>
              <a:srgbClr val="F0E9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848023" y="2468879"/>
            <a:ext cx="457200" cy="54864"/>
          </a:xfrm>
          <a:prstGeom prst="rect">
            <a:avLst/>
          </a:prstGeom>
          <a:solidFill>
            <a:srgbClr val="FF5F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48023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F5FA2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8023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指标二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8023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33007" y="2103120"/>
            <a:ext cx="2430703" cy="3886200"/>
          </a:xfrm>
          <a:prstGeom prst="roundRect">
            <a:avLst>
              <a:gd name="adj" fmla="val 32000"/>
            </a:avLst>
          </a:prstGeom>
          <a:solidFill>
            <a:srgbClr val="FFFFFF"/>
          </a:solidFill>
          <a:ln w="9525">
            <a:solidFill>
              <a:srgbClr val="F0E9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553047" y="2468879"/>
            <a:ext cx="457200" cy="54864"/>
          </a:xfrm>
          <a:prstGeom prst="rect">
            <a:avLst/>
          </a:prstGeom>
          <a:solidFill>
            <a:srgbClr val="FF5F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53047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F5FA2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53047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指标三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53047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38031" y="2103120"/>
            <a:ext cx="2430703" cy="3886200"/>
          </a:xfrm>
          <a:prstGeom prst="roundRect">
            <a:avLst>
              <a:gd name="adj" fmla="val 32000"/>
            </a:avLst>
          </a:prstGeom>
          <a:solidFill>
            <a:srgbClr val="FFFFFF"/>
          </a:solidFill>
          <a:ln w="9525">
            <a:solidFill>
              <a:srgbClr val="F0E9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258071" y="2468879"/>
            <a:ext cx="457200" cy="54864"/>
          </a:xfrm>
          <a:prstGeom prst="rect">
            <a:avLst/>
          </a:prstGeom>
          <a:solidFill>
            <a:srgbClr val="FF5F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58071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F5FA2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58071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指标四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58071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6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E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泡泡堂风  ·  Bubble Pop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advClick="1" advTm="10000">
        <p14:glitter dir="l"/>
      </p:transition>
    </mc:Choice>
    <mc:Fallback>
      <p:transition spd="med" advClick="1" advTm="10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690" fill="hold" nodeType="clickEffect" grpId="0" presetID="43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4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810" fill="hold" nodeType="afterEffect" grpId="0" presetID="21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6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450" fill="hold" nodeType="afterEffect" grpId="0" presetID="10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8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570" fill="hold" nodeType="afterEffect" grpId="0" presetID="2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0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690" fill="hold" nodeType="afterEffect" grpId="0" presetID="4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2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810" fill="hold" nodeType="afterEffect" grpId="0" presetID="22" presetClass="entr" presetSubtype="8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41" dur="810"/>
                                  <p:tgtEl>
                                    <p:spTgt spid="2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450" fill="hold" nodeType="afterEffect" grpId="0" presetID="37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6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570" fill="hold" nodeType="afterEffect" grpId="0" presetID="52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8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690" fill="hold" nodeType="afterEffect" grpId="0" presetID="21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01" dur="69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810" fill="hold" nodeType="afterEffect" grpId="0" presetID="22" presetClass="entr" presetSubtype="4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21" dur="810"/>
                                  <p:tgtEl>
                                    <p:spTgt spid="2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450" fill="hold" nodeType="afterEffect" grpId="0" presetID="9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4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570" fill="hold" nodeType="afterEffect" grpId="0" presetID="22" presetClass="entr" presetSubtype="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6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690" fill="hold" nodeType="afterEffect" grpId="0" presetID="18" presetClass="entr" presetSubtype="1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81" dur="69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810" fill="hold" nodeType="afterEffect" grpId="0" presetID="22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301" dur="810"/>
                                  <p:tgtEl>
                                    <p:spTgt spid="23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5FA2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排期 / 路线图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5F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1234440" y="3063240"/>
            <a:ext cx="9722815" cy="0"/>
          </a:xfrm>
          <a:prstGeom prst="line">
            <a:avLst/>
          </a:prstGeom>
          <a:ln w="25400">
            <a:solidFill>
              <a:srgbClr val="F0E9F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088136" y="2916936"/>
            <a:ext cx="292608" cy="292608"/>
          </a:xfrm>
          <a:prstGeom prst="ellipse">
            <a:avLst/>
          </a:prstGeom>
          <a:solidFill>
            <a:srgbClr val="FF5F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FF5FA2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活动背景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Oval 10"/>
          <p:cNvSpPr/>
          <p:nvPr/>
        </p:nvSpPr>
        <p:spPr>
          <a:xfrm>
            <a:off x="4329074" y="2916936"/>
            <a:ext cx="292608" cy="292608"/>
          </a:xfrm>
          <a:prstGeom prst="ellipse">
            <a:avLst/>
          </a:prstGeom>
          <a:solidFill>
            <a:srgbClr val="FF5F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09618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FF5FA2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0978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活动流程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0978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5" name="Oval 14"/>
          <p:cNvSpPr/>
          <p:nvPr/>
        </p:nvSpPr>
        <p:spPr>
          <a:xfrm>
            <a:off x="7570012" y="2916936"/>
            <a:ext cx="292608" cy="292608"/>
          </a:xfrm>
          <a:prstGeom prst="ellipse">
            <a:avLst/>
          </a:prstGeom>
          <a:solidFill>
            <a:srgbClr val="FF5F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50556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FF5FA2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01916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宣传与报名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01916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9" name="Oval 18"/>
          <p:cNvSpPr/>
          <p:nvPr/>
        </p:nvSpPr>
        <p:spPr>
          <a:xfrm>
            <a:off x="10810951" y="2916936"/>
            <a:ext cx="292608" cy="292608"/>
          </a:xfrm>
          <a:prstGeom prst="ellipse">
            <a:avLst/>
          </a:prstGeom>
          <a:solidFill>
            <a:srgbClr val="FF5F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91495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FF5FA2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42855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预算与分工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42855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3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E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泡泡堂风  ·  Bubble Pop</a:t>
            </a:r>
          </a:p>
        </p:txBody>
      </p:sp>
    </p:spTree>
  </p:cSld>
  <p:clrMapOvr>
    <a:masterClrMapping/>
  </p:clrMapOvr>
  <p:transition spd="med" advClick="1" advTm="8000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810" fill="hold" nodeType="clickEffect" grpId="0" presetID="21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4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450" fill="hold" nodeType="afterEffect" grpId="0" presetID="10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6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570" fill="hold" nodeType="afterEffect" grpId="0" presetID="2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8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690" fill="hold" nodeType="afterEffect" grpId="0" presetID="4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01" dur="69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810" fill="hold" nodeType="afterEffect" grpId="0" presetID="22" presetClass="entr" presetSubtype="8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2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450" fill="hold" nodeType="afterEffect" grpId="0" presetID="37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41" dur="45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570" fill="hold" nodeType="afterEffect" grpId="0" presetID="52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6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690" fill="hold" nodeType="afterEffect" grpId="0" presetID="21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8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810" fill="hold" nodeType="afterEffect" grpId="0" presetID="22" presetClass="entr" presetSubtype="4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0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450" fill="hold" nodeType="afterEffect" grpId="0" presetID="9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2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570" fill="hold" nodeType="afterEffect" grpId="0" presetID="22" presetClass="entr" presetSubtype="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4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690" fill="hold" nodeType="afterEffect" grpId="0" presetID="18" presetClass="entr" presetSubtype="1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61" dur="69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810" fill="hold" nodeType="afterEffect" grpId="0" presetID="22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8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450" fill="hold" nodeType="afterEffect" grpId="0" presetID="42" presetClass="entr" presetSubtype="1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30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5FA2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工作流程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5F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FF5FA2"/>
          </a:solidFill>
          <a:ln w="9525">
            <a:solidFill>
              <a:srgbClr val="F0E9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发起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06241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16553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F0E9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17721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审批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99835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0147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FF5FA2"/>
          </a:solidFill>
          <a:ln w="9525">
            <a:solidFill>
              <a:srgbClr val="F0E9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11315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宣传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93429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03741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F0E9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04909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执行</a:t>
            </a:r>
          </a:p>
        </p:txBody>
      </p:sp>
      <p:sp>
        <p:nvSpPr>
          <p:cNvPr id="17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E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泡泡堂风  ·  Bubble Pop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med" advClick="1" advTm="8000">
        <p159:morph option="byObject"/>
      </p:transition>
    </mc:Choice>
    <mc:Fallback>
      <p:transition spd="med" advClick="1" advTm="8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450" fill="hold" nodeType="clickEffect" grpId="0" presetID="10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4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570" fill="hold" nodeType="afterEffect" grpId="0" presetID="2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6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690" fill="hold" nodeType="afterEffect" grpId="0" presetID="4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8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810" fill="hold" nodeType="afterEffect" grpId="0" presetID="22" presetClass="entr" presetSubtype="8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0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450" fill="hold" nodeType="afterEffect" grpId="0" presetID="37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2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570" fill="hold" nodeType="afterEffect" grpId="0" presetID="52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4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690" fill="hold" nodeType="afterEffect" grpId="0" presetID="21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6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810" fill="hold" nodeType="afterEffect" grpId="0" presetID="22" presetClass="entr" presetSubtype="4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8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450" fill="hold" nodeType="afterEffect" grpId="0" presetID="9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0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570" fill="hold" nodeType="afterEffect" grpId="0" presetID="22" presetClass="entr" presetSubtype="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2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690" fill="hold" nodeType="afterEffect" grpId="0" presetID="18" presetClass="entr" presetSubtype="1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4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810" fill="hold" nodeType="afterEffect" grpId="0" presetID="22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6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450" fill="hold" nodeType="afterEffect" grpId="0" presetID="42" presetClass="entr" presetSubtype="1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8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5FA2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数据图表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5F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7680960" cy="3886200"/>
          </a:xfrm>
          <a:prstGeom prst="roundRect">
            <a:avLst>
              <a:gd name="adj" fmla="val 32000"/>
            </a:avLst>
          </a:prstGeom>
          <a:solidFill>
            <a:srgbClr val="FFFFFF"/>
          </a:solidFill>
          <a:ln w="9525">
            <a:solidFill>
              <a:srgbClr val="F0E9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1188720" y="2331720"/>
          <a:ext cx="5852160" cy="3429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1280160" y="5623560"/>
            <a:ext cx="5852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 i="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原生可编辑图表 · 右键图表 → 编辑数据 即可替换数值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0" y="224028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关键结论 / 解读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69680" y="2743200"/>
            <a:ext cx="26517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FF5FA2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FF5FA2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FF5FA2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1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E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泡泡堂风  ·  Bubble Pop</a:t>
            </a:r>
          </a:p>
        </p:txBody>
      </p:sp>
    </p:spTree>
  </p:cSld>
  <p:clrMapOvr>
    <a:masterClrMapping/>
  </p:clrMapOvr>
  <p:transition spd="med" advClick="1" advTm="10000">
    <p:circle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570" fill="hold" nodeType="clickEffect" grpId="0" presetID="2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4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690" fill="hold" nodeType="afterEffect" grpId="0" presetID="4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6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810" fill="hold" nodeType="afterEffect" grpId="0" presetID="22" presetClass="entr" presetSubtype="8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8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450" fill="hold" nodeType="afterEffect" grpId="0" presetID="37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0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570" fill="hold" nodeType="afterEffect" grpId="0" presetID="52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2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690" fill="hold" nodeType="afterEffect" grpId="0" presetID="21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4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810" fill="hold" nodeType="afterEffect" grpId="0" presetID="22" presetClass="entr" presetSubtype="4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6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5FA2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明细表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5F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48840"/>
            <a:ext cx="10545775" cy="640080"/>
          </a:xfrm>
          <a:prstGeom prst="rect">
            <a:avLst/>
          </a:prstGeom>
          <a:solidFill>
            <a:srgbClr val="FF5F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项目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21098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内容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36356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备注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2788920"/>
            <a:ext cx="10545775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822960" y="2788920"/>
            <a:ext cx="10545775" cy="0"/>
          </a:xfrm>
          <a:prstGeom prst="line">
            <a:avLst/>
          </a:prstGeom>
          <a:ln w="7620">
            <a:solidFill>
              <a:srgbClr val="F0E9F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1005840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项一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1098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36356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22960" y="3429000"/>
            <a:ext cx="10545775" cy="0"/>
          </a:xfrm>
          <a:prstGeom prst="line">
            <a:avLst/>
          </a:prstGeom>
          <a:ln w="7620">
            <a:solidFill>
              <a:srgbClr val="F0E9F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005840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项二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1098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36356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4069079"/>
            <a:ext cx="10545775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822960" y="4069079"/>
            <a:ext cx="10545775" cy="0"/>
          </a:xfrm>
          <a:prstGeom prst="line">
            <a:avLst/>
          </a:prstGeom>
          <a:ln w="7620">
            <a:solidFill>
              <a:srgbClr val="F0E9F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1005840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项三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21098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36356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24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E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泡泡堂风  ·  Bubble Pop</a:t>
            </a:r>
          </a:p>
        </p:txBody>
      </p:sp>
    </p:spTree>
  </p:cSld>
  <p:clrMapOvr>
    <a:masterClrMapping/>
  </p:clrMapOvr>
  <p:transition spd="med" advClick="1" advTm="10000">
    <p:wheel spokes="1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690" fill="hold" nodeType="clickEffect" grpId="0" presetID="4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4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810" fill="hold" nodeType="afterEffect" grpId="0" presetID="22" presetClass="entr" presetSubtype="8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6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450" fill="hold" nodeType="afterEffect" grpId="0" presetID="37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8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570" fill="hold" nodeType="afterEffect" grpId="0" presetID="52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0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690" fill="hold" nodeType="afterEffect" grpId="0" presetID="21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2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810" fill="hold" nodeType="afterEffect" grpId="0" presetID="22" presetClass="entr" presetSubtype="4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4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450" fill="hold" nodeType="afterEffect" grpId="0" presetID="9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6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570" fill="hold" nodeType="afterEffect" grpId="0" presetID="22" presetClass="entr" presetSubtype="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8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690" fill="hold" nodeType="afterEffect" grpId="0" presetID="18" presetClass="entr" presetSubtype="1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0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810" fill="hold" nodeType="afterEffect" grpId="0" presetID="22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2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450" fill="hold" nodeType="afterEffect" grpId="0" presetID="42" presetClass="entr" presetSubtype="1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4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570" fill="hold" nodeType="afterEffect" grpId="0" presetID="43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6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690" fill="hold" nodeType="afterEffect" grpId="0" presetID="21" presetClass="entr" presetSubtype="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8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810" fill="hold" nodeType="afterEffect" grpId="0" presetID="10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301" dur="81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5FA2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图集 / 案例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5F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03120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F0E9F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作品 1</a:t>
            </a:r>
          </a:p>
        </p:txBody>
      </p:sp>
      <p:sp>
        <p:nvSpPr>
          <p:cNvPr id="8" name="Rectangle 7"/>
          <p:cNvSpPr/>
          <p:nvPr/>
        </p:nvSpPr>
        <p:spPr>
          <a:xfrm>
            <a:off x="4429658" y="2103120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F0E9F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29658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作品 2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36356" y="2103120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F0E9F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36356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作品 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183379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F0E9F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作品 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29658" y="4183379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F0E9F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29658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作品 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36356" y="4183379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F0E9F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36356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作品 6</a:t>
            </a:r>
          </a:p>
        </p:txBody>
      </p:sp>
      <p:sp>
        <p:nvSpPr>
          <p:cNvPr id="18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E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泡泡堂风  ·  Bubble Pop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advClick="1" advTm="10000">
        <p14:switch dir="l"/>
      </p:transition>
    </mc:Choice>
    <mc:Fallback>
      <p:transition spd="med" advClick="1" advTm="10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810" fill="hold" nodeType="clickEffect" grpId="0" presetID="22" presetClass="entr" presetSubtype="8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4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450" fill="hold" nodeType="afterEffect" grpId="0" presetID="37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6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570" fill="hold" nodeType="afterEffect" grpId="0" presetID="52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8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690" fill="hold" nodeType="afterEffect" grpId="0" presetID="21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0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810" fill="hold" nodeType="afterEffect" grpId="0" presetID="22" presetClass="entr" presetSubtype="4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2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450" fill="hold" nodeType="afterEffect" grpId="0" presetID="9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4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570" fill="hold" nodeType="afterEffect" grpId="0" presetID="22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6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690" fill="hold" nodeType="afterEffect" grpId="0" presetID="18" presetClass="entr" presetSubtype="1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8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810" fill="hold" nodeType="afterEffect" grpId="0" presetID="22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0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450" fill="hold" nodeType="afterEffect" grpId="0" presetID="42" presetClass="entr" presetSubtype="1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2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570" fill="hold" nodeType="afterEffect" grpId="0" presetID="43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4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690" fill="hold" nodeType="afterEffect" grpId="0" presetID="21" presetClass="entr" presetSubtype="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6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810" fill="hold" nodeType="afterEffect" grpId="0" presetID="10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8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450" fill="hold" nodeType="afterEffect" grpId="0" presetID="25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301" dur="45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hrome:decor-1"/>
          <p:cNvSpPr/>
          <p:nvPr/>
        </p:nvSpPr>
        <p:spPr>
          <a:xfrm>
            <a:off x="9509760" y="-914400"/>
            <a:ext cx="2926080" cy="2926080"/>
          </a:xfrm>
          <a:prstGeom prst="ellipse">
            <a:avLst/>
          </a:prstGeom>
          <a:solidFill>
            <a:srgbClr val="FF5FA2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chrome:decor-2"/>
          <p:cNvSpPr/>
          <p:nvPr/>
        </p:nvSpPr>
        <p:spPr>
          <a:xfrm>
            <a:off x="10881360" y="1371600"/>
            <a:ext cx="1920240" cy="1920240"/>
          </a:xfrm>
          <a:prstGeom prst="ellipse">
            <a:avLst/>
          </a:prstGeom>
          <a:solidFill>
            <a:srgbClr val="FFD24D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chrome:decor-3"/>
          <p:cNvSpPr/>
          <p:nvPr/>
        </p:nvSpPr>
        <p:spPr>
          <a:xfrm>
            <a:off x="9418320" y="2926080"/>
            <a:ext cx="1371600" cy="1371600"/>
          </a:xfrm>
          <a:prstGeom prst="rect">
            <a:avLst/>
          </a:prstGeom>
          <a:solidFill>
            <a:srgbClr val="3EC6FF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FF5FA2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1F1B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宣传与报名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10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E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泡泡堂风  ·  Bubble Pop</a:t>
            </a:r>
          </a:p>
        </p:txBody>
      </p:sp>
    </p:spTree>
  </p:cSld>
  <p:clrMapOvr>
    <a:masterClrMapping/>
  </p:clrMapOvr>
  <p:transition spd="med" advClick="1" advTm="6000">
    <p:wipe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450" fill="hold" nodeType="clickEffect" grpId="0" presetID="37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4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570" fill="hold" nodeType="afterEffect" grpId="0" presetID="52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6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690" fill="hold" nodeType="afterEffect" grpId="0" presetID="21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8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810" fill="hold" nodeType="afterEffect" grpId="0" presetID="22" presetClass="entr" presetSubtype="4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0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hrome:decor-1"/>
          <p:cNvSpPr/>
          <p:nvPr/>
        </p:nvSpPr>
        <p:spPr>
          <a:xfrm>
            <a:off x="9509760" y="-914400"/>
            <a:ext cx="2926080" cy="2926080"/>
          </a:xfrm>
          <a:prstGeom prst="ellipse">
            <a:avLst/>
          </a:prstGeom>
          <a:solidFill>
            <a:srgbClr val="FF5FA2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chrome:decor-2"/>
          <p:cNvSpPr/>
          <p:nvPr/>
        </p:nvSpPr>
        <p:spPr>
          <a:xfrm>
            <a:off x="10881360" y="1371600"/>
            <a:ext cx="1920240" cy="1920240"/>
          </a:xfrm>
          <a:prstGeom prst="ellipse">
            <a:avLst/>
          </a:prstGeom>
          <a:solidFill>
            <a:srgbClr val="FFD24D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chrome:decor-3"/>
          <p:cNvSpPr/>
          <p:nvPr/>
        </p:nvSpPr>
        <p:spPr>
          <a:xfrm>
            <a:off x="9418320" y="2926080"/>
            <a:ext cx="1371600" cy="1371600"/>
          </a:xfrm>
          <a:prstGeom prst="rect">
            <a:avLst/>
          </a:prstGeom>
          <a:solidFill>
            <a:srgbClr val="3EC6FF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463040"/>
            <a:ext cx="18288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0" b="1" i="0">
                <a:solidFill>
                  <a:srgbClr val="FF5FA2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2651760"/>
            <a:ext cx="96012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2600" b="0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在此输入活动口号 / 宣传语。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1280160" y="4754880"/>
            <a:ext cx="566928" cy="54864"/>
          </a:xfrm>
          <a:prstGeom prst="rect">
            <a:avLst/>
          </a:prstGeom>
          <a:solidFill>
            <a:srgbClr val="FF5F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280160" y="493776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— 署名 / 出处</a:t>
            </a:r>
          </a:p>
        </p:txBody>
      </p:sp>
      <p:sp>
        <p:nvSpPr>
          <p:cNvPr id="10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E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泡泡堂风  ·  Bubble Pop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570" fill="hold" nodeType="clickEffect" grpId="0" presetID="52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4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690" fill="hold" nodeType="afterEffect" grpId="0" presetID="21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6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810" fill="hold" nodeType="afterEffect" grpId="0" presetID="22" presetClass="entr" presetSubtype="4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8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450" fill="hold" nodeType="afterEffect" grpId="0" presetID="9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0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5FA2"/>
                </a:solidFill>
                <a:latin typeface="Segoe UI"/>
                <a:ea typeface="微软雅黑"/>
                <a:cs typeface="微软雅黑"/>
              </a:rPr>
              <a:t>CONVERSION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转化 / 分配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5F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706727" y="2194560"/>
            <a:ext cx="8778240" cy="786384"/>
          </a:xfrm>
          <a:prstGeom prst="roundRect">
            <a:avLst>
              <a:gd name="adj" fmla="val 18000"/>
            </a:avLst>
          </a:prstGeom>
          <a:solidFill>
            <a:srgbClr val="FF5FA2">
              <a:alpha val="9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072487" y="2414015"/>
            <a:ext cx="676655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阶段一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13367" y="2414015"/>
            <a:ext cx="1005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100%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621127" y="3127248"/>
            <a:ext cx="6949440" cy="786384"/>
          </a:xfrm>
          <a:prstGeom prst="roundRect">
            <a:avLst>
              <a:gd name="adj" fmla="val 18000"/>
            </a:avLst>
          </a:prstGeom>
          <a:solidFill>
            <a:srgbClr val="3EC6FF">
              <a:alpha val="8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986887" y="3346704"/>
            <a:ext cx="493775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阶段二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98967" y="3346704"/>
            <a:ext cx="1005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00%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535527" y="4059935"/>
            <a:ext cx="5120640" cy="786384"/>
          </a:xfrm>
          <a:prstGeom prst="roundRect">
            <a:avLst>
              <a:gd name="adj" fmla="val 18000"/>
            </a:avLst>
          </a:prstGeom>
          <a:solidFill>
            <a:srgbClr val="FF5FA2">
              <a:alpha val="7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901287" y="4279392"/>
            <a:ext cx="310895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阶段三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84567" y="4279392"/>
            <a:ext cx="1005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00%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449927" y="4992624"/>
            <a:ext cx="3291840" cy="786384"/>
          </a:xfrm>
          <a:prstGeom prst="roundRect">
            <a:avLst>
              <a:gd name="adj" fmla="val 18000"/>
            </a:avLst>
          </a:prstGeom>
          <a:solidFill>
            <a:srgbClr val="3EC6FF">
              <a:alpha val="6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815687" y="5212080"/>
            <a:ext cx="1280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阶段四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70167" y="5212080"/>
            <a:ext cx="1005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00%</a:t>
            </a:r>
          </a:p>
        </p:txBody>
      </p:sp>
      <p:sp>
        <p:nvSpPr>
          <p:cNvPr id="18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E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泡泡堂风  ·  Bubble Pop</a:t>
            </a:r>
          </a:p>
        </p:txBody>
      </p:sp>
    </p:spTree>
  </p:cSld>
  <p:clrMapOvr>
    <a:masterClrMapping/>
  </p:clrMapOvr>
  <p:transition spd="med" advClick="1" advTm="10000">
    <p:circle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690" fill="hold" nodeType="clickEffect" grpId="0" presetID="21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4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810" fill="hold" nodeType="afterEffect" grpId="0" presetID="22" presetClass="entr" presetSubtype="4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6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450" fill="hold" nodeType="afterEffect" grpId="0" presetID="9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8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570" fill="hold" nodeType="afterEffect" grpId="0" presetID="22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0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690" fill="hold" nodeType="afterEffect" grpId="0" presetID="18" presetClass="entr" presetSubtype="1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2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810" fill="hold" nodeType="afterEffect" grpId="0" presetID="22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4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450" fill="hold" nodeType="afterEffect" grpId="0" presetID="42" presetClass="entr" presetSubtype="1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6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570" fill="hold" nodeType="afterEffect" grpId="0" presetID="43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8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690" fill="hold" nodeType="afterEffect" grpId="0" presetID="21" presetClass="entr" presetSubtype="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0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810" fill="hold" nodeType="afterEffect" grpId="0" presetID="10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2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450" fill="hold" nodeType="afterEffect" grpId="0" presetID="25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4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570" fill="hold" nodeType="afterEffect" grpId="0" presetID="45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6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690" fill="hold" nodeType="afterEffect" grpId="0" presetID="22" presetClass="entr" presetSubtype="8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8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810" fill="hold" nodeType="afterEffect" grpId="0" presetID="37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301" dur="81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5FA2"/>
                </a:solidFill>
                <a:latin typeface="Segoe UI"/>
                <a:ea typeface="微软雅黑"/>
                <a:cs typeface="微软雅黑"/>
              </a:rPr>
              <a:t>TEAM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团队 / 分工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5F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286000"/>
            <a:ext cx="3301898" cy="3291840"/>
          </a:xfrm>
          <a:prstGeom prst="roundRect">
            <a:avLst>
              <a:gd name="adj" fmla="val 32000"/>
            </a:avLst>
          </a:prstGeom>
          <a:solidFill>
            <a:srgbClr val="FFFFFF"/>
          </a:solidFill>
          <a:ln w="9525">
            <a:solidFill>
              <a:srgbClr val="F0E9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879549" y="2697480"/>
            <a:ext cx="1188720" cy="1188720"/>
          </a:xfrm>
          <a:prstGeom prst="ellipse">
            <a:avLst/>
          </a:prstGeom>
          <a:solidFill>
            <a:srgbClr val="F0E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79549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FF5FA2"/>
                </a:solidFill>
                <a:latin typeface="Segoe UI"/>
                <a:ea typeface="微软雅黑"/>
                <a:cs typeface="微软雅黑"/>
              </a:rPr>
              <a:t>角色一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44898" y="2286000"/>
            <a:ext cx="3301898" cy="3291840"/>
          </a:xfrm>
          <a:prstGeom prst="roundRect">
            <a:avLst>
              <a:gd name="adj" fmla="val 32000"/>
            </a:avLst>
          </a:prstGeom>
          <a:solidFill>
            <a:srgbClr val="FFFFFF"/>
          </a:solidFill>
          <a:ln w="9525">
            <a:solidFill>
              <a:srgbClr val="F0E9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501487" y="2697480"/>
            <a:ext cx="1188720" cy="1188720"/>
          </a:xfrm>
          <a:prstGeom prst="ellipse">
            <a:avLst/>
          </a:prstGeom>
          <a:solidFill>
            <a:srgbClr val="F0E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01487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27778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7778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FF5FA2"/>
                </a:solidFill>
                <a:latin typeface="Segoe UI"/>
                <a:ea typeface="微软雅黑"/>
                <a:cs typeface="微软雅黑"/>
              </a:rPr>
              <a:t>角色二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66836" y="2286000"/>
            <a:ext cx="3301898" cy="3291840"/>
          </a:xfrm>
          <a:prstGeom prst="roundRect">
            <a:avLst>
              <a:gd name="adj" fmla="val 32000"/>
            </a:avLst>
          </a:prstGeom>
          <a:solidFill>
            <a:srgbClr val="FFFFFF"/>
          </a:solidFill>
          <a:ln w="9525">
            <a:solidFill>
              <a:srgbClr val="F0E9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23426" y="2697480"/>
            <a:ext cx="1188720" cy="1188720"/>
          </a:xfrm>
          <a:prstGeom prst="ellipse">
            <a:avLst/>
          </a:prstGeom>
          <a:solidFill>
            <a:srgbClr val="F0E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23426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49716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49716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FF5FA2"/>
                </a:solidFill>
                <a:latin typeface="Segoe UI"/>
                <a:ea typeface="微软雅黑"/>
                <a:cs typeface="微软雅黑"/>
              </a:rPr>
              <a:t>角色三</a:t>
            </a:r>
          </a:p>
        </p:txBody>
      </p:sp>
      <p:sp>
        <p:nvSpPr>
          <p:cNvPr id="21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E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泡泡堂风  ·  Bubble Pop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advClick="1" advTm="10000">
        <p14:conveyor dir="r"/>
      </p:transition>
    </mc:Choice>
    <mc:Fallback>
      <p:transition spd="med" advClick="1" advTm="10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810" fill="hold" nodeType="clickEffect" grpId="0" presetID="22" presetClass="entr" presetSubtype="4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4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450" fill="hold" nodeType="afterEffect" grpId="0" presetID="9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6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570" fill="hold" nodeType="afterEffect" grpId="0" presetID="22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8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690" fill="hold" nodeType="afterEffect" grpId="0" presetID="18" presetClass="entr" presetSubtype="1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0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810" fill="hold" nodeType="afterEffect" grpId="0" presetID="22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2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450" fill="hold" nodeType="afterEffect" grpId="0" presetID="42" presetClass="entr" presetSubtype="1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4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570" fill="hold" nodeType="afterEffect" grpId="0" presetID="43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6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690" fill="hold" nodeType="afterEffect" grpId="0" presetID="21" presetClass="entr" presetSubtype="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8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810" fill="hold" nodeType="afterEffect" grpId="0" presetID="10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0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450" fill="hold" nodeType="afterEffect" grpId="0" presetID="25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21" dur="45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570" fill="hold" nodeType="afterEffect" grpId="0" presetID="45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41" dur="57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690" fill="hold" nodeType="afterEffect" grpId="0" presetID="22" presetClass="entr" presetSubtype="8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6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810" fill="hold" nodeType="afterEffect" grpId="0" presetID="37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8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450" fill="hold" nodeType="afterEffect" grpId="0" presetID="52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301" dur="45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5FA2"/>
                </a:solidFill>
                <a:latin typeface="Segoe UI"/>
                <a:ea typeface="微软雅黑"/>
                <a:cs typeface="微软雅黑"/>
              </a:rPr>
              <a:t>RISK MATRIX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概率 × 影响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5F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011680" y="2148840"/>
            <a:ext cx="2194560" cy="896112"/>
          </a:xfrm>
          <a:prstGeom prst="rect">
            <a:avLst/>
          </a:prstGeom>
          <a:solidFill>
            <a:srgbClr val="3EC6FF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261104" y="2148840"/>
            <a:ext cx="2194560" cy="896112"/>
          </a:xfrm>
          <a:prstGeom prst="rect">
            <a:avLst/>
          </a:prstGeom>
          <a:solidFill>
            <a:srgbClr val="3EC6FF">
              <a:alpha val="24333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510528" y="2148840"/>
            <a:ext cx="2194560" cy="896112"/>
          </a:xfrm>
          <a:prstGeom prst="rect">
            <a:avLst/>
          </a:prstGeom>
          <a:solidFill>
            <a:srgbClr val="3EC6FF">
              <a:alpha val="32667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759952" y="2148840"/>
            <a:ext cx="2194560" cy="896112"/>
          </a:xfrm>
          <a:prstGeom prst="rect">
            <a:avLst/>
          </a:prstGeom>
          <a:solidFill>
            <a:srgbClr val="FF5FA2">
              <a:alpha val="41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011680" y="3099816"/>
            <a:ext cx="2194560" cy="896112"/>
          </a:xfrm>
          <a:prstGeom prst="rect">
            <a:avLst/>
          </a:prstGeom>
          <a:solidFill>
            <a:srgbClr val="3EC6FF">
              <a:alpha val="24333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261104" y="3099816"/>
            <a:ext cx="2194560" cy="896112"/>
          </a:xfrm>
          <a:prstGeom prst="rect">
            <a:avLst/>
          </a:prstGeom>
          <a:solidFill>
            <a:srgbClr val="3EC6FF">
              <a:alpha val="32667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510528" y="3099816"/>
            <a:ext cx="2194560" cy="896112"/>
          </a:xfrm>
          <a:prstGeom prst="rect">
            <a:avLst/>
          </a:prstGeom>
          <a:solidFill>
            <a:srgbClr val="FF5FA2">
              <a:alpha val="41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759952" y="3099816"/>
            <a:ext cx="2194560" cy="896112"/>
          </a:xfrm>
          <a:prstGeom prst="rect">
            <a:avLst/>
          </a:prstGeom>
          <a:solidFill>
            <a:srgbClr val="FF5FA2">
              <a:alpha val="49333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011680" y="4050791"/>
            <a:ext cx="2194560" cy="896112"/>
          </a:xfrm>
          <a:prstGeom prst="rect">
            <a:avLst/>
          </a:prstGeom>
          <a:solidFill>
            <a:srgbClr val="3EC6FF">
              <a:alpha val="32667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261104" y="4050791"/>
            <a:ext cx="2194560" cy="896112"/>
          </a:xfrm>
          <a:prstGeom prst="rect">
            <a:avLst/>
          </a:prstGeom>
          <a:solidFill>
            <a:srgbClr val="FF5FA2">
              <a:alpha val="41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510528" y="4050791"/>
            <a:ext cx="2194560" cy="896112"/>
          </a:xfrm>
          <a:prstGeom prst="rect">
            <a:avLst/>
          </a:prstGeom>
          <a:solidFill>
            <a:srgbClr val="FF5FA2">
              <a:alpha val="49333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59952" y="4050791"/>
            <a:ext cx="2194560" cy="896112"/>
          </a:xfrm>
          <a:prstGeom prst="rect">
            <a:avLst/>
          </a:prstGeom>
          <a:solidFill>
            <a:srgbClr val="1F1B2E">
              <a:alpha val="57667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2011680" y="5001768"/>
            <a:ext cx="2194560" cy="896112"/>
          </a:xfrm>
          <a:prstGeom prst="rect">
            <a:avLst/>
          </a:prstGeom>
          <a:solidFill>
            <a:srgbClr val="FF5FA2">
              <a:alpha val="41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261104" y="5001768"/>
            <a:ext cx="2194560" cy="896112"/>
          </a:xfrm>
          <a:prstGeom prst="rect">
            <a:avLst/>
          </a:prstGeom>
          <a:solidFill>
            <a:srgbClr val="FF5FA2">
              <a:alpha val="49333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510528" y="5001768"/>
            <a:ext cx="2194560" cy="896112"/>
          </a:xfrm>
          <a:prstGeom prst="rect">
            <a:avLst/>
          </a:prstGeom>
          <a:solidFill>
            <a:srgbClr val="1F1B2E">
              <a:alpha val="57667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759952" y="5001768"/>
            <a:ext cx="2194560" cy="896112"/>
          </a:xfrm>
          <a:prstGeom prst="rect">
            <a:avLst/>
          </a:prstGeom>
          <a:solidFill>
            <a:srgbClr val="1F1B2E">
              <a:alpha val="6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3017520"/>
            <a:ext cx="1097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影响 ↑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0" y="5943600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概率 →</a:t>
            </a:r>
          </a:p>
        </p:txBody>
      </p:sp>
      <p:sp>
        <p:nvSpPr>
          <p:cNvPr id="24" name="Oval 23"/>
          <p:cNvSpPr/>
          <p:nvPr/>
        </p:nvSpPr>
        <p:spPr>
          <a:xfrm>
            <a:off x="5202936" y="2441448"/>
            <a:ext cx="310896" cy="310896"/>
          </a:xfrm>
          <a:prstGeom prst="ellipse">
            <a:avLst/>
          </a:prstGeom>
          <a:solidFill>
            <a:srgbClr val="FF5F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202936" y="2441448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109960" y="2194560"/>
            <a:ext cx="4480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1 · 风险一</a:t>
            </a:r>
          </a:p>
        </p:txBody>
      </p:sp>
      <p:sp>
        <p:nvSpPr>
          <p:cNvPr id="27" name="Oval 26"/>
          <p:cNvSpPr/>
          <p:nvPr/>
        </p:nvSpPr>
        <p:spPr>
          <a:xfrm>
            <a:off x="7452360" y="3392424"/>
            <a:ext cx="310896" cy="310896"/>
          </a:xfrm>
          <a:prstGeom prst="ellipse">
            <a:avLst/>
          </a:prstGeom>
          <a:solidFill>
            <a:srgbClr val="FF5F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452360" y="3392424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109960" y="2761488"/>
            <a:ext cx="4480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2 · 风险二</a:t>
            </a:r>
          </a:p>
        </p:txBody>
      </p:sp>
      <p:sp>
        <p:nvSpPr>
          <p:cNvPr id="30" name="Oval 29"/>
          <p:cNvSpPr/>
          <p:nvPr/>
        </p:nvSpPr>
        <p:spPr>
          <a:xfrm>
            <a:off x="9701784" y="4343400"/>
            <a:ext cx="310896" cy="310896"/>
          </a:xfrm>
          <a:prstGeom prst="ellipse">
            <a:avLst/>
          </a:prstGeom>
          <a:solidFill>
            <a:srgbClr val="FF5F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701784" y="4343400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109960" y="3328415"/>
            <a:ext cx="4480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3 · 风险三</a:t>
            </a:r>
          </a:p>
        </p:txBody>
      </p:sp>
      <p:sp>
        <p:nvSpPr>
          <p:cNvPr id="33" name="Oval 32"/>
          <p:cNvSpPr/>
          <p:nvPr/>
        </p:nvSpPr>
        <p:spPr>
          <a:xfrm>
            <a:off x="2953512" y="2441448"/>
            <a:ext cx="310896" cy="310896"/>
          </a:xfrm>
          <a:prstGeom prst="ellipse">
            <a:avLst/>
          </a:prstGeom>
          <a:solidFill>
            <a:srgbClr val="FF5F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2953512" y="2441448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109960" y="3895344"/>
            <a:ext cx="4480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4 · 风险四</a:t>
            </a:r>
          </a:p>
        </p:txBody>
      </p:sp>
      <p:sp>
        <p:nvSpPr>
          <p:cNvPr id="36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E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泡泡堂风  ·  Bubble Pop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advClick="1" advTm="10000">
        <p14:glitter dir="l"/>
      </p:transition>
    </mc:Choice>
    <mc:Fallback>
      <p:transition spd="med" advClick="1" advTm="10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450" fill="hold" nodeType="clickEffect" grpId="0" presetID="9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4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570" fill="hold" nodeType="afterEffect" grpId="0" presetID="22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6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690" fill="hold" nodeType="afterEffect" grpId="0" presetID="18" presetClass="entr" presetSubtype="1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8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810" fill="hold" nodeType="afterEffect" grpId="0" presetID="22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0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450" fill="hold" nodeType="afterEffect" grpId="0" presetID="42" presetClass="entr" presetSubtype="1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2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570" fill="hold" nodeType="afterEffect" grpId="0" presetID="43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4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690" fill="hold" nodeType="afterEffect" grpId="0" presetID="21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61" dur="690"/>
                                  <p:tgtEl>
                                    <p:spTgt spid="2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810" fill="hold" nodeType="afterEffect" grpId="0" presetID="10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81" dur="810"/>
                                  <p:tgtEl>
                                    <p:spTgt spid="3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450" fill="hold" nodeType="afterEffect" grpId="0" presetID="25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01" dur="450"/>
                                  <p:tgtEl>
                                    <p:spTgt spid="3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570" fill="hold" nodeType="afterEffect" grpId="0" presetID="45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21" dur="570"/>
                                  <p:tgtEl>
                                    <p:spTgt spid="2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690" fill="hold" nodeType="afterEffect" grpId="0" presetID="22" presetClass="entr" presetSubtype="8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41" dur="690"/>
                                  <p:tgtEl>
                                    <p:spTgt spid="2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810" fill="hold" nodeType="afterEffect" grpId="0" presetID="37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61" dur="810"/>
                                  <p:tgtEl>
                                    <p:spTgt spid="2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450" fill="hold" nodeType="afterEffect" grpId="0" presetID="52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81" dur="450"/>
                                  <p:tgtEl>
                                    <p:spTgt spid="2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570" fill="hold" nodeType="afterEffect" grpId="0" presetID="21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30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5FA2"/>
                </a:solidFill>
                <a:latin typeface="Segoe UI"/>
                <a:ea typeface="微软雅黑"/>
                <a:cs typeface="微软雅黑"/>
              </a:rPr>
              <a:t>OPTIONS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方案对比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5F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48840"/>
            <a:ext cx="3332378" cy="3794760"/>
          </a:xfrm>
          <a:prstGeom prst="roundRect">
            <a:avLst>
              <a:gd name="adj" fmla="val 32000"/>
            </a:avLst>
          </a:prstGeom>
          <a:solidFill>
            <a:srgbClr val="FFFFFF"/>
          </a:solidFill>
          <a:ln w="9525">
            <a:solidFill>
              <a:srgbClr val="F0E9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2423160"/>
            <a:ext cx="269229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1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方案一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2834640"/>
            <a:ext cx="269229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657600"/>
            <a:ext cx="2692298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FF5FA2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FF5FA2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FF5FA2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29658" y="2148840"/>
            <a:ext cx="3332378" cy="3794760"/>
          </a:xfrm>
          <a:prstGeom prst="roundRect">
            <a:avLst>
              <a:gd name="adj" fmla="val 32000"/>
            </a:avLst>
          </a:prstGeom>
          <a:solidFill>
            <a:srgbClr val="FF5FA2"/>
          </a:solidFill>
          <a:ln w="9525">
            <a:solidFill>
              <a:srgbClr val="F0E9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49698" y="2423160"/>
            <a:ext cx="269229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方案二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49698" y="2834640"/>
            <a:ext cx="269229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49698" y="3657600"/>
            <a:ext cx="2692298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36356" y="2148840"/>
            <a:ext cx="3332378" cy="3794760"/>
          </a:xfrm>
          <a:prstGeom prst="roundRect">
            <a:avLst>
              <a:gd name="adj" fmla="val 32000"/>
            </a:avLst>
          </a:prstGeom>
          <a:solidFill>
            <a:srgbClr val="FFFFFF"/>
          </a:solidFill>
          <a:ln w="9525">
            <a:solidFill>
              <a:srgbClr val="F0E9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56396" y="2423160"/>
            <a:ext cx="269229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1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方案三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56396" y="2834640"/>
            <a:ext cx="269229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56396" y="3657600"/>
            <a:ext cx="2692298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FF5FA2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FF5FA2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FF5FA2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</p:txBody>
      </p:sp>
      <p:sp>
        <p:nvSpPr>
          <p:cNvPr id="18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E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泡泡堂风  ·  Bubble Pop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advClick="1" advTm="10000">
        <p14:vortex dir="l"/>
      </p:transition>
    </mc:Choice>
    <mc:Fallback>
      <p:transition spd="med" advClick="1" advTm="10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570" fill="hold" nodeType="clickEffect" grpId="0" presetID="22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4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690" fill="hold" nodeType="afterEffect" grpId="0" presetID="18" presetClass="entr" presetSubtype="1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6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810" fill="hold" nodeType="afterEffect" grpId="0" presetID="22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8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450" fill="hold" nodeType="afterEffect" grpId="0" presetID="42" presetClass="entr" presetSubtype="1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0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570" fill="hold" nodeType="afterEffect" grpId="0" presetID="43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2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690" fill="hold" nodeType="afterEffect" grpId="0" presetID="21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4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810" fill="hold" nodeType="afterEffect" grpId="0" presetID="10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6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450" fill="hold" nodeType="afterEffect" grpId="0" presetID="25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8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570" fill="hold" nodeType="afterEffect" grpId="0" presetID="45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0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690" fill="hold" nodeType="afterEffect" grpId="0" presetID="22" presetClass="entr" presetSubtype="8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2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810" fill="hold" nodeType="afterEffect" grpId="0" presetID="37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4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450" fill="hold" nodeType="afterEffect" grpId="0" presetID="52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6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570" fill="hold" nodeType="afterEffect" grpId="0" presetID="21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8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690" fill="hold" nodeType="afterEffect" grpId="0" presetID="22" presetClass="entr" presetSubtype="4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301" dur="69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5FA2"/>
                </a:solidFill>
                <a:latin typeface="Segoe UI"/>
                <a:ea typeface="微软雅黑"/>
                <a:cs typeface="微软雅黑"/>
              </a:rPr>
              <a:t>MATRIX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对比矩阵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5F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48840"/>
            <a:ext cx="10545775" cy="658368"/>
          </a:xfrm>
          <a:prstGeom prst="rect">
            <a:avLst/>
          </a:prstGeom>
          <a:solidFill>
            <a:srgbClr val="1F1B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93680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维度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42283" y="2293680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选项 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78727" y="2293680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选项 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15171" y="2293680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选项 C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2807208"/>
            <a:ext cx="10545775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" name="Connector 11"/>
          <p:cNvCxnSpPr/>
          <p:nvPr/>
        </p:nvCxnSpPr>
        <p:spPr>
          <a:xfrm>
            <a:off x="822960" y="2807208"/>
            <a:ext cx="10545775" cy="0"/>
          </a:xfrm>
          <a:prstGeom prst="line">
            <a:avLst/>
          </a:prstGeom>
          <a:ln w="7620">
            <a:solidFill>
              <a:srgbClr val="F0E9F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1005840" y="2952048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维度一</a:t>
            </a:r>
          </a:p>
        </p:txBody>
      </p:sp>
      <p:sp>
        <p:nvSpPr>
          <p:cNvPr id="14" name="Oval 13"/>
          <p:cNvSpPr/>
          <p:nvPr/>
        </p:nvSpPr>
        <p:spPr>
          <a:xfrm>
            <a:off x="4677041" y="3035808"/>
            <a:ext cx="201168" cy="201168"/>
          </a:xfrm>
          <a:prstGeom prst="ellipse">
            <a:avLst/>
          </a:prstGeom>
          <a:solidFill>
            <a:srgbClr val="FF5F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313485" y="3035808"/>
            <a:ext cx="201168" cy="201168"/>
          </a:xfrm>
          <a:prstGeom prst="ellipse">
            <a:avLst/>
          </a:prstGeom>
          <a:solidFill>
            <a:srgbClr val="FF5F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949929" y="3035808"/>
            <a:ext cx="201168" cy="201168"/>
          </a:xfrm>
          <a:prstGeom prst="ellipse">
            <a:avLst/>
          </a:prstGeom>
          <a:solidFill>
            <a:srgbClr val="F0E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822960" y="3465576"/>
            <a:ext cx="10545775" cy="0"/>
          </a:xfrm>
          <a:prstGeom prst="line">
            <a:avLst/>
          </a:prstGeom>
          <a:ln w="7620">
            <a:solidFill>
              <a:srgbClr val="F0E9F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1005840" y="3610416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维度二</a:t>
            </a:r>
          </a:p>
        </p:txBody>
      </p:sp>
      <p:sp>
        <p:nvSpPr>
          <p:cNvPr id="19" name="Oval 18"/>
          <p:cNvSpPr/>
          <p:nvPr/>
        </p:nvSpPr>
        <p:spPr>
          <a:xfrm>
            <a:off x="4677041" y="3694176"/>
            <a:ext cx="201168" cy="201168"/>
          </a:xfrm>
          <a:prstGeom prst="ellipse">
            <a:avLst/>
          </a:prstGeom>
          <a:solidFill>
            <a:srgbClr val="FF5F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7313485" y="3694176"/>
            <a:ext cx="201168" cy="201168"/>
          </a:xfrm>
          <a:prstGeom prst="ellipse">
            <a:avLst/>
          </a:prstGeom>
          <a:solidFill>
            <a:srgbClr val="F0E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9949929" y="3694176"/>
            <a:ext cx="201168" cy="201168"/>
          </a:xfrm>
          <a:prstGeom prst="ellipse">
            <a:avLst/>
          </a:prstGeom>
          <a:solidFill>
            <a:srgbClr val="FF5F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22960" y="4123944"/>
            <a:ext cx="10545775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3" name="Connector 22"/>
          <p:cNvCxnSpPr/>
          <p:nvPr/>
        </p:nvCxnSpPr>
        <p:spPr>
          <a:xfrm>
            <a:off x="822960" y="4123944"/>
            <a:ext cx="10545775" cy="0"/>
          </a:xfrm>
          <a:prstGeom prst="line">
            <a:avLst/>
          </a:prstGeom>
          <a:ln w="7620">
            <a:solidFill>
              <a:srgbClr val="F0E9F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1005840" y="4268784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维度三</a:t>
            </a:r>
          </a:p>
        </p:txBody>
      </p:sp>
      <p:sp>
        <p:nvSpPr>
          <p:cNvPr id="25" name="Oval 24"/>
          <p:cNvSpPr/>
          <p:nvPr/>
        </p:nvSpPr>
        <p:spPr>
          <a:xfrm>
            <a:off x="4677041" y="4352544"/>
            <a:ext cx="201168" cy="201168"/>
          </a:xfrm>
          <a:prstGeom prst="ellipse">
            <a:avLst/>
          </a:prstGeom>
          <a:solidFill>
            <a:srgbClr val="FF5F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7313485" y="4352544"/>
            <a:ext cx="201168" cy="201168"/>
          </a:xfrm>
          <a:prstGeom prst="ellipse">
            <a:avLst/>
          </a:prstGeom>
          <a:solidFill>
            <a:srgbClr val="FF5F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9949929" y="4352544"/>
            <a:ext cx="201168" cy="201168"/>
          </a:xfrm>
          <a:prstGeom prst="ellipse">
            <a:avLst/>
          </a:prstGeom>
          <a:solidFill>
            <a:srgbClr val="FF5F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E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泡泡堂风  ·  Bubble Pop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advClick="1" advTm="10000">
        <p14:ripple/>
      </p:transition>
    </mc:Choice>
    <mc:Fallback>
      <p:transition spd="med" advClick="1" advTm="10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690" fill="hold" nodeType="clickEffect" grpId="0" presetID="18" presetClass="entr" presetSubtype="1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4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810" fill="hold" nodeType="afterEffect" grpId="0" presetID="22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6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450" fill="hold" nodeType="afterEffect" grpId="0" presetID="42" presetClass="entr" presetSubtype="1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8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570" fill="hold" nodeType="afterEffect" grpId="0" presetID="43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0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690" fill="hold" nodeType="afterEffect" grpId="0" presetID="21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2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810" fill="hold" nodeType="afterEffect" grpId="0" presetID="10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4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450" fill="hold" nodeType="afterEffect" grpId="0" presetID="2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6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570" fill="hold" nodeType="afterEffect" grpId="0" presetID="45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8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690" fill="hold" nodeType="afterEffect" grpId="0" presetID="22" presetClass="entr" presetSubtype="8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0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810" fill="hold" nodeType="afterEffect" grpId="0" presetID="37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2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450" fill="hold" nodeType="afterEffect" grpId="0" presetID="52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4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570" fill="hold" nodeType="afterEffect" grpId="0" presetID="21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6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690" fill="hold" nodeType="afterEffect" grpId="0" presetID="22" presetClass="entr" presetSubtype="4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8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810" fill="hold" nodeType="afterEffect" grpId="0" presetID="9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01" dur="81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hrome:decor-1"/>
          <p:cNvSpPr/>
          <p:nvPr/>
        </p:nvSpPr>
        <p:spPr>
          <a:xfrm>
            <a:off x="9509760" y="-914400"/>
            <a:ext cx="2926080" cy="2926080"/>
          </a:xfrm>
          <a:prstGeom prst="ellipse">
            <a:avLst/>
          </a:prstGeom>
          <a:solidFill>
            <a:srgbClr val="FF5FA2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chrome:decor-2"/>
          <p:cNvSpPr/>
          <p:nvPr/>
        </p:nvSpPr>
        <p:spPr>
          <a:xfrm>
            <a:off x="10881360" y="1371600"/>
            <a:ext cx="1920240" cy="1920240"/>
          </a:xfrm>
          <a:prstGeom prst="ellipse">
            <a:avLst/>
          </a:prstGeom>
          <a:solidFill>
            <a:srgbClr val="FFD24D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chrome:decor-3"/>
          <p:cNvSpPr/>
          <p:nvPr/>
        </p:nvSpPr>
        <p:spPr>
          <a:xfrm>
            <a:off x="9418320" y="2926080"/>
            <a:ext cx="1371600" cy="1371600"/>
          </a:xfrm>
          <a:prstGeom prst="rect">
            <a:avLst/>
          </a:prstGeom>
          <a:solidFill>
            <a:srgbClr val="3EC6FF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2651760"/>
            <a:ext cx="99669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4800" b="1" i="0">
                <a:solidFill>
                  <a:srgbClr val="1F1B2E"/>
                </a:solidFill>
                <a:latin typeface="Segoe UI"/>
                <a:ea typeface="微软雅黑"/>
                <a:cs typeface="微软雅黑"/>
              </a:rPr>
              <a:t>谢谢观看</a:t>
            </a:r>
          </a:p>
        </p:txBody>
      </p:sp>
      <p:sp>
        <p:nvSpPr>
          <p:cNvPr id="7" name="Rectangle 6"/>
          <p:cNvSpPr/>
          <p:nvPr/>
        </p:nvSpPr>
        <p:spPr>
          <a:xfrm>
            <a:off x="5684367" y="3931920"/>
            <a:ext cx="822960" cy="91440"/>
          </a:xfrm>
          <a:prstGeom prst="rect">
            <a:avLst/>
          </a:prstGeom>
          <a:solidFill>
            <a:srgbClr val="FF5F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4206240"/>
            <a:ext cx="9966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在此输入联系方式 / 二维码 / 致谢</a:t>
            </a:r>
          </a:p>
        </p:txBody>
      </p:sp>
      <p:sp>
        <p:nvSpPr>
          <p:cNvPr id="9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E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6A0"/>
                </a:solidFill>
                <a:latin typeface="Segoe UI"/>
                <a:ea typeface="微软雅黑"/>
                <a:cs typeface="微软雅黑"/>
              </a:rPr>
              <a:t>泡泡堂风  ·  Bubble Pop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810" fill="hold" nodeType="clickEffect" grpId="0" presetID="22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4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450" fill="hold" nodeType="afterEffect" grpId="0" presetID="42" presetClass="entr" presetSubtype="1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6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570" fill="hold" nodeType="afterEffect" grpId="0" presetID="43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8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SlideForge 泡泡堂风">
  <a:themeElements>
    <a:clrScheme name="SlideForge 泡泡堂风">
      <a:dk1>
        <a:srgbClr val="1F1B2E"/>
      </a:dk1>
      <a:lt1>
        <a:srgbClr val="FFFDF8"/>
      </a:lt1>
      <a:dk2>
        <a:srgbClr val="8A86A0"/>
      </a:dk2>
      <a:lt2>
        <a:srgbClr val="FFFFFF"/>
      </a:lt2>
      <a:accent1>
        <a:srgbClr val="FF5FA2"/>
      </a:accent1>
      <a:accent2>
        <a:srgbClr val="3EC6FF"/>
      </a:accent2>
      <a:accent3>
        <a:srgbClr val="FFD24D"/>
      </a:accent3>
      <a:accent4>
        <a:srgbClr val="F0E9F5"/>
      </a:accent4>
      <a:accent5>
        <a:srgbClr val="8A86A0"/>
      </a:accent5>
      <a:accent6>
        <a:srgbClr val="FFFFFF"/>
      </a:accent6>
      <a:hlink>
        <a:srgbClr val="FF5FA2"/>
      </a:hlink>
      <a:folHlink>
        <a:srgbClr val="8A86A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