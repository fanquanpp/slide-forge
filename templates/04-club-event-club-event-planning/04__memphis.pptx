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9509760" y="-914400"/>
            <a:ext cx="2926080" cy="2926080"/>
          </a:xfrm>
          <a:prstGeom prst="ellipse">
            <a:avLst/>
          </a:prstGeom>
          <a:solidFill>
            <a:srgbClr val="FF4D6D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10881360" y="1371600"/>
            <a:ext cx="1920240" cy="1920240"/>
          </a:xfrm>
          <a:prstGeom prst="ellipse">
            <a:avLst/>
          </a:prstGeom>
          <a:solidFill>
            <a:srgbClr val="FFB703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9418320" y="2926080"/>
            <a:ext cx="1371600" cy="1371600"/>
          </a:xfrm>
          <a:prstGeom prst="rect">
            <a:avLst/>
          </a:prstGeom>
          <a:solidFill>
            <a:srgbClr val="2EC4B6">
              <a:alpha val="8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22960" y="1874519"/>
            <a:ext cx="822960" cy="91440"/>
          </a:xfrm>
          <a:prstGeom prst="rect">
            <a:avLst/>
          </a:prstGeom>
          <a:solidFill>
            <a:srgbClr val="FF4D6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2194560"/>
            <a:ext cx="969264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400"/>
              </a:spcAft>
            </a:pPr>
            <a:r>
              <a:rPr sz="4400" b="1" i="0">
                <a:solidFill>
                  <a:srgbClr val="111111"/>
                </a:solidFill>
                <a:latin typeface="Segoe UI"/>
                <a:ea typeface="微软雅黑"/>
                <a:cs typeface="微软雅黑"/>
              </a:rPr>
              <a:t>社团活动策划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3794760"/>
            <a:ext cx="91440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800" b="0" i="0">
                <a:solidFill>
                  <a:srgbClr val="6E6E6E"/>
                </a:solidFill>
                <a:latin typeface="Segoe UI"/>
                <a:ea typeface="微软雅黑"/>
                <a:cs typeface="微软雅黑"/>
              </a:rPr>
              <a:t>活动策划案 · 在此输入活动名称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5394960"/>
            <a:ext cx="7315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6E6E6E"/>
                </a:solidFill>
                <a:latin typeface="Segoe UI"/>
                <a:ea typeface="微软雅黑"/>
                <a:cs typeface="微软雅黑"/>
              </a:rPr>
              <a:t>社团 / 协会  ·  YYYY-MM-DD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FF4D6D"/>
                </a:solidFill>
                <a:latin typeface="Segoe UI"/>
                <a:ea typeface="微软雅黑"/>
                <a:cs typeface="微软雅黑"/>
              </a:rPr>
              <a:t>OVERVIEW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5156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111111"/>
                </a:solidFill>
                <a:latin typeface="Segoe UI"/>
                <a:ea typeface="微软雅黑"/>
                <a:cs typeface="微软雅黑"/>
              </a:rPr>
              <a:t>目录  CONTENTS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FF4D6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2148840"/>
            <a:ext cx="7315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800" b="1" i="0">
                <a:solidFill>
                  <a:srgbClr val="FF4D6D"/>
                </a:solidFill>
                <a:latin typeface="Segoe UI"/>
                <a:ea typeface="微软雅黑"/>
                <a:cs typeface="微软雅黑"/>
              </a:rPr>
              <a:t>01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783080" y="2130552"/>
            <a:ext cx="42062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800" b="0" i="0">
                <a:solidFill>
                  <a:srgbClr val="111111"/>
                </a:solidFill>
                <a:latin typeface="Segoe UI"/>
                <a:ea typeface="微软雅黑"/>
                <a:cs typeface="微软雅黑"/>
              </a:rPr>
              <a:t>活动背景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1783080" y="2660904"/>
            <a:ext cx="4160520" cy="0"/>
          </a:xfrm>
          <a:prstGeom prst="line">
            <a:avLst/>
          </a:prstGeom>
          <a:ln w="9525">
            <a:solidFill>
              <a:srgbClr val="F0D9E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6309360" y="2148840"/>
            <a:ext cx="7315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800" b="1" i="0">
                <a:solidFill>
                  <a:srgbClr val="FF4D6D"/>
                </a:solidFill>
                <a:latin typeface="Segoe UI"/>
                <a:ea typeface="微软雅黑"/>
                <a:cs typeface="微软雅黑"/>
              </a:rPr>
              <a:t>02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269480" y="2130552"/>
            <a:ext cx="42062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800" b="0" i="0">
                <a:solidFill>
                  <a:srgbClr val="111111"/>
                </a:solidFill>
                <a:latin typeface="Segoe UI"/>
                <a:ea typeface="微软雅黑"/>
                <a:cs typeface="微软雅黑"/>
              </a:rPr>
              <a:t>活动流程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7269480" y="2660904"/>
            <a:ext cx="4160520" cy="0"/>
          </a:xfrm>
          <a:prstGeom prst="line">
            <a:avLst/>
          </a:prstGeom>
          <a:ln w="9525">
            <a:solidFill>
              <a:srgbClr val="F0D9E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822960" y="3063240"/>
            <a:ext cx="7315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800" b="1" i="0">
                <a:solidFill>
                  <a:srgbClr val="FF4D6D"/>
                </a:solidFill>
                <a:latin typeface="Segoe UI"/>
                <a:ea typeface="微软雅黑"/>
                <a:cs typeface="微软雅黑"/>
              </a:rPr>
              <a:t>03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783080" y="3044952"/>
            <a:ext cx="42062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800" b="0" i="0">
                <a:solidFill>
                  <a:srgbClr val="111111"/>
                </a:solidFill>
                <a:latin typeface="Segoe UI"/>
                <a:ea typeface="微软雅黑"/>
                <a:cs typeface="微软雅黑"/>
              </a:rPr>
              <a:t>宣传与报名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1783080" y="3575304"/>
            <a:ext cx="4160520" cy="0"/>
          </a:xfrm>
          <a:prstGeom prst="line">
            <a:avLst/>
          </a:prstGeom>
          <a:ln w="9525">
            <a:solidFill>
              <a:srgbClr val="F0D9E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/>
          <p:cNvSpPr txBox="1"/>
          <p:nvPr/>
        </p:nvSpPr>
        <p:spPr>
          <a:xfrm>
            <a:off x="6309360" y="3063240"/>
            <a:ext cx="7315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800" b="1" i="0">
                <a:solidFill>
                  <a:srgbClr val="FF4D6D"/>
                </a:solidFill>
                <a:latin typeface="Segoe UI"/>
                <a:ea typeface="微软雅黑"/>
                <a:cs typeface="微软雅黑"/>
              </a:rPr>
              <a:t>04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269480" y="3044952"/>
            <a:ext cx="42062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800" b="0" i="0">
                <a:solidFill>
                  <a:srgbClr val="111111"/>
                </a:solidFill>
                <a:latin typeface="Segoe UI"/>
                <a:ea typeface="微软雅黑"/>
                <a:cs typeface="微软雅黑"/>
              </a:rPr>
              <a:t>预算与分工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7269480" y="3575304"/>
            <a:ext cx="4160520" cy="0"/>
          </a:xfrm>
          <a:prstGeom prst="line">
            <a:avLst/>
          </a:prstGeom>
          <a:ln w="9525">
            <a:solidFill>
              <a:srgbClr val="F0D9E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Rectangle 17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F0D9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22960" y="6355080"/>
            <a:ext cx="6400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6E6E6E"/>
                </a:solidFill>
                <a:latin typeface="Segoe UI"/>
                <a:ea typeface="微软雅黑"/>
                <a:cs typeface="微软雅黑"/>
              </a:rPr>
              <a:t>孟菲斯活力  ·  Memphis Pop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9509760" y="-914400"/>
            <a:ext cx="2926080" cy="2926080"/>
          </a:xfrm>
          <a:prstGeom prst="ellipse">
            <a:avLst/>
          </a:prstGeom>
          <a:solidFill>
            <a:srgbClr val="FF4D6D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10881360" y="1371600"/>
            <a:ext cx="1920240" cy="1920240"/>
          </a:xfrm>
          <a:prstGeom prst="ellipse">
            <a:avLst/>
          </a:prstGeom>
          <a:solidFill>
            <a:srgbClr val="FFB703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9418320" y="2926080"/>
            <a:ext cx="1371600" cy="1371600"/>
          </a:xfrm>
          <a:prstGeom prst="rect">
            <a:avLst/>
          </a:prstGeom>
          <a:solidFill>
            <a:srgbClr val="2EC4B6">
              <a:alpha val="8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1920240"/>
            <a:ext cx="274320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5000"/>
              </a:lnSpc>
              <a:spcAft>
                <a:spcPts val="400"/>
              </a:spcAft>
            </a:pPr>
            <a:r>
              <a:rPr sz="9600" b="1" i="0">
                <a:solidFill>
                  <a:srgbClr val="FF4D6D"/>
                </a:solidFill>
                <a:latin typeface="Segoe UI"/>
                <a:ea typeface="微软雅黑"/>
                <a:cs typeface="微软雅黑"/>
              </a:rPr>
              <a:t>01</a:t>
            </a:r>
          </a:p>
        </p:txBody>
      </p:sp>
      <p:sp>
        <p:nvSpPr>
          <p:cNvPr id="7" name="Rectangle 6"/>
          <p:cNvSpPr/>
          <p:nvPr/>
        </p:nvSpPr>
        <p:spPr>
          <a:xfrm>
            <a:off x="822960" y="3520440"/>
            <a:ext cx="566928" cy="54864"/>
          </a:xfrm>
          <a:prstGeom prst="rect">
            <a:avLst/>
          </a:prstGeom>
          <a:solidFill>
            <a:srgbClr val="1111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" y="3703320"/>
            <a:ext cx="86868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3400" b="1" i="0">
                <a:solidFill>
                  <a:srgbClr val="111111"/>
                </a:solidFill>
                <a:latin typeface="Segoe UI"/>
                <a:ea typeface="微软雅黑"/>
                <a:cs typeface="微软雅黑"/>
              </a:rPr>
              <a:t>活动背景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4709160"/>
            <a:ext cx="78638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0" i="0">
                <a:solidFill>
                  <a:srgbClr val="6E6E6E"/>
                </a:solidFill>
                <a:latin typeface="Segoe UI"/>
                <a:ea typeface="微软雅黑"/>
                <a:cs typeface="微软雅黑"/>
              </a:rPr>
              <a:t>在此输入本章导语 · 一句话点题</a:t>
            </a:r>
          </a:p>
        </p:txBody>
      </p:sp>
      <p:sp>
        <p:nvSpPr>
          <p:cNvPr id="10" name="Rectangle 9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F0D9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22960" y="6355080"/>
            <a:ext cx="6400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6E6E6E"/>
                </a:solidFill>
                <a:latin typeface="Segoe UI"/>
                <a:ea typeface="微软雅黑"/>
                <a:cs typeface="微软雅黑"/>
              </a:rPr>
              <a:t>孟菲斯活力  ·  Memphis Pop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FF4D6D"/>
                </a:solidFill>
                <a:latin typeface="Segoe UI"/>
                <a:ea typeface="微软雅黑"/>
                <a:cs typeface="微软雅黑"/>
              </a:rPr>
              <a:t>BACKGROUND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5156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111111"/>
                </a:solidFill>
                <a:latin typeface="Segoe UI"/>
                <a:ea typeface="微软雅黑"/>
                <a:cs typeface="微软雅黑"/>
              </a:rPr>
              <a:t>活动背景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FF4D6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2148840"/>
            <a:ext cx="10424160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400"/>
              </a:spcAft>
            </a:pPr>
            <a:r>
              <a:rPr sz="1189">
                <a:solidFill>
                  <a:srgbClr val="FF4D6D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700">
                <a:solidFill>
                  <a:srgbClr val="6E6E6E"/>
                </a:solidFill>
                <a:latin typeface="Segoe UI"/>
                <a:ea typeface="微软雅黑"/>
                <a:cs typeface="微软雅黑"/>
              </a:rPr>
              <a:t>在此输入活动目标一</a:t>
            </a:r>
          </a:p>
          <a:p>
            <a:pPr>
              <a:lnSpc>
                <a:spcPct val="115000"/>
              </a:lnSpc>
              <a:spcAft>
                <a:spcPts val="1400"/>
              </a:spcAft>
            </a:pPr>
            <a:r>
              <a:rPr sz="1189">
                <a:solidFill>
                  <a:srgbClr val="FF4D6D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700">
                <a:solidFill>
                  <a:srgbClr val="6E6E6E"/>
                </a:solidFill>
                <a:latin typeface="Segoe UI"/>
                <a:ea typeface="微软雅黑"/>
                <a:cs typeface="微软雅黑"/>
              </a:rPr>
              <a:t>在此输入活动目标二</a:t>
            </a:r>
          </a:p>
          <a:p>
            <a:pPr>
              <a:lnSpc>
                <a:spcPct val="115000"/>
              </a:lnSpc>
              <a:spcAft>
                <a:spcPts val="1400"/>
              </a:spcAft>
            </a:pPr>
            <a:r>
              <a:rPr sz="1189">
                <a:solidFill>
                  <a:srgbClr val="FF4D6D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700">
                <a:solidFill>
                  <a:srgbClr val="6E6E6E"/>
                </a:solidFill>
                <a:latin typeface="Segoe UI"/>
                <a:ea typeface="微软雅黑"/>
                <a:cs typeface="微软雅黑"/>
              </a:rPr>
              <a:t>在此输入活动目标三</a:t>
            </a:r>
          </a:p>
          <a:p>
            <a:pPr>
              <a:lnSpc>
                <a:spcPct val="115000"/>
              </a:lnSpc>
              <a:spcAft>
                <a:spcPts val="1400"/>
              </a:spcAft>
            </a:pPr>
            <a:r>
              <a:rPr sz="1189">
                <a:solidFill>
                  <a:srgbClr val="FF4D6D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700">
                <a:solidFill>
                  <a:srgbClr val="6E6E6E"/>
                </a:solidFill>
                <a:latin typeface="Segoe UI"/>
                <a:ea typeface="微软雅黑"/>
                <a:cs typeface="微软雅黑"/>
              </a:rPr>
              <a:t>在此输入活动目标四</a:t>
            </a:r>
          </a:p>
        </p:txBody>
      </p:sp>
      <p:sp>
        <p:nvSpPr>
          <p:cNvPr id="7" name="Rectangle 6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F0D9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" y="6355080"/>
            <a:ext cx="6400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6E6E6E"/>
                </a:solidFill>
                <a:latin typeface="Segoe UI"/>
                <a:ea typeface="微软雅黑"/>
                <a:cs typeface="微软雅黑"/>
              </a:rPr>
              <a:t>孟菲斯活力  ·  Memphis Pop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FF4D6D"/>
                </a:solidFill>
                <a:latin typeface="Segoe UI"/>
                <a:ea typeface="微软雅黑"/>
                <a:cs typeface="微软雅黑"/>
              </a:rPr>
              <a:t>BACKGROUND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5156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111111"/>
                </a:solidFill>
                <a:latin typeface="Segoe UI"/>
                <a:ea typeface="微软雅黑"/>
                <a:cs typeface="微软雅黑"/>
              </a:rPr>
              <a:t>往期活动 A / 往期活动 B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FF4D6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103120"/>
            <a:ext cx="5029200" cy="3840480"/>
          </a:xfrm>
          <a:prstGeom prst="roundRect">
            <a:avLst>
              <a:gd name="adj" fmla="val 14000"/>
            </a:avLst>
          </a:prstGeom>
          <a:solidFill>
            <a:srgbClr val="FFF7F2"/>
          </a:solidFill>
          <a:ln w="9525">
            <a:solidFill>
              <a:srgbClr val="F0D9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22960" y="2103120"/>
            <a:ext cx="5029200" cy="109728"/>
          </a:xfrm>
          <a:prstGeom prst="rect">
            <a:avLst/>
          </a:prstGeom>
          <a:solidFill>
            <a:srgbClr val="FF4D6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88720" y="2377440"/>
            <a:ext cx="42976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800" b="1" i="0">
                <a:solidFill>
                  <a:srgbClr val="111111"/>
                </a:solidFill>
                <a:latin typeface="Segoe UI"/>
                <a:ea typeface="微软雅黑"/>
                <a:cs typeface="微软雅黑"/>
              </a:rPr>
              <a:t>A · 往期活动 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88720" y="3063240"/>
            <a:ext cx="4297680" cy="2651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014">
                <a:solidFill>
                  <a:srgbClr val="FF4D6D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450">
                <a:solidFill>
                  <a:srgbClr val="6E6E6E"/>
                </a:solidFill>
                <a:latin typeface="Segoe UI"/>
                <a:ea typeface="微软雅黑"/>
                <a:cs typeface="微软雅黑"/>
              </a:rPr>
              <a:t>效果一</a:t>
            </a:r>
          </a:p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014">
                <a:solidFill>
                  <a:srgbClr val="FF4D6D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450">
                <a:solidFill>
                  <a:srgbClr val="6E6E6E"/>
                </a:solidFill>
                <a:latin typeface="Segoe UI"/>
                <a:ea typeface="微软雅黑"/>
                <a:cs typeface="微软雅黑"/>
              </a:rPr>
              <a:t>效果二</a:t>
            </a:r>
          </a:p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014">
                <a:solidFill>
                  <a:srgbClr val="FF4D6D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450">
                <a:solidFill>
                  <a:srgbClr val="6E6E6E"/>
                </a:solidFill>
                <a:latin typeface="Segoe UI"/>
                <a:ea typeface="微软雅黑"/>
                <a:cs typeface="微软雅黑"/>
              </a:rPr>
              <a:t>效果三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355080" y="2103120"/>
            <a:ext cx="5029200" cy="3840480"/>
          </a:xfrm>
          <a:prstGeom prst="roundRect">
            <a:avLst>
              <a:gd name="adj" fmla="val 14000"/>
            </a:avLst>
          </a:prstGeom>
          <a:solidFill>
            <a:srgbClr val="FFF7F2"/>
          </a:solidFill>
          <a:ln w="9525">
            <a:solidFill>
              <a:srgbClr val="F0D9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355080" y="2103120"/>
            <a:ext cx="5029200" cy="109728"/>
          </a:xfrm>
          <a:prstGeom prst="rect">
            <a:avLst/>
          </a:prstGeom>
          <a:solidFill>
            <a:srgbClr val="2EC4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720840" y="2377440"/>
            <a:ext cx="42976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800" b="1" i="0">
                <a:solidFill>
                  <a:srgbClr val="111111"/>
                </a:solidFill>
                <a:latin typeface="Segoe UI"/>
                <a:ea typeface="微软雅黑"/>
                <a:cs typeface="微软雅黑"/>
              </a:rPr>
              <a:t>B · 往期活动 B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720840" y="3063240"/>
            <a:ext cx="4297680" cy="2651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014">
                <a:solidFill>
                  <a:srgbClr val="2EC4B6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450">
                <a:solidFill>
                  <a:srgbClr val="6E6E6E"/>
                </a:solidFill>
                <a:latin typeface="Segoe UI"/>
                <a:ea typeface="微软雅黑"/>
                <a:cs typeface="微软雅黑"/>
              </a:rPr>
              <a:t>效果一</a:t>
            </a:r>
          </a:p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014">
                <a:solidFill>
                  <a:srgbClr val="2EC4B6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450">
                <a:solidFill>
                  <a:srgbClr val="6E6E6E"/>
                </a:solidFill>
                <a:latin typeface="Segoe UI"/>
                <a:ea typeface="微软雅黑"/>
                <a:cs typeface="微软雅黑"/>
              </a:rPr>
              <a:t>效果二</a:t>
            </a:r>
          </a:p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014">
                <a:solidFill>
                  <a:srgbClr val="2EC4B6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450">
                <a:solidFill>
                  <a:srgbClr val="6E6E6E"/>
                </a:solidFill>
                <a:latin typeface="Segoe UI"/>
                <a:ea typeface="微软雅黑"/>
                <a:cs typeface="微软雅黑"/>
              </a:rPr>
              <a:t>效果三</a:t>
            </a:r>
          </a:p>
        </p:txBody>
      </p:sp>
      <p:sp>
        <p:nvSpPr>
          <p:cNvPr id="14" name="Oval 13"/>
          <p:cNvSpPr/>
          <p:nvPr/>
        </p:nvSpPr>
        <p:spPr>
          <a:xfrm>
            <a:off x="5711799" y="3703320"/>
            <a:ext cx="768096" cy="768096"/>
          </a:xfrm>
          <a:prstGeom prst="ellipse">
            <a:avLst/>
          </a:prstGeom>
          <a:solidFill>
            <a:srgbClr val="1111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711799" y="3703320"/>
            <a:ext cx="768096" cy="7680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VS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F0D9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22960" y="6355080"/>
            <a:ext cx="6400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6E6E6E"/>
                </a:solidFill>
                <a:latin typeface="Segoe UI"/>
                <a:ea typeface="微软雅黑"/>
                <a:cs typeface="微软雅黑"/>
              </a:rPr>
              <a:t>孟菲斯活力  ·  Memphis Pop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FF4D6D"/>
                </a:solidFill>
                <a:latin typeface="Segoe UI"/>
                <a:ea typeface="微软雅黑"/>
                <a:cs typeface="微软雅黑"/>
              </a:rPr>
              <a:t>METRICS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5156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111111"/>
                </a:solidFill>
                <a:latin typeface="Segoe UI"/>
                <a:ea typeface="微软雅黑"/>
                <a:cs typeface="微软雅黑"/>
              </a:rPr>
              <a:t>关键数据一览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FF4D6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103120"/>
            <a:ext cx="2430703" cy="3886200"/>
          </a:xfrm>
          <a:prstGeom prst="roundRect">
            <a:avLst>
              <a:gd name="adj" fmla="val 14000"/>
            </a:avLst>
          </a:prstGeom>
          <a:solidFill>
            <a:srgbClr val="FFF7F2"/>
          </a:solidFill>
          <a:ln w="9525">
            <a:solidFill>
              <a:srgbClr val="F0D9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143000" y="2468879"/>
            <a:ext cx="457200" cy="54864"/>
          </a:xfrm>
          <a:prstGeom prst="rect">
            <a:avLst/>
          </a:prstGeom>
          <a:solidFill>
            <a:srgbClr val="FF4D6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43000" y="2670048"/>
            <a:ext cx="1790623" cy="16322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3000" b="1" i="0">
                <a:solidFill>
                  <a:srgbClr val="FF4D6D"/>
                </a:solidFill>
                <a:latin typeface="Segoe UI"/>
                <a:ea typeface="微软雅黑"/>
                <a:cs typeface="微软雅黑"/>
              </a:rPr>
              <a:t>预计人数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43000" y="4668012"/>
            <a:ext cx="1790623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111111"/>
                </a:solidFill>
                <a:latin typeface="Segoe UI"/>
                <a:ea typeface="微软雅黑"/>
                <a:cs typeface="微软雅黑"/>
              </a:rPr>
              <a:t>规模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43000" y="5289804"/>
            <a:ext cx="1790623" cy="11658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6E6E6E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527983" y="2103120"/>
            <a:ext cx="2430703" cy="3886200"/>
          </a:xfrm>
          <a:prstGeom prst="roundRect">
            <a:avLst>
              <a:gd name="adj" fmla="val 14000"/>
            </a:avLst>
          </a:prstGeom>
          <a:solidFill>
            <a:srgbClr val="FFF7F2"/>
          </a:solidFill>
          <a:ln w="9525">
            <a:solidFill>
              <a:srgbClr val="F0D9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3848023" y="2468879"/>
            <a:ext cx="457200" cy="54864"/>
          </a:xfrm>
          <a:prstGeom prst="rect">
            <a:avLst/>
          </a:prstGeom>
          <a:solidFill>
            <a:srgbClr val="FF4D6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848023" y="2670048"/>
            <a:ext cx="1790623" cy="16322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3000" b="1" i="0">
                <a:solidFill>
                  <a:srgbClr val="FF4D6D"/>
                </a:solidFill>
                <a:latin typeface="Segoe UI"/>
                <a:ea typeface="微软雅黑"/>
                <a:cs typeface="微软雅黑"/>
              </a:rPr>
              <a:t>活动时长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848023" y="4668012"/>
            <a:ext cx="1790623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111111"/>
                </a:solidFill>
                <a:latin typeface="Segoe UI"/>
                <a:ea typeface="微软雅黑"/>
                <a:cs typeface="微软雅黑"/>
              </a:rPr>
              <a:t>时间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848023" y="5289804"/>
            <a:ext cx="1790623" cy="11658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6E6E6E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233007" y="2103120"/>
            <a:ext cx="2430703" cy="3886200"/>
          </a:xfrm>
          <a:prstGeom prst="roundRect">
            <a:avLst>
              <a:gd name="adj" fmla="val 14000"/>
            </a:avLst>
          </a:prstGeom>
          <a:solidFill>
            <a:srgbClr val="FFF7F2"/>
          </a:solidFill>
          <a:ln w="9525">
            <a:solidFill>
              <a:srgbClr val="F0D9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553047" y="2468879"/>
            <a:ext cx="457200" cy="54864"/>
          </a:xfrm>
          <a:prstGeom prst="rect">
            <a:avLst/>
          </a:prstGeom>
          <a:solidFill>
            <a:srgbClr val="FF4D6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553047" y="2670048"/>
            <a:ext cx="1790623" cy="16322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3000" b="1" i="0">
                <a:solidFill>
                  <a:srgbClr val="FF4D6D"/>
                </a:solidFill>
                <a:latin typeface="Segoe UI"/>
                <a:ea typeface="微软雅黑"/>
                <a:cs typeface="微软雅黑"/>
              </a:rPr>
              <a:t>预算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553047" y="4668012"/>
            <a:ext cx="1790623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111111"/>
                </a:solidFill>
                <a:latin typeface="Segoe UI"/>
                <a:ea typeface="微软雅黑"/>
                <a:cs typeface="微软雅黑"/>
              </a:rPr>
              <a:t>经费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553047" y="5289804"/>
            <a:ext cx="1790623" cy="11658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6E6E6E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938031" y="2103120"/>
            <a:ext cx="2430703" cy="3886200"/>
          </a:xfrm>
          <a:prstGeom prst="roundRect">
            <a:avLst>
              <a:gd name="adj" fmla="val 14000"/>
            </a:avLst>
          </a:prstGeom>
          <a:solidFill>
            <a:srgbClr val="FFF7F2"/>
          </a:solidFill>
          <a:ln w="9525">
            <a:solidFill>
              <a:srgbClr val="F0D9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9258071" y="2468879"/>
            <a:ext cx="457200" cy="54864"/>
          </a:xfrm>
          <a:prstGeom prst="rect">
            <a:avLst/>
          </a:prstGeom>
          <a:solidFill>
            <a:srgbClr val="FF4D6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258071" y="2670048"/>
            <a:ext cx="1790623" cy="16322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3000" b="1" i="0">
                <a:solidFill>
                  <a:srgbClr val="FF4D6D"/>
                </a:solidFill>
                <a:latin typeface="Segoe UI"/>
                <a:ea typeface="微软雅黑"/>
                <a:cs typeface="微软雅黑"/>
              </a:rPr>
              <a:t>场地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258071" y="4668012"/>
            <a:ext cx="1790623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111111"/>
                </a:solidFill>
                <a:latin typeface="Segoe UI"/>
                <a:ea typeface="微软雅黑"/>
                <a:cs typeface="微软雅黑"/>
              </a:rPr>
              <a:t>地点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258071" y="5289804"/>
            <a:ext cx="1790623" cy="11658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6E6E6E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26" name="Rectangle 25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F0D9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22960" y="6355080"/>
            <a:ext cx="6400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6E6E6E"/>
                </a:solidFill>
                <a:latin typeface="Segoe UI"/>
                <a:ea typeface="微软雅黑"/>
                <a:cs typeface="微软雅黑"/>
              </a:rPr>
              <a:t>孟菲斯活力  ·  Memphis Pop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FF4D6D"/>
                </a:solidFill>
                <a:latin typeface="Segoe UI"/>
                <a:ea typeface="微软雅黑"/>
                <a:cs typeface="微软雅黑"/>
              </a:rPr>
              <a:t>PROMOTION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5156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111111"/>
                </a:solidFill>
                <a:latin typeface="Segoe UI"/>
                <a:ea typeface="微软雅黑"/>
                <a:cs typeface="微软雅黑"/>
              </a:rPr>
              <a:t>排期 / 路线图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FF4D6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6" name="Connector 5"/>
          <p:cNvCxnSpPr/>
          <p:nvPr/>
        </p:nvCxnSpPr>
        <p:spPr>
          <a:xfrm>
            <a:off x="1234440" y="3063240"/>
            <a:ext cx="9722815" cy="0"/>
          </a:xfrm>
          <a:prstGeom prst="line">
            <a:avLst/>
          </a:prstGeom>
          <a:ln w="25400">
            <a:solidFill>
              <a:srgbClr val="F0D9E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Oval 6"/>
          <p:cNvSpPr/>
          <p:nvPr/>
        </p:nvSpPr>
        <p:spPr>
          <a:xfrm>
            <a:off x="1088136" y="2916936"/>
            <a:ext cx="292608" cy="292608"/>
          </a:xfrm>
          <a:prstGeom prst="ellipse">
            <a:avLst/>
          </a:prstGeom>
          <a:solidFill>
            <a:srgbClr val="FF4D6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68680" y="2496312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1" i="0">
                <a:solidFill>
                  <a:srgbClr val="FF4D6D"/>
                </a:solidFill>
                <a:latin typeface="Segoe UI"/>
                <a:ea typeface="微软雅黑"/>
                <a:cs typeface="微软雅黑"/>
              </a:rPr>
              <a:t>01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20040" y="1828800"/>
            <a:ext cx="1828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111111"/>
                </a:solidFill>
                <a:latin typeface="Segoe UI"/>
                <a:ea typeface="微软雅黑"/>
                <a:cs typeface="微软雅黑"/>
              </a:rPr>
              <a:t>报名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20040" y="2212848"/>
            <a:ext cx="1828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  <a:spcAft>
                <a:spcPts val="400"/>
              </a:spcAft>
            </a:pPr>
            <a:r>
              <a:rPr sz="1100" b="0" i="0">
                <a:solidFill>
                  <a:srgbClr val="6E6E6E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11" name="Oval 10"/>
          <p:cNvSpPr/>
          <p:nvPr/>
        </p:nvSpPr>
        <p:spPr>
          <a:xfrm>
            <a:off x="4329074" y="2916936"/>
            <a:ext cx="292608" cy="292608"/>
          </a:xfrm>
          <a:prstGeom prst="ellipse">
            <a:avLst/>
          </a:prstGeom>
          <a:solidFill>
            <a:srgbClr val="FF4D6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109618" y="3154680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1" i="0">
                <a:solidFill>
                  <a:srgbClr val="FF4D6D"/>
                </a:solidFill>
                <a:latin typeface="Segoe UI"/>
                <a:ea typeface="微软雅黑"/>
                <a:cs typeface="微软雅黑"/>
              </a:rPr>
              <a:t>02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560978" y="3474720"/>
            <a:ext cx="1828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111111"/>
                </a:solidFill>
                <a:latin typeface="Segoe UI"/>
                <a:ea typeface="微软雅黑"/>
                <a:cs typeface="微软雅黑"/>
              </a:rPr>
              <a:t>预热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560978" y="3858768"/>
            <a:ext cx="1828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  <a:spcAft>
                <a:spcPts val="400"/>
              </a:spcAft>
            </a:pPr>
            <a:r>
              <a:rPr sz="1100" b="0" i="0">
                <a:solidFill>
                  <a:srgbClr val="6E6E6E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15" name="Oval 14"/>
          <p:cNvSpPr/>
          <p:nvPr/>
        </p:nvSpPr>
        <p:spPr>
          <a:xfrm>
            <a:off x="7570012" y="2916936"/>
            <a:ext cx="292608" cy="292608"/>
          </a:xfrm>
          <a:prstGeom prst="ellipse">
            <a:avLst/>
          </a:prstGeom>
          <a:solidFill>
            <a:srgbClr val="FF4D6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350556" y="2496312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1" i="0">
                <a:solidFill>
                  <a:srgbClr val="FF4D6D"/>
                </a:solidFill>
                <a:latin typeface="Segoe UI"/>
                <a:ea typeface="微软雅黑"/>
                <a:cs typeface="微软雅黑"/>
              </a:rPr>
              <a:t>03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801916" y="1828800"/>
            <a:ext cx="1828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111111"/>
                </a:solidFill>
                <a:latin typeface="Segoe UI"/>
                <a:ea typeface="微软雅黑"/>
                <a:cs typeface="微软雅黑"/>
              </a:rPr>
              <a:t>举办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801916" y="2212848"/>
            <a:ext cx="1828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  <a:spcAft>
                <a:spcPts val="400"/>
              </a:spcAft>
            </a:pPr>
            <a:r>
              <a:rPr sz="1100" b="0" i="0">
                <a:solidFill>
                  <a:srgbClr val="6E6E6E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19" name="Oval 18"/>
          <p:cNvSpPr/>
          <p:nvPr/>
        </p:nvSpPr>
        <p:spPr>
          <a:xfrm>
            <a:off x="10810951" y="2916936"/>
            <a:ext cx="292608" cy="292608"/>
          </a:xfrm>
          <a:prstGeom prst="ellipse">
            <a:avLst/>
          </a:prstGeom>
          <a:solidFill>
            <a:srgbClr val="FF4D6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591495" y="3154680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1" i="0">
                <a:solidFill>
                  <a:srgbClr val="FF4D6D"/>
                </a:solidFill>
                <a:latin typeface="Segoe UI"/>
                <a:ea typeface="微软雅黑"/>
                <a:cs typeface="微软雅黑"/>
              </a:rPr>
              <a:t>04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042855" y="3474720"/>
            <a:ext cx="1828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111111"/>
                </a:solidFill>
                <a:latin typeface="Segoe UI"/>
                <a:ea typeface="微软雅黑"/>
                <a:cs typeface="微软雅黑"/>
              </a:rPr>
              <a:t>复盘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042855" y="3858768"/>
            <a:ext cx="1828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  <a:spcAft>
                <a:spcPts val="400"/>
              </a:spcAft>
            </a:pPr>
            <a:r>
              <a:rPr sz="1100" b="0" i="0">
                <a:solidFill>
                  <a:srgbClr val="6E6E6E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23" name="Rectangle 22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F0D9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22960" y="6355080"/>
            <a:ext cx="6400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6E6E6E"/>
                </a:solidFill>
                <a:latin typeface="Segoe UI"/>
                <a:ea typeface="微软雅黑"/>
                <a:cs typeface="微软雅黑"/>
              </a:rPr>
              <a:t>孟菲斯活力  ·  Memphis Pop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FF4D6D"/>
                </a:solidFill>
                <a:latin typeface="Segoe UI"/>
                <a:ea typeface="微软雅黑"/>
                <a:cs typeface="微软雅黑"/>
              </a:rPr>
              <a:t>PROMOTION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5156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111111"/>
                </a:solidFill>
                <a:latin typeface="Segoe UI"/>
                <a:ea typeface="微软雅黑"/>
                <a:cs typeface="微软雅黑"/>
              </a:rPr>
              <a:t>工作流程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FF4D6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Chevron 5"/>
          <p:cNvSpPr/>
          <p:nvPr/>
        </p:nvSpPr>
        <p:spPr>
          <a:xfrm>
            <a:off x="822960" y="2743200"/>
            <a:ext cx="1926275" cy="1371600"/>
          </a:xfrm>
          <a:prstGeom prst="chevron">
            <a:avLst/>
          </a:prstGeom>
          <a:solidFill>
            <a:srgbClr val="FF4D6D"/>
          </a:solidFill>
          <a:ln w="9525">
            <a:solidFill>
              <a:srgbClr val="F0D9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51560" y="3246120"/>
            <a:ext cx="146907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45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发起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767523" y="3246120"/>
            <a:ext cx="192024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800" b="0" i="0">
                <a:solidFill>
                  <a:srgbClr val="6E6E6E"/>
                </a:solidFill>
                <a:latin typeface="Segoe UI"/>
                <a:ea typeface="微软雅黑"/>
                <a:cs typeface="微软雅黑"/>
              </a:rPr>
              <a:t>›</a:t>
            </a:r>
          </a:p>
        </p:txBody>
      </p:sp>
      <p:sp>
        <p:nvSpPr>
          <p:cNvPr id="9" name="Chevron 8"/>
          <p:cNvSpPr/>
          <p:nvPr/>
        </p:nvSpPr>
        <p:spPr>
          <a:xfrm>
            <a:off x="2977835" y="2743200"/>
            <a:ext cx="1926275" cy="1371600"/>
          </a:xfrm>
          <a:prstGeom prst="chevron">
            <a:avLst/>
          </a:prstGeom>
          <a:solidFill>
            <a:srgbClr val="FFF7F2"/>
          </a:solidFill>
          <a:ln w="9525">
            <a:solidFill>
              <a:srgbClr val="F0D9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206435" y="3246120"/>
            <a:ext cx="146907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450" b="1" i="0">
                <a:solidFill>
                  <a:srgbClr val="111111"/>
                </a:solidFill>
                <a:latin typeface="Segoe UI"/>
                <a:ea typeface="微软雅黑"/>
                <a:cs typeface="微软雅黑"/>
              </a:rPr>
              <a:t>审批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922398" y="3246120"/>
            <a:ext cx="192024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800" b="0" i="0">
                <a:solidFill>
                  <a:srgbClr val="6E6E6E"/>
                </a:solidFill>
                <a:latin typeface="Segoe UI"/>
                <a:ea typeface="微软雅黑"/>
                <a:cs typeface="微软雅黑"/>
              </a:rPr>
              <a:t>›</a:t>
            </a:r>
          </a:p>
        </p:txBody>
      </p:sp>
      <p:sp>
        <p:nvSpPr>
          <p:cNvPr id="12" name="Chevron 11"/>
          <p:cNvSpPr/>
          <p:nvPr/>
        </p:nvSpPr>
        <p:spPr>
          <a:xfrm>
            <a:off x="5132710" y="2743200"/>
            <a:ext cx="1926275" cy="1371600"/>
          </a:xfrm>
          <a:prstGeom prst="chevron">
            <a:avLst/>
          </a:prstGeom>
          <a:solidFill>
            <a:srgbClr val="FF4D6D"/>
          </a:solidFill>
          <a:ln w="9525">
            <a:solidFill>
              <a:srgbClr val="F0D9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361310" y="3246120"/>
            <a:ext cx="146907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45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宣传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077273" y="3246120"/>
            <a:ext cx="192024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800" b="0" i="0">
                <a:solidFill>
                  <a:srgbClr val="6E6E6E"/>
                </a:solidFill>
                <a:latin typeface="Segoe UI"/>
                <a:ea typeface="微软雅黑"/>
                <a:cs typeface="微软雅黑"/>
              </a:rPr>
              <a:t>›</a:t>
            </a:r>
          </a:p>
        </p:txBody>
      </p:sp>
      <p:sp>
        <p:nvSpPr>
          <p:cNvPr id="15" name="Chevron 14"/>
          <p:cNvSpPr/>
          <p:nvPr/>
        </p:nvSpPr>
        <p:spPr>
          <a:xfrm>
            <a:off x="7287585" y="2743200"/>
            <a:ext cx="1926275" cy="1371600"/>
          </a:xfrm>
          <a:prstGeom prst="chevron">
            <a:avLst/>
          </a:prstGeom>
          <a:solidFill>
            <a:srgbClr val="FFF7F2"/>
          </a:solidFill>
          <a:ln w="9525">
            <a:solidFill>
              <a:srgbClr val="F0D9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516185" y="3246120"/>
            <a:ext cx="146907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450" b="1" i="0">
                <a:solidFill>
                  <a:srgbClr val="111111"/>
                </a:solidFill>
                <a:latin typeface="Segoe UI"/>
                <a:ea typeface="微软雅黑"/>
                <a:cs typeface="微软雅黑"/>
              </a:rPr>
              <a:t>执行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232148" y="3246120"/>
            <a:ext cx="192024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800" b="0" i="0">
                <a:solidFill>
                  <a:srgbClr val="6E6E6E"/>
                </a:solidFill>
                <a:latin typeface="Segoe UI"/>
                <a:ea typeface="微软雅黑"/>
                <a:cs typeface="微软雅黑"/>
              </a:rPr>
              <a:t>›</a:t>
            </a:r>
          </a:p>
        </p:txBody>
      </p:sp>
      <p:sp>
        <p:nvSpPr>
          <p:cNvPr id="18" name="Chevron 17"/>
          <p:cNvSpPr/>
          <p:nvPr/>
        </p:nvSpPr>
        <p:spPr>
          <a:xfrm>
            <a:off x="9442460" y="2743200"/>
            <a:ext cx="1926275" cy="1371600"/>
          </a:xfrm>
          <a:prstGeom prst="chevron">
            <a:avLst/>
          </a:prstGeom>
          <a:solidFill>
            <a:srgbClr val="FF4D6D"/>
          </a:solidFill>
          <a:ln w="9525">
            <a:solidFill>
              <a:srgbClr val="F0D9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671060" y="3246120"/>
            <a:ext cx="146907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45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总结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F0D9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22960" y="6355080"/>
            <a:ext cx="6400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6E6E6E"/>
                </a:solidFill>
                <a:latin typeface="Segoe UI"/>
                <a:ea typeface="微软雅黑"/>
                <a:cs typeface="微软雅黑"/>
              </a:rPr>
              <a:t>孟菲斯活力  ·  Memphis Pop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FF4D6D"/>
                </a:solidFill>
                <a:latin typeface="Segoe UI"/>
                <a:ea typeface="微软雅黑"/>
                <a:cs typeface="微软雅黑"/>
              </a:rPr>
              <a:t>PROMOTION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5156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111111"/>
                </a:solidFill>
                <a:latin typeface="Segoe UI"/>
                <a:ea typeface="微软雅黑"/>
                <a:cs typeface="微软雅黑"/>
              </a:rPr>
              <a:t>数据图表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FF4D6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103120"/>
            <a:ext cx="7680960" cy="3886200"/>
          </a:xfrm>
          <a:prstGeom prst="roundRect">
            <a:avLst>
              <a:gd name="adj" fmla="val 14000"/>
            </a:avLst>
          </a:prstGeom>
          <a:solidFill>
            <a:srgbClr val="FFF7F2"/>
          </a:solidFill>
          <a:ln w="9525">
            <a:solidFill>
              <a:srgbClr val="F0D9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371600" y="3877056"/>
            <a:ext cx="685800" cy="1609344"/>
          </a:xfrm>
          <a:prstGeom prst="rect">
            <a:avLst/>
          </a:prstGeom>
          <a:solidFill>
            <a:srgbClr val="FF4D6D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2514600" y="3145535"/>
            <a:ext cx="685800" cy="2340864"/>
          </a:xfrm>
          <a:prstGeom prst="rect">
            <a:avLst/>
          </a:prstGeom>
          <a:solidFill>
            <a:srgbClr val="2EC4B6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3657600" y="4169663"/>
            <a:ext cx="685800" cy="1316736"/>
          </a:xfrm>
          <a:prstGeom prst="rect">
            <a:avLst/>
          </a:prstGeom>
          <a:solidFill>
            <a:srgbClr val="FF4D6D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800600" y="2706624"/>
            <a:ext cx="685800" cy="2779776"/>
          </a:xfrm>
          <a:prstGeom prst="rect">
            <a:avLst/>
          </a:prstGeom>
          <a:solidFill>
            <a:srgbClr val="2EC4B6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943600" y="3438144"/>
            <a:ext cx="685800" cy="2048255"/>
          </a:xfrm>
          <a:prstGeom prst="rect">
            <a:avLst/>
          </a:prstGeom>
          <a:solidFill>
            <a:srgbClr val="FF4D6D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086600" y="3730752"/>
            <a:ext cx="685800" cy="1755648"/>
          </a:xfrm>
          <a:prstGeom prst="rect">
            <a:avLst/>
          </a:prstGeom>
          <a:solidFill>
            <a:srgbClr val="2EC4B6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280160" y="5623560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050" b="0" i="0">
                <a:solidFill>
                  <a:srgbClr val="6E6E6E"/>
                </a:solidFill>
                <a:latin typeface="Segoe UI"/>
                <a:ea typeface="微软雅黑"/>
                <a:cs typeface="微软雅黑"/>
              </a:rPr>
              <a:t>图表占位 · 在 PowerPoint 中插入图表替换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869680" y="2240280"/>
            <a:ext cx="26517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111111"/>
                </a:solidFill>
                <a:latin typeface="Segoe UI"/>
                <a:ea typeface="微软雅黑"/>
                <a:cs typeface="微软雅黑"/>
              </a:rPr>
              <a:t>关键结论 / 解读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869680" y="2743200"/>
            <a:ext cx="2651760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875">
                <a:solidFill>
                  <a:srgbClr val="FF4D6D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250">
                <a:solidFill>
                  <a:srgbClr val="6E6E6E"/>
                </a:solidFill>
                <a:latin typeface="Segoe UI"/>
                <a:ea typeface="微软雅黑"/>
                <a:cs typeface="微软雅黑"/>
              </a:rPr>
              <a:t>在此输入要点一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875">
                <a:solidFill>
                  <a:srgbClr val="FF4D6D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250">
                <a:solidFill>
                  <a:srgbClr val="6E6E6E"/>
                </a:solidFill>
                <a:latin typeface="Segoe UI"/>
                <a:ea typeface="微软雅黑"/>
                <a:cs typeface="微软雅黑"/>
              </a:rPr>
              <a:t>在此输入要点二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875">
                <a:solidFill>
                  <a:srgbClr val="FF4D6D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250">
                <a:solidFill>
                  <a:srgbClr val="6E6E6E"/>
                </a:solidFill>
                <a:latin typeface="Segoe UI"/>
                <a:ea typeface="微软雅黑"/>
                <a:cs typeface="微软雅黑"/>
              </a:rPr>
              <a:t>在此输入要点三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F0D9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22960" y="6355080"/>
            <a:ext cx="6400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6E6E6E"/>
                </a:solidFill>
                <a:latin typeface="Segoe UI"/>
                <a:ea typeface="微软雅黑"/>
                <a:cs typeface="微软雅黑"/>
              </a:rPr>
              <a:t>孟菲斯活力  ·  Memphis Pop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FF4D6D"/>
                </a:solidFill>
                <a:latin typeface="Segoe UI"/>
                <a:ea typeface="微软雅黑"/>
                <a:cs typeface="微软雅黑"/>
              </a:rPr>
              <a:t>BUDGET &amp; TEAM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5156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111111"/>
                </a:solidFill>
                <a:latin typeface="Segoe UI"/>
                <a:ea typeface="微软雅黑"/>
                <a:cs typeface="微软雅黑"/>
              </a:rPr>
              <a:t>明细表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FF4D6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22960" y="2148840"/>
            <a:ext cx="10545775" cy="640080"/>
          </a:xfrm>
          <a:prstGeom prst="rect">
            <a:avLst/>
          </a:prstGeom>
          <a:solidFill>
            <a:srgbClr val="FF4D6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227685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项目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21098" y="227685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负责人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036356" y="227685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截止</a:t>
            </a:r>
          </a:p>
        </p:txBody>
      </p:sp>
      <p:sp>
        <p:nvSpPr>
          <p:cNvPr id="10" name="Rectangle 9"/>
          <p:cNvSpPr/>
          <p:nvPr/>
        </p:nvSpPr>
        <p:spPr>
          <a:xfrm>
            <a:off x="822960" y="2788920"/>
            <a:ext cx="10545775" cy="640080"/>
          </a:xfrm>
          <a:prstGeom prst="rect">
            <a:avLst/>
          </a:prstGeom>
          <a:solidFill>
            <a:srgbClr val="FFF7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1" name="Connector 10"/>
          <p:cNvCxnSpPr/>
          <p:nvPr/>
        </p:nvCxnSpPr>
        <p:spPr>
          <a:xfrm>
            <a:off x="822960" y="2788920"/>
            <a:ext cx="10545775" cy="0"/>
          </a:xfrm>
          <a:prstGeom prst="line">
            <a:avLst/>
          </a:prstGeom>
          <a:ln w="7620">
            <a:solidFill>
              <a:srgbClr val="F0D9E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1005840" y="291693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111111"/>
                </a:solidFill>
                <a:latin typeface="Segoe UI"/>
                <a:ea typeface="微软雅黑"/>
                <a:cs typeface="微软雅黑"/>
              </a:rPr>
              <a:t>场地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21098" y="291693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111111"/>
                </a:solidFill>
                <a:latin typeface="Segoe UI"/>
                <a:ea typeface="微软雅黑"/>
                <a:cs typeface="微软雅黑"/>
              </a:rPr>
              <a:t>在此填负责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036356" y="291693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111111"/>
                </a:solidFill>
                <a:latin typeface="Segoe UI"/>
                <a:ea typeface="微软雅黑"/>
                <a:cs typeface="微软雅黑"/>
              </a:rPr>
              <a:t>在此填日期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822960" y="3429000"/>
            <a:ext cx="10545775" cy="0"/>
          </a:xfrm>
          <a:prstGeom prst="line">
            <a:avLst/>
          </a:prstGeom>
          <a:ln w="7620">
            <a:solidFill>
              <a:srgbClr val="F0D9E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/>
          <p:cNvSpPr txBox="1"/>
          <p:nvPr/>
        </p:nvSpPr>
        <p:spPr>
          <a:xfrm>
            <a:off x="1005840" y="355701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111111"/>
                </a:solidFill>
                <a:latin typeface="Segoe UI"/>
                <a:ea typeface="微软雅黑"/>
                <a:cs typeface="微软雅黑"/>
              </a:rPr>
              <a:t>物料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21098" y="355701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111111"/>
                </a:solidFill>
                <a:latin typeface="Segoe UI"/>
                <a:ea typeface="微软雅黑"/>
                <a:cs typeface="微软雅黑"/>
              </a:rPr>
              <a:t>在此填负责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036356" y="355701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111111"/>
                </a:solidFill>
                <a:latin typeface="Segoe UI"/>
                <a:ea typeface="微软雅黑"/>
                <a:cs typeface="微软雅黑"/>
              </a:rPr>
              <a:t>在此填日期</a:t>
            </a:r>
          </a:p>
        </p:txBody>
      </p:sp>
      <p:sp>
        <p:nvSpPr>
          <p:cNvPr id="19" name="Rectangle 18"/>
          <p:cNvSpPr/>
          <p:nvPr/>
        </p:nvSpPr>
        <p:spPr>
          <a:xfrm>
            <a:off x="822960" y="4069079"/>
            <a:ext cx="10545775" cy="640080"/>
          </a:xfrm>
          <a:prstGeom prst="rect">
            <a:avLst/>
          </a:prstGeom>
          <a:solidFill>
            <a:srgbClr val="FFF7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0" name="Connector 19"/>
          <p:cNvCxnSpPr/>
          <p:nvPr/>
        </p:nvCxnSpPr>
        <p:spPr>
          <a:xfrm>
            <a:off x="822960" y="4069079"/>
            <a:ext cx="10545775" cy="0"/>
          </a:xfrm>
          <a:prstGeom prst="line">
            <a:avLst/>
          </a:prstGeom>
          <a:ln w="7620">
            <a:solidFill>
              <a:srgbClr val="F0D9E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TextBox 20"/>
          <p:cNvSpPr txBox="1"/>
          <p:nvPr/>
        </p:nvSpPr>
        <p:spPr>
          <a:xfrm>
            <a:off x="1005840" y="4197095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111111"/>
                </a:solidFill>
                <a:latin typeface="Segoe UI"/>
                <a:ea typeface="微软雅黑"/>
                <a:cs typeface="微软雅黑"/>
              </a:rPr>
              <a:t>宣传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521098" y="4197095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111111"/>
                </a:solidFill>
                <a:latin typeface="Segoe UI"/>
                <a:ea typeface="微软雅黑"/>
                <a:cs typeface="微软雅黑"/>
              </a:rPr>
              <a:t>在此填负责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036356" y="4197095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111111"/>
                </a:solidFill>
                <a:latin typeface="Segoe UI"/>
                <a:ea typeface="微软雅黑"/>
                <a:cs typeface="微软雅黑"/>
              </a:rPr>
              <a:t>在此填日期</a:t>
            </a:r>
          </a:p>
        </p:txBody>
      </p:sp>
      <p:sp>
        <p:nvSpPr>
          <p:cNvPr id="24" name="Rectangle 23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F0D9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22960" y="6355080"/>
            <a:ext cx="6400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6E6E6E"/>
                </a:solidFill>
                <a:latin typeface="Segoe UI"/>
                <a:ea typeface="微软雅黑"/>
                <a:cs typeface="微软雅黑"/>
              </a:rPr>
              <a:t>孟菲斯活力  ·  Memphis Pop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FF4D6D"/>
                </a:solidFill>
                <a:latin typeface="Segoe UI"/>
                <a:ea typeface="微软雅黑"/>
                <a:cs typeface="微软雅黑"/>
              </a:rPr>
              <a:t>SCHEDULE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5156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111111"/>
                </a:solidFill>
                <a:latin typeface="Segoe UI"/>
                <a:ea typeface="微软雅黑"/>
                <a:cs typeface="微软雅黑"/>
              </a:rPr>
              <a:t>图集 / 案例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FF4D6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22960" y="2103120"/>
            <a:ext cx="3332378" cy="1805940"/>
          </a:xfrm>
          <a:prstGeom prst="rect">
            <a:avLst/>
          </a:prstGeom>
          <a:solidFill>
            <a:srgbClr val="FFF7F2"/>
          </a:solidFill>
          <a:ln w="12700">
            <a:solidFill>
              <a:srgbClr val="F0D9E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2841497"/>
            <a:ext cx="333237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6E6E6E"/>
                </a:solidFill>
                <a:latin typeface="Segoe UI"/>
                <a:ea typeface="微软雅黑"/>
                <a:cs typeface="微软雅黑"/>
              </a:rPr>
              <a:t>作品 1</a:t>
            </a:r>
          </a:p>
        </p:txBody>
      </p:sp>
      <p:sp>
        <p:nvSpPr>
          <p:cNvPr id="8" name="Rectangle 7"/>
          <p:cNvSpPr/>
          <p:nvPr/>
        </p:nvSpPr>
        <p:spPr>
          <a:xfrm>
            <a:off x="4429658" y="2103120"/>
            <a:ext cx="3332378" cy="1805940"/>
          </a:xfrm>
          <a:prstGeom prst="rect">
            <a:avLst/>
          </a:prstGeom>
          <a:solidFill>
            <a:srgbClr val="FFF7F2"/>
          </a:solidFill>
          <a:ln w="12700">
            <a:solidFill>
              <a:srgbClr val="F0D9E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429658" y="2841497"/>
            <a:ext cx="333237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6E6E6E"/>
                </a:solidFill>
                <a:latin typeface="Segoe UI"/>
                <a:ea typeface="微软雅黑"/>
                <a:cs typeface="微软雅黑"/>
              </a:rPr>
              <a:t>作品 2</a:t>
            </a:r>
          </a:p>
        </p:txBody>
      </p:sp>
      <p:sp>
        <p:nvSpPr>
          <p:cNvPr id="10" name="Rectangle 9"/>
          <p:cNvSpPr/>
          <p:nvPr/>
        </p:nvSpPr>
        <p:spPr>
          <a:xfrm>
            <a:off x="8036356" y="2103120"/>
            <a:ext cx="3332378" cy="1805940"/>
          </a:xfrm>
          <a:prstGeom prst="rect">
            <a:avLst/>
          </a:prstGeom>
          <a:solidFill>
            <a:srgbClr val="FFF7F2"/>
          </a:solidFill>
          <a:ln w="12700">
            <a:solidFill>
              <a:srgbClr val="F0D9E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036356" y="2841497"/>
            <a:ext cx="333237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6E6E6E"/>
                </a:solidFill>
                <a:latin typeface="Segoe UI"/>
                <a:ea typeface="微软雅黑"/>
                <a:cs typeface="微软雅黑"/>
              </a:rPr>
              <a:t>作品 3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22960" y="4183379"/>
            <a:ext cx="3332378" cy="1805940"/>
          </a:xfrm>
          <a:prstGeom prst="rect">
            <a:avLst/>
          </a:prstGeom>
          <a:solidFill>
            <a:srgbClr val="FFF7F2"/>
          </a:solidFill>
          <a:ln w="12700">
            <a:solidFill>
              <a:srgbClr val="F0D9E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2960" y="4921757"/>
            <a:ext cx="333237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6E6E6E"/>
                </a:solidFill>
                <a:latin typeface="Segoe UI"/>
                <a:ea typeface="微软雅黑"/>
                <a:cs typeface="微软雅黑"/>
              </a:rPr>
              <a:t>作品 4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429658" y="4183379"/>
            <a:ext cx="3332378" cy="1805940"/>
          </a:xfrm>
          <a:prstGeom prst="rect">
            <a:avLst/>
          </a:prstGeom>
          <a:solidFill>
            <a:srgbClr val="FFF7F2"/>
          </a:solidFill>
          <a:ln w="12700">
            <a:solidFill>
              <a:srgbClr val="F0D9E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429658" y="4921757"/>
            <a:ext cx="333237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6E6E6E"/>
                </a:solidFill>
                <a:latin typeface="Segoe UI"/>
                <a:ea typeface="微软雅黑"/>
                <a:cs typeface="微软雅黑"/>
              </a:rPr>
              <a:t>作品 5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036356" y="4183379"/>
            <a:ext cx="3332378" cy="1805940"/>
          </a:xfrm>
          <a:prstGeom prst="rect">
            <a:avLst/>
          </a:prstGeom>
          <a:solidFill>
            <a:srgbClr val="FFF7F2"/>
          </a:solidFill>
          <a:ln w="12700">
            <a:solidFill>
              <a:srgbClr val="F0D9E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036356" y="4921757"/>
            <a:ext cx="333237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6E6E6E"/>
                </a:solidFill>
                <a:latin typeface="Segoe UI"/>
                <a:ea typeface="微软雅黑"/>
                <a:cs typeface="微软雅黑"/>
              </a:rPr>
              <a:t>作品 6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F0D9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22960" y="6355080"/>
            <a:ext cx="6400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6E6E6E"/>
                </a:solidFill>
                <a:latin typeface="Segoe UI"/>
                <a:ea typeface="微软雅黑"/>
                <a:cs typeface="微软雅黑"/>
              </a:rPr>
              <a:t>孟菲斯活力  ·  Memphis Pop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9509760" y="-914400"/>
            <a:ext cx="2926080" cy="2926080"/>
          </a:xfrm>
          <a:prstGeom prst="ellipse">
            <a:avLst/>
          </a:prstGeom>
          <a:solidFill>
            <a:srgbClr val="FF4D6D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10881360" y="1371600"/>
            <a:ext cx="1920240" cy="1920240"/>
          </a:xfrm>
          <a:prstGeom prst="ellipse">
            <a:avLst/>
          </a:prstGeom>
          <a:solidFill>
            <a:srgbClr val="FFB703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9418320" y="2926080"/>
            <a:ext cx="1371600" cy="1371600"/>
          </a:xfrm>
          <a:prstGeom prst="rect">
            <a:avLst/>
          </a:prstGeom>
          <a:solidFill>
            <a:srgbClr val="2EC4B6">
              <a:alpha val="8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1920240"/>
            <a:ext cx="274320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5000"/>
              </a:lnSpc>
              <a:spcAft>
                <a:spcPts val="400"/>
              </a:spcAft>
            </a:pPr>
            <a:r>
              <a:rPr sz="9600" b="1" i="0">
                <a:solidFill>
                  <a:srgbClr val="FF4D6D"/>
                </a:solidFill>
                <a:latin typeface="Segoe UI"/>
                <a:ea typeface="微软雅黑"/>
                <a:cs typeface="微软雅黑"/>
              </a:rPr>
              <a:t>02</a:t>
            </a:r>
          </a:p>
        </p:txBody>
      </p:sp>
      <p:sp>
        <p:nvSpPr>
          <p:cNvPr id="7" name="Rectangle 6"/>
          <p:cNvSpPr/>
          <p:nvPr/>
        </p:nvSpPr>
        <p:spPr>
          <a:xfrm>
            <a:off x="822960" y="3520440"/>
            <a:ext cx="566928" cy="54864"/>
          </a:xfrm>
          <a:prstGeom prst="rect">
            <a:avLst/>
          </a:prstGeom>
          <a:solidFill>
            <a:srgbClr val="1111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" y="3703320"/>
            <a:ext cx="86868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3400" b="1" i="0">
                <a:solidFill>
                  <a:srgbClr val="111111"/>
                </a:solidFill>
                <a:latin typeface="Segoe UI"/>
                <a:ea typeface="微软雅黑"/>
                <a:cs typeface="微软雅黑"/>
              </a:rPr>
              <a:t>宣传与报名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4709160"/>
            <a:ext cx="78638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0" i="0">
                <a:solidFill>
                  <a:srgbClr val="6E6E6E"/>
                </a:solidFill>
                <a:latin typeface="Segoe UI"/>
                <a:ea typeface="微软雅黑"/>
                <a:cs typeface="微软雅黑"/>
              </a:rPr>
              <a:t>在此输入本章导语 · 一句话点题</a:t>
            </a:r>
          </a:p>
        </p:txBody>
      </p:sp>
      <p:sp>
        <p:nvSpPr>
          <p:cNvPr id="10" name="Rectangle 9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F0D9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22960" y="6355080"/>
            <a:ext cx="6400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6E6E6E"/>
                </a:solidFill>
                <a:latin typeface="Segoe UI"/>
                <a:ea typeface="微软雅黑"/>
                <a:cs typeface="微软雅黑"/>
              </a:rPr>
              <a:t>孟菲斯活力  ·  Memphis Pop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9509760" y="-914400"/>
            <a:ext cx="2926080" cy="2926080"/>
          </a:xfrm>
          <a:prstGeom prst="ellipse">
            <a:avLst/>
          </a:prstGeom>
          <a:solidFill>
            <a:srgbClr val="FF4D6D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10881360" y="1371600"/>
            <a:ext cx="1920240" cy="1920240"/>
          </a:xfrm>
          <a:prstGeom prst="ellipse">
            <a:avLst/>
          </a:prstGeom>
          <a:solidFill>
            <a:srgbClr val="FFB703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9418320" y="2926080"/>
            <a:ext cx="1371600" cy="1371600"/>
          </a:xfrm>
          <a:prstGeom prst="rect">
            <a:avLst/>
          </a:prstGeom>
          <a:solidFill>
            <a:srgbClr val="2EC4B6">
              <a:alpha val="8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1463040"/>
            <a:ext cx="182880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0" b="1" i="0">
                <a:solidFill>
                  <a:srgbClr val="FF4D6D"/>
                </a:solidFill>
                <a:latin typeface="Segoe UI"/>
                <a:ea typeface="微软雅黑"/>
                <a:cs typeface="微软雅黑"/>
              </a:rPr>
              <a:t>“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280160" y="2651760"/>
            <a:ext cx="9601200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2600" b="0" i="0">
                <a:solidFill>
                  <a:srgbClr val="111111"/>
                </a:solidFill>
                <a:latin typeface="Segoe UI"/>
                <a:ea typeface="微软雅黑"/>
                <a:cs typeface="微软雅黑"/>
              </a:rPr>
              <a:t>在此输入活动口号 / 宣传语。</a:t>
            </a:r>
          </a:p>
        </p:txBody>
      </p:sp>
      <p:sp>
        <p:nvSpPr>
          <p:cNvPr id="8" name="Rectangle 7"/>
          <p:cNvSpPr/>
          <p:nvPr/>
        </p:nvSpPr>
        <p:spPr>
          <a:xfrm>
            <a:off x="1280160" y="4754880"/>
            <a:ext cx="566928" cy="54864"/>
          </a:xfrm>
          <a:prstGeom prst="rect">
            <a:avLst/>
          </a:prstGeom>
          <a:solidFill>
            <a:srgbClr val="FF4D6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280160" y="4937760"/>
            <a:ext cx="73152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0" i="0">
                <a:solidFill>
                  <a:srgbClr val="6E6E6E"/>
                </a:solidFill>
                <a:latin typeface="Segoe UI"/>
                <a:ea typeface="微软雅黑"/>
                <a:cs typeface="微软雅黑"/>
              </a:rPr>
              <a:t>— 社团</a:t>
            </a:r>
          </a:p>
        </p:txBody>
      </p:sp>
      <p:sp>
        <p:nvSpPr>
          <p:cNvPr id="10" name="Rectangle 9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F0D9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22960" y="6355080"/>
            <a:ext cx="6400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6E6E6E"/>
                </a:solidFill>
                <a:latin typeface="Segoe UI"/>
                <a:ea typeface="微软雅黑"/>
                <a:cs typeface="微软雅黑"/>
              </a:rPr>
              <a:t>孟菲斯活力  ·  Memphis Pop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FF4D6D"/>
                </a:solidFill>
                <a:latin typeface="Segoe UI"/>
                <a:ea typeface="微软雅黑"/>
                <a:cs typeface="微软雅黑"/>
              </a:rPr>
              <a:t>BUDGET &amp; TEAM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5156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111111"/>
                </a:solidFill>
                <a:latin typeface="Segoe UI"/>
                <a:ea typeface="微软雅黑"/>
                <a:cs typeface="微软雅黑"/>
              </a:rPr>
              <a:t>团队 / 分工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FF4D6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286000"/>
            <a:ext cx="3301898" cy="3291840"/>
          </a:xfrm>
          <a:prstGeom prst="roundRect">
            <a:avLst>
              <a:gd name="adj" fmla="val 14000"/>
            </a:avLst>
          </a:prstGeom>
          <a:solidFill>
            <a:srgbClr val="FFF7F2"/>
          </a:solidFill>
          <a:ln w="9525">
            <a:solidFill>
              <a:srgbClr val="F0D9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879549" y="2697480"/>
            <a:ext cx="1188720" cy="1188720"/>
          </a:xfrm>
          <a:prstGeom prst="ellipse">
            <a:avLst/>
          </a:prstGeom>
          <a:solidFill>
            <a:srgbClr val="F0D9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879549" y="2697480"/>
            <a:ext cx="1188720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6E6E6E"/>
                </a:solidFill>
                <a:latin typeface="Segoe UI"/>
                <a:ea typeface="微软雅黑"/>
                <a:cs typeface="微软雅黑"/>
              </a:rPr>
              <a:t>头像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05840" y="4114800"/>
            <a:ext cx="29361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111111"/>
                </a:solidFill>
                <a:latin typeface="Segoe UI"/>
                <a:ea typeface="微软雅黑"/>
                <a:cs typeface="微软雅黑"/>
              </a:rPr>
              <a:t>姓名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4526280"/>
            <a:ext cx="29361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FF4D6D"/>
                </a:solidFill>
                <a:latin typeface="Segoe UI"/>
                <a:ea typeface="微软雅黑"/>
                <a:cs typeface="微软雅黑"/>
              </a:rPr>
              <a:t>总负责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444898" y="2286000"/>
            <a:ext cx="3301898" cy="3291840"/>
          </a:xfrm>
          <a:prstGeom prst="roundRect">
            <a:avLst>
              <a:gd name="adj" fmla="val 14000"/>
            </a:avLst>
          </a:prstGeom>
          <a:solidFill>
            <a:srgbClr val="FFF7F2"/>
          </a:solidFill>
          <a:ln w="9525">
            <a:solidFill>
              <a:srgbClr val="F0D9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5501487" y="2697480"/>
            <a:ext cx="1188720" cy="1188720"/>
          </a:xfrm>
          <a:prstGeom prst="ellipse">
            <a:avLst/>
          </a:prstGeom>
          <a:solidFill>
            <a:srgbClr val="F0D9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501487" y="2697480"/>
            <a:ext cx="1188720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6E6E6E"/>
                </a:solidFill>
                <a:latin typeface="Segoe UI"/>
                <a:ea typeface="微软雅黑"/>
                <a:cs typeface="微软雅黑"/>
              </a:rPr>
              <a:t>头像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627778" y="4114800"/>
            <a:ext cx="29361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111111"/>
                </a:solidFill>
                <a:latin typeface="Segoe UI"/>
                <a:ea typeface="微软雅黑"/>
                <a:cs typeface="微软雅黑"/>
              </a:rPr>
              <a:t>姓名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627778" y="4526280"/>
            <a:ext cx="29361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FF4D6D"/>
                </a:solidFill>
                <a:latin typeface="Segoe UI"/>
                <a:ea typeface="微软雅黑"/>
                <a:cs typeface="微软雅黑"/>
              </a:rPr>
              <a:t>宣传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066836" y="2286000"/>
            <a:ext cx="3301898" cy="3291840"/>
          </a:xfrm>
          <a:prstGeom prst="roundRect">
            <a:avLst>
              <a:gd name="adj" fmla="val 14000"/>
            </a:avLst>
          </a:prstGeom>
          <a:solidFill>
            <a:srgbClr val="FFF7F2"/>
          </a:solidFill>
          <a:ln w="9525">
            <a:solidFill>
              <a:srgbClr val="F0D9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9123426" y="2697480"/>
            <a:ext cx="1188720" cy="1188720"/>
          </a:xfrm>
          <a:prstGeom prst="ellipse">
            <a:avLst/>
          </a:prstGeom>
          <a:solidFill>
            <a:srgbClr val="F0D9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23426" y="2697480"/>
            <a:ext cx="1188720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6E6E6E"/>
                </a:solidFill>
                <a:latin typeface="Segoe UI"/>
                <a:ea typeface="微软雅黑"/>
                <a:cs typeface="微软雅黑"/>
              </a:rPr>
              <a:t>头像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49716" y="4114800"/>
            <a:ext cx="29361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111111"/>
                </a:solidFill>
                <a:latin typeface="Segoe UI"/>
                <a:ea typeface="微软雅黑"/>
                <a:cs typeface="微软雅黑"/>
              </a:rPr>
              <a:t>姓名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49716" y="4526280"/>
            <a:ext cx="29361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FF4D6D"/>
                </a:solidFill>
                <a:latin typeface="Segoe UI"/>
                <a:ea typeface="微软雅黑"/>
                <a:cs typeface="微软雅黑"/>
              </a:rPr>
              <a:t>后勤</a:t>
            </a:r>
          </a:p>
        </p:txBody>
      </p:sp>
      <p:sp>
        <p:nvSpPr>
          <p:cNvPr id="21" name="Rectangle 20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F0D9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22960" y="6355080"/>
            <a:ext cx="6400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6E6E6E"/>
                </a:solidFill>
                <a:latin typeface="Segoe UI"/>
                <a:ea typeface="微软雅黑"/>
                <a:cs typeface="微软雅黑"/>
              </a:rPr>
              <a:t>孟菲斯活力  ·  Memphis Pop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9509760" y="-914400"/>
            <a:ext cx="2926080" cy="2926080"/>
          </a:xfrm>
          <a:prstGeom prst="ellipse">
            <a:avLst/>
          </a:prstGeom>
          <a:solidFill>
            <a:srgbClr val="FF4D6D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10881360" y="1371600"/>
            <a:ext cx="1920240" cy="1920240"/>
          </a:xfrm>
          <a:prstGeom prst="ellipse">
            <a:avLst/>
          </a:prstGeom>
          <a:solidFill>
            <a:srgbClr val="FFB703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9418320" y="2926080"/>
            <a:ext cx="1371600" cy="1371600"/>
          </a:xfrm>
          <a:prstGeom prst="rect">
            <a:avLst/>
          </a:prstGeom>
          <a:solidFill>
            <a:srgbClr val="2EC4B6">
              <a:alpha val="8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97280" y="2651760"/>
            <a:ext cx="996696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4800" b="1" i="0">
                <a:solidFill>
                  <a:srgbClr val="111111"/>
                </a:solidFill>
                <a:latin typeface="Segoe UI"/>
                <a:ea typeface="微软雅黑"/>
                <a:cs typeface="微软雅黑"/>
              </a:rPr>
              <a:t>谢谢观看</a:t>
            </a:r>
          </a:p>
        </p:txBody>
      </p:sp>
      <p:sp>
        <p:nvSpPr>
          <p:cNvPr id="7" name="Rectangle 6"/>
          <p:cNvSpPr/>
          <p:nvPr/>
        </p:nvSpPr>
        <p:spPr>
          <a:xfrm>
            <a:off x="5684367" y="3931920"/>
            <a:ext cx="822960" cy="91440"/>
          </a:xfrm>
          <a:prstGeom prst="rect">
            <a:avLst/>
          </a:prstGeom>
          <a:solidFill>
            <a:srgbClr val="FF4D6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97280" y="4206240"/>
            <a:ext cx="996696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600" b="0" i="0">
                <a:solidFill>
                  <a:srgbClr val="6E6E6E"/>
                </a:solidFill>
                <a:latin typeface="Segoe UI"/>
                <a:ea typeface="微软雅黑"/>
                <a:cs typeface="微软雅黑"/>
              </a:rPr>
              <a:t>在此输入联系方式 / 二维码 / 致谢</a:t>
            </a:r>
          </a:p>
        </p:txBody>
      </p:sp>
      <p:sp>
        <p:nvSpPr>
          <p:cNvPr id="9" name="Rectangle 8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F0D9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2960" y="6355080"/>
            <a:ext cx="6400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6E6E6E"/>
                </a:solidFill>
                <a:latin typeface="Segoe UI"/>
                <a:ea typeface="微软雅黑"/>
                <a:cs typeface="微软雅黑"/>
              </a:rPr>
              <a:t>孟菲斯活力  ·  Memphis Pop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