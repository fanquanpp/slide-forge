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示例系列（右键 → 编辑数据）</c:v>
                </c:pt>
              </c:strCache>
            </c:strRef>
          </c:tx>
          <c:spPr>
            <a:solidFill>
              <a:srgbClr val="E2231A"/>
            </a:solidFill>
          </c:spPr>
          <c:cat>
            <c:strRef>
              <c:f>Sheet1!$A$2:$A$7</c:f>
              <c:strCache>
                <c:ptCount val="6"/>
                <c:pt idx="0">
                  <c:v>指标一</c:v>
                </c:pt>
                <c:pt idx="1">
                  <c:v>指标二</c:v>
                </c:pt>
                <c:pt idx="2">
                  <c:v>指标三</c:v>
                </c:pt>
                <c:pt idx="3">
                  <c:v>指标四</c:v>
                </c:pt>
                <c:pt idx="4">
                  <c:v>指标五</c:v>
                </c:pt>
                <c:pt idx="5">
                  <c:v>指标六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</c:v>
                </c:pt>
                <c:pt idx="1">
                  <c:v>80</c:v>
                </c:pt>
                <c:pt idx="2">
                  <c:v>45</c:v>
                </c:pt>
                <c:pt idx="3">
                  <c:v>95</c:v>
                </c:pt>
                <c:pt idx="4">
                  <c:v>70</c:v>
                </c:pt>
                <c:pt idx="5">
                  <c:v>60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【页面定位】社团活动策划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【页面定位】在此输入活动口号 / 宣传语。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【页面定位】CONVERSION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【页面定位】CHECKLIST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【页面定位】DASHBOARD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【页面定位】RISK MATRIX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5C51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rome:decor-3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1F49C4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社团活动策划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社团活动策划 · 在此输入副标题 / 项目名称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reveal dir="l"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活动背景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活动流程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宣传与报名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预算与分工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2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8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0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2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4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6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8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5C51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rome:decor-3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1F49C4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活动背景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10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 advClick="1" advTm="6000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活动背景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在此输入「活动背景」的要点一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在此输入「活动背景」的要点二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在此输入「活动背景」的要点三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在此输入「活动背景」的要点四</a:t>
            </a:r>
          </a:p>
        </p:txBody>
      </p:sp>
      <p:sp>
        <p:nvSpPr>
          <p:cNvPr id="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活动流程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A · 活动背景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1F4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B · 活动流程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F49C4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F49C4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F49C4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4F1EA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2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4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8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2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4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41" dur="57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8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21" dur="57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4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6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8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01" dur="57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C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活动背景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活动流程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宣传与报名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预算与分工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2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4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2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4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6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E2231A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发起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审批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E2231A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宣传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执行</a:t>
            </a:r>
          </a:p>
        </p:txBody>
      </p:sp>
      <p:sp>
        <p:nvSpPr>
          <p:cNvPr id="1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2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4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8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0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2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4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6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188720" y="2331720"/>
          <a:ext cx="585216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2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4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C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C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C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2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4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6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2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4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6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8C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8C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8C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8C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8C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8C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gallery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2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4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6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8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2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4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8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5C51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rome:decor-3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1F49C4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宣传与报名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10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 advClick="1" advTm="6000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5C51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rome:decor-3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1F49C4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在此输入活动口号 / 宣传语。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10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CONVERSION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转化 / 分配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706727" y="2194560"/>
            <a:ext cx="8778240" cy="786384"/>
          </a:xfrm>
          <a:prstGeom prst="roundRect">
            <a:avLst>
              <a:gd name="adj" fmla="val 18000"/>
            </a:avLst>
          </a:prstGeom>
          <a:solidFill>
            <a:srgbClr val="E2231A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2487" y="2414015"/>
            <a:ext cx="67665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阶段一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367" y="2414015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100%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21127" y="3127248"/>
            <a:ext cx="6949440" cy="786384"/>
          </a:xfrm>
          <a:prstGeom prst="roundRect">
            <a:avLst>
              <a:gd name="adj" fmla="val 18000"/>
            </a:avLst>
          </a:prstGeom>
          <a:solidFill>
            <a:srgbClr val="1F49C4">
              <a:alpha val="8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86887" y="3346704"/>
            <a:ext cx="4937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阶段二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8967" y="3346704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35527" y="4059935"/>
            <a:ext cx="5120640" cy="786384"/>
          </a:xfrm>
          <a:prstGeom prst="roundRect">
            <a:avLst>
              <a:gd name="adj" fmla="val 18000"/>
            </a:avLst>
          </a:prstGeom>
          <a:solidFill>
            <a:srgbClr val="E2231A">
              <a:alpha val="7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01287" y="4279392"/>
            <a:ext cx="31089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阶段三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84567" y="4279392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49927" y="4992624"/>
            <a:ext cx="3291840" cy="786384"/>
          </a:xfrm>
          <a:prstGeom prst="roundRect">
            <a:avLst>
              <a:gd name="adj" fmla="val 18000"/>
            </a:avLst>
          </a:prstGeom>
          <a:solidFill>
            <a:srgbClr val="1F49C4">
              <a:alpha val="6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15687" y="521208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阶段四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0167" y="5212080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2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4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6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2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4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6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conveyor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2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4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0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2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4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6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8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0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E223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DC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E223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DC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E223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DC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E223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DC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2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4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0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2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4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8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指标看板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2430703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7280" y="2423160"/>
            <a:ext cx="38404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motion:hero"/>
          <p:cNvSpPr txBox="1"/>
          <p:nvPr/>
        </p:nvSpPr>
        <p:spPr>
          <a:xfrm>
            <a:off x="1097280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5093207"/>
            <a:ext cx="219456" cy="256032"/>
          </a:xfrm>
          <a:prstGeom prst="rect">
            <a:avLst/>
          </a:prstGeom>
          <a:solidFill>
            <a:srgbClr val="E2231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408176" y="4965192"/>
            <a:ext cx="219456" cy="384048"/>
          </a:xfrm>
          <a:prstGeom prst="rect">
            <a:avLst/>
          </a:prstGeom>
          <a:solidFill>
            <a:srgbClr val="1F49C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9072" y="4837175"/>
            <a:ext cx="219456" cy="512064"/>
          </a:xfrm>
          <a:prstGeom prst="rect">
            <a:avLst/>
          </a:prstGeom>
          <a:solidFill>
            <a:srgbClr val="E2231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29967" y="4709159"/>
            <a:ext cx="219456" cy="640080"/>
          </a:xfrm>
          <a:prstGeom prst="rect">
            <a:avLst/>
          </a:prstGeom>
          <a:solidFill>
            <a:srgbClr val="1F49C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340864" y="5093207"/>
            <a:ext cx="219456" cy="256032"/>
          </a:xfrm>
          <a:prstGeom prst="rect">
            <a:avLst/>
          </a:prstGeom>
          <a:solidFill>
            <a:srgbClr val="E2231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527983" y="2148840"/>
            <a:ext cx="2430703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02303" y="2423160"/>
            <a:ext cx="384048" cy="50292"/>
          </a:xfrm>
          <a:prstGeom prst="rect">
            <a:avLst/>
          </a:prstGeom>
          <a:solidFill>
            <a:srgbClr val="1F4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ontent:kpi"/>
          <p:cNvSpPr txBox="1"/>
          <p:nvPr/>
        </p:nvSpPr>
        <p:spPr>
          <a:xfrm>
            <a:off x="3802303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F49C4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02303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02303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02303" y="4965192"/>
            <a:ext cx="219456" cy="384048"/>
          </a:xfrm>
          <a:prstGeom prst="rect">
            <a:avLst/>
          </a:prstGeom>
          <a:solidFill>
            <a:srgbClr val="1F49C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3199" y="4837175"/>
            <a:ext cx="219456" cy="512064"/>
          </a:xfrm>
          <a:prstGeom prst="rect">
            <a:avLst/>
          </a:prstGeom>
          <a:solidFill>
            <a:srgbClr val="E2231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24095" y="4709159"/>
            <a:ext cx="219456" cy="640080"/>
          </a:xfrm>
          <a:prstGeom prst="rect">
            <a:avLst/>
          </a:prstGeom>
          <a:solidFill>
            <a:srgbClr val="1F49C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734991" y="5093207"/>
            <a:ext cx="219456" cy="256032"/>
          </a:xfrm>
          <a:prstGeom prst="rect">
            <a:avLst/>
          </a:prstGeom>
          <a:solidFill>
            <a:srgbClr val="E2231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45887" y="4965192"/>
            <a:ext cx="219456" cy="384048"/>
          </a:xfrm>
          <a:prstGeom prst="rect">
            <a:avLst/>
          </a:prstGeom>
          <a:solidFill>
            <a:srgbClr val="1F49C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33007" y="2148840"/>
            <a:ext cx="2430703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07327" y="2423160"/>
            <a:ext cx="38404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content:kpi"/>
          <p:cNvSpPr txBox="1"/>
          <p:nvPr/>
        </p:nvSpPr>
        <p:spPr>
          <a:xfrm>
            <a:off x="6507327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07327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07327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07327" y="4837175"/>
            <a:ext cx="219456" cy="512064"/>
          </a:xfrm>
          <a:prstGeom prst="rect">
            <a:avLst/>
          </a:prstGeom>
          <a:solidFill>
            <a:srgbClr val="E2231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818223" y="4709159"/>
            <a:ext cx="219456" cy="640080"/>
          </a:xfrm>
          <a:prstGeom prst="rect">
            <a:avLst/>
          </a:prstGeom>
          <a:solidFill>
            <a:srgbClr val="1F49C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129119" y="5093207"/>
            <a:ext cx="219456" cy="256032"/>
          </a:xfrm>
          <a:prstGeom prst="rect">
            <a:avLst/>
          </a:prstGeom>
          <a:solidFill>
            <a:srgbClr val="E2231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40015" y="4965192"/>
            <a:ext cx="219456" cy="384048"/>
          </a:xfrm>
          <a:prstGeom prst="rect">
            <a:avLst/>
          </a:prstGeom>
          <a:solidFill>
            <a:srgbClr val="1F49C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50911" y="4837175"/>
            <a:ext cx="219456" cy="512064"/>
          </a:xfrm>
          <a:prstGeom prst="rect">
            <a:avLst/>
          </a:prstGeom>
          <a:solidFill>
            <a:srgbClr val="E2231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938031" y="2148840"/>
            <a:ext cx="2430703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212351" y="2423160"/>
            <a:ext cx="384048" cy="50292"/>
          </a:xfrm>
          <a:prstGeom prst="rect">
            <a:avLst/>
          </a:prstGeom>
          <a:solidFill>
            <a:srgbClr val="1F4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content:kpi"/>
          <p:cNvSpPr txBox="1"/>
          <p:nvPr/>
        </p:nvSpPr>
        <p:spPr>
          <a:xfrm>
            <a:off x="9212351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F49C4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12351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12351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212351" y="4709159"/>
            <a:ext cx="219456" cy="640080"/>
          </a:xfrm>
          <a:prstGeom prst="rect">
            <a:avLst/>
          </a:prstGeom>
          <a:solidFill>
            <a:srgbClr val="1F49C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523247" y="5093207"/>
            <a:ext cx="219456" cy="256032"/>
          </a:xfrm>
          <a:prstGeom prst="rect">
            <a:avLst/>
          </a:prstGeom>
          <a:solidFill>
            <a:srgbClr val="E2231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834143" y="4965192"/>
            <a:ext cx="219456" cy="384048"/>
          </a:xfrm>
          <a:prstGeom prst="rect">
            <a:avLst/>
          </a:prstGeom>
          <a:solidFill>
            <a:srgbClr val="1F49C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0145039" y="4837175"/>
            <a:ext cx="219456" cy="512064"/>
          </a:xfrm>
          <a:prstGeom prst="rect">
            <a:avLst/>
          </a:prstGeom>
          <a:solidFill>
            <a:srgbClr val="E2231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455935" y="4709159"/>
            <a:ext cx="219456" cy="640080"/>
          </a:xfrm>
          <a:prstGeom prst="rect">
            <a:avLst/>
          </a:prstGeom>
          <a:solidFill>
            <a:srgbClr val="1F49C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21" dur="81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1" dur="450"/>
                                  <p:tgtEl>
                                    <p:spTgt spid="3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6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8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01" dur="810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21" dur="450"/>
                                  <p:tgtEl>
                                    <p:spTgt spid="3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4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00" fill="hold" nodeType="afterEffect" grpId="0" presetID="6" presetClass="emph" presetSubtype="0">
                            <p:stCondLst>
                              <p:cond delay="1870"/>
                            </p:stCondLst>
                            <p:childTnLst>
                              <p:animScale>
                                <p:cBhvr>
                                  <p:cTn id="261" dur="500" fill="hold"/>
                                  <p:tgtEl>
                                    <p:spTgt spid="8"/>
                                  </p:tgtEl>
                                </p:cBhvr>
                                <p:by x="108000" y="108000"/>
                              </p:animScale>
                            </p:childTnLst>
                          </p:cTn>
                        </p:par>
                        <p:par>
                          <p:cTn id="27" dur="69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810"/>
                                  <p:tgtEl>
                                    <p:spTgt spid="2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450"/>
                                  <p:tgtEl>
                                    <p:spTgt spid="3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RISK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概率 × 影响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2148840"/>
            <a:ext cx="2194560" cy="896112"/>
          </a:xfrm>
          <a:prstGeom prst="rect">
            <a:avLst/>
          </a:prstGeom>
          <a:solidFill>
            <a:srgbClr val="1F49C4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61104" y="2148840"/>
            <a:ext cx="2194560" cy="896112"/>
          </a:xfrm>
          <a:prstGeom prst="rect">
            <a:avLst/>
          </a:prstGeom>
          <a:solidFill>
            <a:srgbClr val="1F49C4">
              <a:alpha val="24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10528" y="2148840"/>
            <a:ext cx="2194560" cy="896112"/>
          </a:xfrm>
          <a:prstGeom prst="rect">
            <a:avLst/>
          </a:prstGeom>
          <a:solidFill>
            <a:srgbClr val="1F49C4">
              <a:alpha val="32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759952" y="2148840"/>
            <a:ext cx="2194560" cy="896112"/>
          </a:xfrm>
          <a:prstGeom prst="rect">
            <a:avLst/>
          </a:prstGeom>
          <a:solidFill>
            <a:srgbClr val="E2231A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011680" y="3099816"/>
            <a:ext cx="2194560" cy="896112"/>
          </a:xfrm>
          <a:prstGeom prst="rect">
            <a:avLst/>
          </a:prstGeom>
          <a:solidFill>
            <a:srgbClr val="1F49C4">
              <a:alpha val="24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61104" y="3099816"/>
            <a:ext cx="2194560" cy="896112"/>
          </a:xfrm>
          <a:prstGeom prst="rect">
            <a:avLst/>
          </a:prstGeom>
          <a:solidFill>
            <a:srgbClr val="1F49C4">
              <a:alpha val="32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10528" y="3099816"/>
            <a:ext cx="2194560" cy="896112"/>
          </a:xfrm>
          <a:prstGeom prst="rect">
            <a:avLst/>
          </a:prstGeom>
          <a:solidFill>
            <a:srgbClr val="E2231A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759952" y="3099816"/>
            <a:ext cx="2194560" cy="896112"/>
          </a:xfrm>
          <a:prstGeom prst="rect">
            <a:avLst/>
          </a:prstGeom>
          <a:solidFill>
            <a:srgbClr val="E2231A">
              <a:alpha val="49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11680" y="4050791"/>
            <a:ext cx="2194560" cy="896112"/>
          </a:xfrm>
          <a:prstGeom prst="rect">
            <a:avLst/>
          </a:prstGeom>
          <a:solidFill>
            <a:srgbClr val="1F49C4">
              <a:alpha val="32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61104" y="4050791"/>
            <a:ext cx="2194560" cy="896112"/>
          </a:xfrm>
          <a:prstGeom prst="rect">
            <a:avLst/>
          </a:prstGeom>
          <a:solidFill>
            <a:srgbClr val="E2231A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10528" y="4050791"/>
            <a:ext cx="2194560" cy="896112"/>
          </a:xfrm>
          <a:prstGeom prst="rect">
            <a:avLst/>
          </a:prstGeom>
          <a:solidFill>
            <a:srgbClr val="E2231A">
              <a:alpha val="49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59952" y="4050791"/>
            <a:ext cx="2194560" cy="896112"/>
          </a:xfrm>
          <a:prstGeom prst="rect">
            <a:avLst/>
          </a:prstGeom>
          <a:solidFill>
            <a:srgbClr val="111111">
              <a:alpha val="57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011680" y="5001768"/>
            <a:ext cx="2194560" cy="896112"/>
          </a:xfrm>
          <a:prstGeom prst="rect">
            <a:avLst/>
          </a:prstGeom>
          <a:solidFill>
            <a:srgbClr val="E2231A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61104" y="5001768"/>
            <a:ext cx="2194560" cy="896112"/>
          </a:xfrm>
          <a:prstGeom prst="rect">
            <a:avLst/>
          </a:prstGeom>
          <a:solidFill>
            <a:srgbClr val="E2231A">
              <a:alpha val="49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10528" y="5001768"/>
            <a:ext cx="2194560" cy="896112"/>
          </a:xfrm>
          <a:prstGeom prst="rect">
            <a:avLst/>
          </a:prstGeom>
          <a:solidFill>
            <a:srgbClr val="111111">
              <a:alpha val="57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759952" y="5001768"/>
            <a:ext cx="2194560" cy="896112"/>
          </a:xfrm>
          <a:prstGeom prst="rect">
            <a:avLst/>
          </a:prstGeom>
          <a:solidFill>
            <a:srgbClr val="111111">
              <a:alpha val="6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017520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影响 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594360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概率 →</a:t>
            </a:r>
          </a:p>
        </p:txBody>
      </p:sp>
      <p:sp>
        <p:nvSpPr>
          <p:cNvPr id="24" name="Oval 23"/>
          <p:cNvSpPr/>
          <p:nvPr/>
        </p:nvSpPr>
        <p:spPr>
          <a:xfrm>
            <a:off x="5202936" y="2441448"/>
            <a:ext cx="310896" cy="310896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02936" y="244144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09960" y="219456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1 · 风险一</a:t>
            </a:r>
          </a:p>
        </p:txBody>
      </p:sp>
      <p:sp>
        <p:nvSpPr>
          <p:cNvPr id="27" name="Oval 26"/>
          <p:cNvSpPr/>
          <p:nvPr/>
        </p:nvSpPr>
        <p:spPr>
          <a:xfrm>
            <a:off x="7452360" y="3392424"/>
            <a:ext cx="310896" cy="310896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52360" y="33924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09960" y="276148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2 · 风险二</a:t>
            </a:r>
          </a:p>
        </p:txBody>
      </p:sp>
      <p:sp>
        <p:nvSpPr>
          <p:cNvPr id="30" name="Oval 29"/>
          <p:cNvSpPr/>
          <p:nvPr/>
        </p:nvSpPr>
        <p:spPr>
          <a:xfrm>
            <a:off x="9701784" y="4343400"/>
            <a:ext cx="310896" cy="310896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01784" y="434340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09960" y="3328415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3 · 风险三</a:t>
            </a:r>
          </a:p>
        </p:txBody>
      </p:sp>
      <p:sp>
        <p:nvSpPr>
          <p:cNvPr id="33" name="Oval 32"/>
          <p:cNvSpPr/>
          <p:nvPr/>
        </p:nvSpPr>
        <p:spPr>
          <a:xfrm>
            <a:off x="2953512" y="2441448"/>
            <a:ext cx="310896" cy="310896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953512" y="244144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09960" y="3895344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4 · 风险四</a:t>
            </a:r>
          </a:p>
        </p:txBody>
      </p:sp>
      <p:sp>
        <p:nvSpPr>
          <p:cNvPr id="3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4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61" dur="69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81" dur="810"/>
                                  <p:tgtEl>
                                    <p:spTgt spid="3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01" dur="450"/>
                                  <p:tgtEl>
                                    <p:spTgt spid="3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21" dur="57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41" dur="690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61" dur="810"/>
                                  <p:tgtEl>
                                    <p:spTgt spid="2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81" dur="4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0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5C51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rome:decor-3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1F49C4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7" name="Rectangle 6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lideForge 包豪斯三原色">
  <a:themeElements>
    <a:clrScheme name="SlideForge 包豪斯三原色">
      <a:dk1>
        <a:srgbClr val="111111"/>
      </a:dk1>
      <a:lt1>
        <a:srgbClr val="F4F1EA"/>
      </a:lt1>
      <a:dk2>
        <a:srgbClr val="6B6B6B"/>
      </a:dk2>
      <a:lt2>
        <a:srgbClr val="FFFFFF"/>
      </a:lt2>
      <a:accent1>
        <a:srgbClr val="E2231A"/>
      </a:accent1>
      <a:accent2>
        <a:srgbClr val="1F49C4"/>
      </a:accent2>
      <a:accent3>
        <a:srgbClr val="F5C518"/>
      </a:accent3>
      <a:accent4>
        <a:srgbClr val="DCD8CE"/>
      </a:accent4>
      <a:accent5>
        <a:srgbClr val="6B6B6B"/>
      </a:accent5>
      <a:accent6>
        <a:srgbClr val="FFFFFF"/>
      </a:accent6>
      <a:hlink>
        <a:srgbClr val="E2231A"/>
      </a:hlink>
      <a:folHlink>
        <a:srgbClr val="6B6B6B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