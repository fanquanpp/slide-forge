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475488"/>
            <a:ext cx="2194560" cy="18288"/>
          </a:xfrm>
          <a:prstGeom prst="rect">
            <a:avLst/>
          </a:prstGeom>
          <a:solidFill>
            <a:srgbClr val="B2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1874519"/>
            <a:ext cx="822960" cy="91440"/>
          </a:xfrm>
          <a:prstGeom prst="rect">
            <a:avLst/>
          </a:prstGeom>
          <a:solidFill>
            <a:srgbClr val="B2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2194560"/>
            <a:ext cx="969264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400"/>
              </a:spcAft>
            </a:pPr>
            <a:r>
              <a:rPr sz="4400" b="1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像素与美术作品集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794760"/>
            <a:ext cx="91440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作品集 · 在此输入作者署名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5394960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领域 / 风格  ·  YYYY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B23A2E"/>
                </a:solidFill>
                <a:latin typeface="Segoe UI"/>
                <a:ea typeface="微软雅黑"/>
                <a:cs typeface="微软雅黑"/>
              </a:rPr>
              <a:t>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515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目录  CONTENTS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B2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148840"/>
            <a:ext cx="731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B23A2E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783080" y="2130552"/>
            <a:ext cx="4206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作者简介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1783080" y="2660904"/>
            <a:ext cx="4160520" cy="0"/>
          </a:xfrm>
          <a:prstGeom prst="line">
            <a:avLst/>
          </a:prstGeom>
          <a:ln w="9525">
            <a:solidFill>
              <a:srgbClr val="E7DFD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6309360" y="2148840"/>
            <a:ext cx="731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B23A2E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269480" y="2130552"/>
            <a:ext cx="4206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代表作品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7269480" y="2660904"/>
            <a:ext cx="4160520" cy="0"/>
          </a:xfrm>
          <a:prstGeom prst="line">
            <a:avLst/>
          </a:prstGeom>
          <a:ln w="9525">
            <a:solidFill>
              <a:srgbClr val="E7DFD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822960" y="3063240"/>
            <a:ext cx="731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B23A2E"/>
                </a:solidFill>
                <a:latin typeface="Segoe UI"/>
                <a:ea typeface="微软雅黑"/>
                <a:cs typeface="微软雅黑"/>
              </a:rPr>
              <a:t>03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783080" y="3044952"/>
            <a:ext cx="4206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创作流程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1783080" y="3575304"/>
            <a:ext cx="4160520" cy="0"/>
          </a:xfrm>
          <a:prstGeom prst="line">
            <a:avLst/>
          </a:prstGeom>
          <a:ln w="9525">
            <a:solidFill>
              <a:srgbClr val="E7DFD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6309360" y="3063240"/>
            <a:ext cx="731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B23A2E"/>
                </a:solidFill>
                <a:latin typeface="Segoe UI"/>
                <a:ea typeface="微软雅黑"/>
                <a:cs typeface="微软雅黑"/>
              </a:rPr>
              <a:t>04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69480" y="3044952"/>
            <a:ext cx="4206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联系方式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7269480" y="3575304"/>
            <a:ext cx="4160520" cy="0"/>
          </a:xfrm>
          <a:prstGeom prst="line">
            <a:avLst/>
          </a:prstGeom>
          <a:ln w="9525">
            <a:solidFill>
              <a:srgbClr val="E7DFD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7D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杂志编辑  ·  Editorial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475488"/>
            <a:ext cx="2194560" cy="18288"/>
          </a:xfrm>
          <a:prstGeom prst="rect">
            <a:avLst/>
          </a:prstGeom>
          <a:solidFill>
            <a:srgbClr val="B2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920240"/>
            <a:ext cx="2743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9600" b="1" i="0">
                <a:solidFill>
                  <a:srgbClr val="B23A2E"/>
                </a:solidFill>
                <a:latin typeface="Georgia"/>
                <a:ea typeface="宋体"/>
                <a:cs typeface="宋体"/>
              </a:rPr>
              <a:t>01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3520440"/>
            <a:ext cx="566928" cy="54864"/>
          </a:xfrm>
          <a:prstGeom prst="rect">
            <a:avLst/>
          </a:prstGeom>
          <a:solidFill>
            <a:srgbClr val="1C1B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3703320"/>
            <a:ext cx="8686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作者简介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709160"/>
            <a:ext cx="7863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在此输入本章导语 · 一句话点题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7D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6355080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杂志编辑  ·  Editorial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B23A2E"/>
                </a:solidFill>
                <a:latin typeface="Segoe UI"/>
                <a:ea typeface="微软雅黑"/>
                <a:cs typeface="微软雅黑"/>
              </a:rPr>
              <a:t>ABOUT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515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作者简介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B2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148840"/>
            <a:ext cx="1042416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400"/>
              </a:spcAft>
            </a:pPr>
            <a:r>
              <a:rPr sz="1189">
                <a:solidFill>
                  <a:srgbClr val="B23A2E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70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在此输入作品亮点一</a:t>
            </a:r>
          </a:p>
          <a:p>
            <a:pPr>
              <a:lnSpc>
                <a:spcPct val="115000"/>
              </a:lnSpc>
              <a:spcAft>
                <a:spcPts val="1400"/>
              </a:spcAft>
            </a:pPr>
            <a:r>
              <a:rPr sz="1189">
                <a:solidFill>
                  <a:srgbClr val="B23A2E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70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在此输入作品亮点二</a:t>
            </a:r>
          </a:p>
          <a:p>
            <a:pPr>
              <a:lnSpc>
                <a:spcPct val="115000"/>
              </a:lnSpc>
              <a:spcAft>
                <a:spcPts val="1400"/>
              </a:spcAft>
            </a:pPr>
            <a:r>
              <a:rPr sz="1189">
                <a:solidFill>
                  <a:srgbClr val="B23A2E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70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在此输入作品亮点三</a:t>
            </a:r>
          </a:p>
          <a:p>
            <a:pPr>
              <a:lnSpc>
                <a:spcPct val="115000"/>
              </a:lnSpc>
              <a:spcAft>
                <a:spcPts val="1400"/>
              </a:spcAft>
            </a:pPr>
            <a:r>
              <a:rPr sz="1189">
                <a:solidFill>
                  <a:srgbClr val="B23A2E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70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在此输入作品亮点四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7D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6355080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杂志编辑  ·  Editorial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B23A2E"/>
                </a:solidFill>
                <a:latin typeface="Segoe UI"/>
                <a:ea typeface="微软雅黑"/>
                <a:cs typeface="微软雅黑"/>
              </a:rPr>
              <a:t>ABOUT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515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作品 A / 作品 B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B2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5029200" cy="38404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7DF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2103120"/>
            <a:ext cx="5029200" cy="109728"/>
          </a:xfrm>
          <a:prstGeom prst="rect">
            <a:avLst/>
          </a:prstGeom>
          <a:solidFill>
            <a:srgbClr val="B2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88720" y="2377440"/>
            <a:ext cx="4297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A · 作品 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3063240"/>
            <a:ext cx="42976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B23A2E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亮点一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B23A2E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亮点二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B23A2E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亮点三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55080" y="2103120"/>
            <a:ext cx="5029200" cy="38404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7DF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355080" y="2103120"/>
            <a:ext cx="5029200" cy="109728"/>
          </a:xfrm>
          <a:prstGeom prst="rect">
            <a:avLst/>
          </a:prstGeom>
          <a:solidFill>
            <a:srgbClr val="2A2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720840" y="2377440"/>
            <a:ext cx="4297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B · 作品 B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20840" y="3063240"/>
            <a:ext cx="42976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2A2A28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亮点一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2A2A28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亮点二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2A2A28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亮点三</a:t>
            </a:r>
          </a:p>
        </p:txBody>
      </p:sp>
      <p:sp>
        <p:nvSpPr>
          <p:cNvPr id="14" name="Oval 13"/>
          <p:cNvSpPr/>
          <p:nvPr/>
        </p:nvSpPr>
        <p:spPr>
          <a:xfrm>
            <a:off x="5711799" y="3703320"/>
            <a:ext cx="768096" cy="768096"/>
          </a:xfrm>
          <a:prstGeom prst="ellipse">
            <a:avLst/>
          </a:prstGeom>
          <a:solidFill>
            <a:srgbClr val="1C1B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711799" y="3703320"/>
            <a:ext cx="768096" cy="768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AF6F0"/>
                </a:solidFill>
                <a:latin typeface="Segoe UI"/>
                <a:ea typeface="微软雅黑"/>
                <a:cs typeface="微软雅黑"/>
              </a:rPr>
              <a:t>VS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7D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60" y="6355080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杂志编辑  ·  Editorial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B23A2E"/>
                </a:solidFill>
                <a:latin typeface="Segoe UI"/>
                <a:ea typeface="微软雅黑"/>
                <a:cs typeface="微软雅黑"/>
              </a:rPr>
              <a:t>METRICS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515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关键数据一览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B2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2430703" cy="3886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7DF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43000" y="2468879"/>
            <a:ext cx="457200" cy="54864"/>
          </a:xfrm>
          <a:prstGeom prst="rect">
            <a:avLst/>
          </a:prstGeom>
          <a:solidFill>
            <a:srgbClr val="B2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2670048"/>
            <a:ext cx="1790623" cy="16322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000" b="1" i="0">
                <a:solidFill>
                  <a:srgbClr val="B23A2E"/>
                </a:solidFill>
                <a:latin typeface="Georgia"/>
                <a:ea typeface="宋体"/>
                <a:cs typeface="宋体"/>
              </a:rPr>
              <a:t>年份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4668012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起始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5289804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527983" y="2103120"/>
            <a:ext cx="2430703" cy="3886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7DF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848023" y="2468879"/>
            <a:ext cx="457200" cy="54864"/>
          </a:xfrm>
          <a:prstGeom prst="rect">
            <a:avLst/>
          </a:prstGeom>
          <a:solidFill>
            <a:srgbClr val="B2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848023" y="2670048"/>
            <a:ext cx="1790623" cy="16322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000" b="1" i="0">
                <a:solidFill>
                  <a:srgbClr val="B23A2E"/>
                </a:solidFill>
                <a:latin typeface="Georgia"/>
                <a:ea typeface="宋体"/>
                <a:cs typeface="宋体"/>
              </a:rPr>
              <a:t>张数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48023" y="4668012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产出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848023" y="5289804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33007" y="2103120"/>
            <a:ext cx="2430703" cy="3886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7DF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553047" y="2468879"/>
            <a:ext cx="457200" cy="54864"/>
          </a:xfrm>
          <a:prstGeom prst="rect">
            <a:avLst/>
          </a:prstGeom>
          <a:solidFill>
            <a:srgbClr val="B2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53047" y="2670048"/>
            <a:ext cx="1790623" cy="16322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000" b="1" i="0">
                <a:solidFill>
                  <a:srgbClr val="B23A2E"/>
                </a:solidFill>
                <a:latin typeface="Georgia"/>
                <a:ea typeface="宋体"/>
                <a:cs typeface="宋体"/>
              </a:rPr>
              <a:t>工具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53047" y="4668012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软件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53047" y="5289804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938031" y="2103120"/>
            <a:ext cx="2430703" cy="3886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7DF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9258071" y="2468879"/>
            <a:ext cx="457200" cy="54864"/>
          </a:xfrm>
          <a:prstGeom prst="rect">
            <a:avLst/>
          </a:prstGeom>
          <a:solidFill>
            <a:srgbClr val="B2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258071" y="2670048"/>
            <a:ext cx="1790623" cy="16322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000" b="1" i="0">
                <a:solidFill>
                  <a:srgbClr val="B23A2E"/>
                </a:solidFill>
                <a:latin typeface="Georgia"/>
                <a:ea typeface="宋体"/>
                <a:cs typeface="宋体"/>
              </a:rPr>
              <a:t>尺寸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258071" y="4668012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规格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58071" y="5289804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7D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22960" y="6355080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杂志编辑  ·  Editorial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B23A2E"/>
                </a:solidFill>
                <a:latin typeface="Segoe UI"/>
                <a:ea typeface="微软雅黑"/>
                <a:cs typeface="微软雅黑"/>
              </a:rPr>
              <a:t>PROCESS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515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排期 / 路线图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B2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" name="Connector 5"/>
          <p:cNvCxnSpPr/>
          <p:nvPr/>
        </p:nvCxnSpPr>
        <p:spPr>
          <a:xfrm>
            <a:off x="1234440" y="3063240"/>
            <a:ext cx="9722815" cy="0"/>
          </a:xfrm>
          <a:prstGeom prst="line">
            <a:avLst/>
          </a:prstGeom>
          <a:ln w="25400">
            <a:solidFill>
              <a:srgbClr val="E7DFD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Oval 6"/>
          <p:cNvSpPr/>
          <p:nvPr/>
        </p:nvSpPr>
        <p:spPr>
          <a:xfrm>
            <a:off x="1088136" y="2916936"/>
            <a:ext cx="292608" cy="292608"/>
          </a:xfrm>
          <a:prstGeom prst="ellipse">
            <a:avLst/>
          </a:prstGeom>
          <a:solidFill>
            <a:srgbClr val="B2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249631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B23A2E"/>
                </a:solidFill>
                <a:latin typeface="Georgia"/>
                <a:ea typeface="宋体"/>
                <a:cs typeface="宋体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0040" y="182880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构思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0040" y="221284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1" name="Oval 10"/>
          <p:cNvSpPr/>
          <p:nvPr/>
        </p:nvSpPr>
        <p:spPr>
          <a:xfrm>
            <a:off x="4329074" y="2916936"/>
            <a:ext cx="292608" cy="292608"/>
          </a:xfrm>
          <a:prstGeom prst="ellipse">
            <a:avLst/>
          </a:prstGeom>
          <a:solidFill>
            <a:srgbClr val="B2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09618" y="315468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B23A2E"/>
                </a:solidFill>
                <a:latin typeface="Georgia"/>
                <a:ea typeface="宋体"/>
                <a:cs typeface="宋体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60978" y="347472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草图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60978" y="385876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5" name="Oval 14"/>
          <p:cNvSpPr/>
          <p:nvPr/>
        </p:nvSpPr>
        <p:spPr>
          <a:xfrm>
            <a:off x="7570012" y="2916936"/>
            <a:ext cx="292608" cy="292608"/>
          </a:xfrm>
          <a:prstGeom prst="ellipse">
            <a:avLst/>
          </a:prstGeom>
          <a:solidFill>
            <a:srgbClr val="B2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50556" y="249631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B23A2E"/>
                </a:solidFill>
                <a:latin typeface="Georgia"/>
                <a:ea typeface="宋体"/>
                <a:cs typeface="宋体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01916" y="182880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细化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01916" y="221284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9" name="Oval 18"/>
          <p:cNvSpPr/>
          <p:nvPr/>
        </p:nvSpPr>
        <p:spPr>
          <a:xfrm>
            <a:off x="10810951" y="2916936"/>
            <a:ext cx="292608" cy="292608"/>
          </a:xfrm>
          <a:prstGeom prst="ellipse">
            <a:avLst/>
          </a:prstGeom>
          <a:solidFill>
            <a:srgbClr val="B2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591495" y="315468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B23A2E"/>
                </a:solidFill>
                <a:latin typeface="Georgia"/>
                <a:ea typeface="宋体"/>
                <a:cs typeface="宋体"/>
              </a:rPr>
              <a:t>04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042855" y="347472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导出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042855" y="385876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7D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2960" y="6355080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杂志编辑  ·  Editorial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B23A2E"/>
                </a:solidFill>
                <a:latin typeface="Segoe UI"/>
                <a:ea typeface="微软雅黑"/>
                <a:cs typeface="微软雅黑"/>
              </a:rPr>
              <a:t>PROCESS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515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工作流程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B2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Chevron 5"/>
          <p:cNvSpPr/>
          <p:nvPr/>
        </p:nvSpPr>
        <p:spPr>
          <a:xfrm>
            <a:off x="822960" y="2743200"/>
            <a:ext cx="2464993" cy="1371600"/>
          </a:xfrm>
          <a:prstGeom prst="chevron">
            <a:avLst/>
          </a:prstGeom>
          <a:solidFill>
            <a:srgbClr val="B23A2E"/>
          </a:solidFill>
          <a:ln w="9525">
            <a:solidFill>
              <a:srgbClr val="E7DF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1560" y="3246120"/>
            <a:ext cx="200779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50" b="1" i="0">
                <a:solidFill>
                  <a:srgbClr val="FFFFFF"/>
                </a:solidFill>
                <a:latin typeface="Georgia"/>
                <a:ea typeface="宋体"/>
                <a:cs typeface="宋体"/>
              </a:rPr>
              <a:t>需求沟通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06241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7A756C"/>
                </a:solidFill>
                <a:latin typeface="Georgia"/>
                <a:ea typeface="宋体"/>
                <a:cs typeface="宋体"/>
              </a:rPr>
              <a:t>›</a:t>
            </a:r>
          </a:p>
        </p:txBody>
      </p:sp>
      <p:sp>
        <p:nvSpPr>
          <p:cNvPr id="9" name="Chevron 8"/>
          <p:cNvSpPr/>
          <p:nvPr/>
        </p:nvSpPr>
        <p:spPr>
          <a:xfrm>
            <a:off x="3516553" y="2743200"/>
            <a:ext cx="2464993" cy="1371600"/>
          </a:xfrm>
          <a:prstGeom prst="chevron">
            <a:avLst/>
          </a:prstGeom>
          <a:solidFill>
            <a:srgbClr val="FFFFFF"/>
          </a:solidFill>
          <a:ln w="9525">
            <a:solidFill>
              <a:srgbClr val="E7DF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745153" y="3246120"/>
            <a:ext cx="200779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50" b="1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草稿确认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99835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7A756C"/>
                </a:solidFill>
                <a:latin typeface="Georgia"/>
                <a:ea typeface="宋体"/>
                <a:cs typeface="宋体"/>
              </a:rPr>
              <a:t>›</a:t>
            </a:r>
          </a:p>
        </p:txBody>
      </p:sp>
      <p:sp>
        <p:nvSpPr>
          <p:cNvPr id="12" name="Chevron 11"/>
          <p:cNvSpPr/>
          <p:nvPr/>
        </p:nvSpPr>
        <p:spPr>
          <a:xfrm>
            <a:off x="6210147" y="2743200"/>
            <a:ext cx="2464993" cy="1371600"/>
          </a:xfrm>
          <a:prstGeom prst="chevron">
            <a:avLst/>
          </a:prstGeom>
          <a:solidFill>
            <a:srgbClr val="B23A2E"/>
          </a:solidFill>
          <a:ln w="9525">
            <a:solidFill>
              <a:srgbClr val="E7DF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38747" y="3246120"/>
            <a:ext cx="200779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50" b="1" i="0">
                <a:solidFill>
                  <a:srgbClr val="FFFFFF"/>
                </a:solidFill>
                <a:latin typeface="Georgia"/>
                <a:ea typeface="宋体"/>
                <a:cs typeface="宋体"/>
              </a:rPr>
              <a:t>正式绘制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93429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7A756C"/>
                </a:solidFill>
                <a:latin typeface="Georgia"/>
                <a:ea typeface="宋体"/>
                <a:cs typeface="宋体"/>
              </a:rPr>
              <a:t>›</a:t>
            </a:r>
          </a:p>
        </p:txBody>
      </p:sp>
      <p:sp>
        <p:nvSpPr>
          <p:cNvPr id="15" name="Chevron 14"/>
          <p:cNvSpPr/>
          <p:nvPr/>
        </p:nvSpPr>
        <p:spPr>
          <a:xfrm>
            <a:off x="8903741" y="2743200"/>
            <a:ext cx="2464993" cy="1371600"/>
          </a:xfrm>
          <a:prstGeom prst="chevron">
            <a:avLst/>
          </a:prstGeom>
          <a:solidFill>
            <a:srgbClr val="FFFFFF"/>
          </a:solidFill>
          <a:ln w="9525">
            <a:solidFill>
              <a:srgbClr val="E7DF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32341" y="3246120"/>
            <a:ext cx="200779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50" b="1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交付源文件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7D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" y="6355080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杂志编辑  ·  Editorial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B23A2E"/>
                </a:solidFill>
                <a:latin typeface="Segoe UI"/>
                <a:ea typeface="微软雅黑"/>
                <a:cs typeface="微软雅黑"/>
              </a:rPr>
              <a:t>PROCESS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515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数据图表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B2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7680960" cy="3886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7DF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371600" y="3877056"/>
            <a:ext cx="685800" cy="1609344"/>
          </a:xfrm>
          <a:prstGeom prst="rect">
            <a:avLst/>
          </a:prstGeom>
          <a:solidFill>
            <a:srgbClr val="B23A2E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514600" y="3145535"/>
            <a:ext cx="685800" cy="2340864"/>
          </a:xfrm>
          <a:prstGeom prst="rect">
            <a:avLst/>
          </a:prstGeom>
          <a:solidFill>
            <a:srgbClr val="2A2A28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657600" y="4169663"/>
            <a:ext cx="685800" cy="1316736"/>
          </a:xfrm>
          <a:prstGeom prst="rect">
            <a:avLst/>
          </a:prstGeom>
          <a:solidFill>
            <a:srgbClr val="B23A2E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800600" y="2706624"/>
            <a:ext cx="685800" cy="2779776"/>
          </a:xfrm>
          <a:prstGeom prst="rect">
            <a:avLst/>
          </a:prstGeom>
          <a:solidFill>
            <a:srgbClr val="2A2A28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943600" y="3438144"/>
            <a:ext cx="685800" cy="2048255"/>
          </a:xfrm>
          <a:prstGeom prst="rect">
            <a:avLst/>
          </a:prstGeom>
          <a:solidFill>
            <a:srgbClr val="B23A2E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086600" y="3730752"/>
            <a:ext cx="685800" cy="1755648"/>
          </a:xfrm>
          <a:prstGeom prst="rect">
            <a:avLst/>
          </a:prstGeom>
          <a:solidFill>
            <a:srgbClr val="2A2A28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280160" y="562356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图表占位 · 在 PowerPoint 中插入图表替换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869680" y="2240280"/>
            <a:ext cx="2651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关键结论 / 解读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69680" y="2743200"/>
            <a:ext cx="265176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B23A2E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B23A2E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B23A2E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7D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60" y="6355080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杂志编辑  ·  Editorial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B23A2E"/>
                </a:solidFill>
                <a:latin typeface="Segoe UI"/>
                <a:ea typeface="微软雅黑"/>
                <a:cs typeface="微软雅黑"/>
              </a:rPr>
              <a:t>CONTACT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515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明细表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B2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48840"/>
            <a:ext cx="10545775" cy="640080"/>
          </a:xfrm>
          <a:prstGeom prst="rect">
            <a:avLst/>
          </a:prstGeom>
          <a:solidFill>
            <a:srgbClr val="B2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作品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21098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类型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36356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年份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2788920"/>
            <a:ext cx="10545775" cy="6400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" name="Connector 10"/>
          <p:cNvCxnSpPr/>
          <p:nvPr/>
        </p:nvCxnSpPr>
        <p:spPr>
          <a:xfrm>
            <a:off x="822960" y="2788920"/>
            <a:ext cx="10545775" cy="0"/>
          </a:xfrm>
          <a:prstGeom prst="line">
            <a:avLst/>
          </a:prstGeom>
          <a:ln w="7620">
            <a:solidFill>
              <a:srgbClr val="E7DFD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1005840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C1B19"/>
                </a:solidFill>
                <a:latin typeface="Segoe UI"/>
                <a:ea typeface="微软雅黑"/>
                <a:cs typeface="微软雅黑"/>
              </a:rPr>
              <a:t>作品一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21098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C1B19"/>
                </a:solidFill>
                <a:latin typeface="Segoe UI"/>
                <a:ea typeface="微软雅黑"/>
                <a:cs typeface="微软雅黑"/>
              </a:rPr>
              <a:t>在此填类型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36356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C1B19"/>
                </a:solidFill>
                <a:latin typeface="Segoe UI"/>
                <a:ea typeface="微软雅黑"/>
                <a:cs typeface="微软雅黑"/>
              </a:rPr>
              <a:t>在此填年份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822960" y="3429000"/>
            <a:ext cx="10545775" cy="0"/>
          </a:xfrm>
          <a:prstGeom prst="line">
            <a:avLst/>
          </a:prstGeom>
          <a:ln w="7620">
            <a:solidFill>
              <a:srgbClr val="E7DFD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1005840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C1B19"/>
                </a:solidFill>
                <a:latin typeface="Segoe UI"/>
                <a:ea typeface="微软雅黑"/>
                <a:cs typeface="微软雅黑"/>
              </a:rPr>
              <a:t>作品二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21098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C1B19"/>
                </a:solidFill>
                <a:latin typeface="Segoe UI"/>
                <a:ea typeface="微软雅黑"/>
                <a:cs typeface="微软雅黑"/>
              </a:rPr>
              <a:t>在此填类型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36356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C1B19"/>
                </a:solidFill>
                <a:latin typeface="Segoe UI"/>
                <a:ea typeface="微软雅黑"/>
                <a:cs typeface="微软雅黑"/>
              </a:rPr>
              <a:t>在此填年份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22960" y="4069079"/>
            <a:ext cx="10545775" cy="6400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822960" y="4069079"/>
            <a:ext cx="10545775" cy="0"/>
          </a:xfrm>
          <a:prstGeom prst="line">
            <a:avLst/>
          </a:prstGeom>
          <a:ln w="7620">
            <a:solidFill>
              <a:srgbClr val="E7DFD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1005840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C1B19"/>
                </a:solidFill>
                <a:latin typeface="Segoe UI"/>
                <a:ea typeface="微软雅黑"/>
                <a:cs typeface="微软雅黑"/>
              </a:rPr>
              <a:t>作品三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21098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C1B19"/>
                </a:solidFill>
                <a:latin typeface="Segoe UI"/>
                <a:ea typeface="微软雅黑"/>
                <a:cs typeface="微软雅黑"/>
              </a:rPr>
              <a:t>在此填类型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36356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C1B19"/>
                </a:solidFill>
                <a:latin typeface="Segoe UI"/>
                <a:ea typeface="微软雅黑"/>
                <a:cs typeface="微软雅黑"/>
              </a:rPr>
              <a:t>在此填年份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7D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2960" y="6355080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杂志编辑  ·  Editorial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B23A2E"/>
                </a:solidFill>
                <a:latin typeface="Segoe UI"/>
                <a:ea typeface="微软雅黑"/>
                <a:cs typeface="微软雅黑"/>
              </a:rPr>
              <a:t>SELECTED WORKS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515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图集 / 案例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B2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03120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E7DFD2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作品 1</a:t>
            </a:r>
          </a:p>
        </p:txBody>
      </p:sp>
      <p:sp>
        <p:nvSpPr>
          <p:cNvPr id="8" name="Rectangle 7"/>
          <p:cNvSpPr/>
          <p:nvPr/>
        </p:nvSpPr>
        <p:spPr>
          <a:xfrm>
            <a:off x="4429658" y="2103120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E7DFD2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429658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作品 2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36356" y="2103120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E7DFD2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36356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作品 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" y="4183379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E7DFD2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作品 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429658" y="4183379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E7DFD2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29658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作品 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036356" y="4183379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E7DFD2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36356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作品 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7D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杂志编辑  ·  Editorial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475488"/>
            <a:ext cx="2194560" cy="18288"/>
          </a:xfrm>
          <a:prstGeom prst="rect">
            <a:avLst/>
          </a:prstGeom>
          <a:solidFill>
            <a:srgbClr val="B2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920240"/>
            <a:ext cx="2743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9600" b="1" i="0">
                <a:solidFill>
                  <a:srgbClr val="B23A2E"/>
                </a:solidFill>
                <a:latin typeface="Georgia"/>
                <a:ea typeface="宋体"/>
                <a:cs typeface="宋体"/>
              </a:rPr>
              <a:t>02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3520440"/>
            <a:ext cx="566928" cy="54864"/>
          </a:xfrm>
          <a:prstGeom prst="rect">
            <a:avLst/>
          </a:prstGeom>
          <a:solidFill>
            <a:srgbClr val="1C1B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3703320"/>
            <a:ext cx="8686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创作流程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709160"/>
            <a:ext cx="7863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在此输入本章导语 · 一句话点题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7D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6355080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杂志编辑  ·  Editorial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475488"/>
            <a:ext cx="2194560" cy="18288"/>
          </a:xfrm>
          <a:prstGeom prst="rect">
            <a:avLst/>
          </a:prstGeom>
          <a:solidFill>
            <a:srgbClr val="B2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463040"/>
            <a:ext cx="18288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0" b="1" i="0">
                <a:solidFill>
                  <a:srgbClr val="B23A2E"/>
                </a:solidFill>
                <a:latin typeface="Georgia"/>
                <a:ea typeface="宋体"/>
                <a:cs typeface="宋体"/>
              </a:rPr>
              <a:t>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80160" y="2651760"/>
            <a:ext cx="960120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2600" b="0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在此输入一句创作感言。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1280160" y="4754880"/>
            <a:ext cx="566928" cy="54864"/>
          </a:xfrm>
          <a:prstGeom prst="rect">
            <a:avLst/>
          </a:prstGeom>
          <a:solidFill>
            <a:srgbClr val="B2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280160" y="4937760"/>
            <a:ext cx="7315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— 作者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7D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6355080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杂志编辑  ·  Editorial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B23A2E"/>
                </a:solidFill>
                <a:latin typeface="Segoe UI"/>
                <a:ea typeface="微软雅黑"/>
                <a:cs typeface="微软雅黑"/>
              </a:rPr>
              <a:t>CONTACT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515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团队 / 分工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B2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286000"/>
            <a:ext cx="3301898" cy="3291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7DF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879549" y="2697480"/>
            <a:ext cx="1188720" cy="1188720"/>
          </a:xfrm>
          <a:prstGeom prst="ellipse">
            <a:avLst/>
          </a:prstGeom>
          <a:solidFill>
            <a:srgbClr val="E7D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879549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姓名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B23A2E"/>
                </a:solidFill>
                <a:latin typeface="Segoe UI"/>
                <a:ea typeface="微软雅黑"/>
                <a:cs typeface="微软雅黑"/>
              </a:rPr>
              <a:t>像素美术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44898" y="2286000"/>
            <a:ext cx="3301898" cy="3291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7DF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5501487" y="2697480"/>
            <a:ext cx="1188720" cy="1188720"/>
          </a:xfrm>
          <a:prstGeom prst="ellipse">
            <a:avLst/>
          </a:prstGeom>
          <a:solidFill>
            <a:srgbClr val="E7D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501487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27778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姓名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27778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B23A2E"/>
                </a:solidFill>
                <a:latin typeface="Segoe UI"/>
                <a:ea typeface="微软雅黑"/>
                <a:cs typeface="微软雅黑"/>
              </a:rPr>
              <a:t>插画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66836" y="2286000"/>
            <a:ext cx="3301898" cy="3291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7DF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23426" y="2697480"/>
            <a:ext cx="1188720" cy="1188720"/>
          </a:xfrm>
          <a:prstGeom prst="ellipse">
            <a:avLst/>
          </a:prstGeom>
          <a:solidFill>
            <a:srgbClr val="E7D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23426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49716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姓名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49716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B23A2E"/>
                </a:solidFill>
                <a:latin typeface="Segoe UI"/>
                <a:ea typeface="微软雅黑"/>
                <a:cs typeface="微软雅黑"/>
              </a:rPr>
              <a:t>动效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7D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6355080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杂志编辑  ·  Editorial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475488"/>
            <a:ext cx="2194560" cy="18288"/>
          </a:xfrm>
          <a:prstGeom prst="rect">
            <a:avLst/>
          </a:prstGeom>
          <a:solidFill>
            <a:srgbClr val="B2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2651760"/>
            <a:ext cx="99669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4800" b="1" i="0">
                <a:solidFill>
                  <a:srgbClr val="1C1B19"/>
                </a:solidFill>
                <a:latin typeface="Georgia"/>
                <a:ea typeface="宋体"/>
                <a:cs typeface="宋体"/>
              </a:rPr>
              <a:t>谢谢观看</a:t>
            </a:r>
          </a:p>
        </p:txBody>
      </p:sp>
      <p:sp>
        <p:nvSpPr>
          <p:cNvPr id="5" name="Rectangle 4"/>
          <p:cNvSpPr/>
          <p:nvPr/>
        </p:nvSpPr>
        <p:spPr>
          <a:xfrm>
            <a:off x="5684367" y="3931920"/>
            <a:ext cx="822960" cy="91440"/>
          </a:xfrm>
          <a:prstGeom prst="rect">
            <a:avLst/>
          </a:prstGeom>
          <a:solidFill>
            <a:srgbClr val="B2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4206240"/>
            <a:ext cx="99669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60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在此输入联系方式 / 二维码 / 致谢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7D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6355080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A756C"/>
                </a:solidFill>
                <a:latin typeface="Segoe UI"/>
                <a:ea typeface="微软雅黑"/>
                <a:cs typeface="微软雅黑"/>
              </a:rPr>
              <a:t>杂志编辑  ·  Editorial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