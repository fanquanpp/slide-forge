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9966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400"/>
              </a:spcAft>
            </a:pPr>
            <a:r>
              <a:rPr sz="46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用户调研与访谈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886200"/>
            <a:ext cx="822960" cy="91440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11480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用户调研与访谈 · 在此输入副标题 / 项目名称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669280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团队 / 姓名  ·  YYYY-MM-DD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2430703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研究目标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7983" y="2377440"/>
            <a:ext cx="2430703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8023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8023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方法与样本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377440"/>
            <a:ext cx="2430703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关键发现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8031" y="2377440"/>
            <a:ext cx="2430703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8071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071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结论与建议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223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研究目标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研究目标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42416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9424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231136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在此输入「研究目标」的要点一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889503"/>
            <a:ext cx="1042416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03580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017520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在此输入「研究目标」的要点二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675887"/>
            <a:ext cx="1042416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22191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803903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在此输入「研究目标」的要点三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462272"/>
            <a:ext cx="1042416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608576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590288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在此输入「研究目标」的要点四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方法与样本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A · 研究目标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C28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B · 方法与样本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C2857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C2857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C2857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Oval 13"/>
          <p:cNvSpPr/>
          <p:nvPr/>
        </p:nvSpPr>
        <p:spPr>
          <a:xfrm>
            <a:off x="5711799" y="3703320"/>
            <a:ext cx="768096" cy="768096"/>
          </a:xfrm>
          <a:prstGeom prst="ellipse">
            <a:avLst/>
          </a:prstGeom>
          <a:solidFill>
            <a:srgbClr val="223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1799" y="370332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7F8FA"/>
                </a:solidFill>
                <a:latin typeface="Segoe UI"/>
                <a:ea typeface="微软雅黑"/>
                <a:cs typeface="微软雅黑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E2E7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研究目标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方法与样本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关键发现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结论与建议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4C7CA8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设计问卷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6553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招募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4C7CA8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访谈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3741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分析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1463040" y="3840480"/>
            <a:ext cx="1280160" cy="914400"/>
          </a:xfrm>
          <a:prstGeom prst="line">
            <a:avLst/>
          </a:prstGeom>
          <a:ln w="31750">
            <a:solidFill>
              <a:srgbClr val="4C7C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743200" y="3840480"/>
            <a:ext cx="1280160" cy="457200"/>
          </a:xfrm>
          <a:prstGeom prst="line">
            <a:avLst/>
          </a:prstGeom>
          <a:ln w="31750">
            <a:solidFill>
              <a:srgbClr val="4C7C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4023360" y="3108960"/>
            <a:ext cx="1280160" cy="1188720"/>
          </a:xfrm>
          <a:prstGeom prst="line">
            <a:avLst/>
          </a:prstGeom>
          <a:ln w="31750">
            <a:solidFill>
              <a:srgbClr val="4C7C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303520" y="3108960"/>
            <a:ext cx="1280160" cy="457200"/>
          </a:xfrm>
          <a:prstGeom prst="line">
            <a:avLst/>
          </a:prstGeom>
          <a:ln w="31750">
            <a:solidFill>
              <a:srgbClr val="4C7C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583680" y="2743200"/>
            <a:ext cx="1280160" cy="822960"/>
          </a:xfrm>
          <a:prstGeom prst="line">
            <a:avLst/>
          </a:prstGeom>
          <a:ln w="31750">
            <a:solidFill>
              <a:srgbClr val="4C7C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399032" y="4690872"/>
            <a:ext cx="128016" cy="128016"/>
          </a:xfrm>
          <a:prstGeom prst="ellipse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79192" y="3776472"/>
            <a:ext cx="128016" cy="128016"/>
          </a:xfrm>
          <a:prstGeom prst="ellipse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59352" y="4233672"/>
            <a:ext cx="128016" cy="128016"/>
          </a:xfrm>
          <a:prstGeom prst="ellipse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239512" y="3044952"/>
            <a:ext cx="128016" cy="128016"/>
          </a:xfrm>
          <a:prstGeom prst="ellipse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19672" y="3502152"/>
            <a:ext cx="128016" cy="128016"/>
          </a:xfrm>
          <a:prstGeom prst="ellipse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99831" y="2679192"/>
            <a:ext cx="128016" cy="128016"/>
          </a:xfrm>
          <a:prstGeom prst="ellipse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图表占位 · 在 PowerPoint 中插入图表替换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E2E7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E2E7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E2E7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223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关键发现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在此输入一条用户洞察。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HIGHLIGHT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关键指标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2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749039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在此输入指标说明 · 占位文本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2194560"/>
            <a:ext cx="539496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4370832"/>
            <a:ext cx="438912" cy="1024127"/>
          </a:xfrm>
          <a:prstGeom prst="rect">
            <a:avLst/>
          </a:prstGeom>
          <a:solidFill>
            <a:srgbClr val="4C7CA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04304" y="3730752"/>
            <a:ext cx="438912" cy="1664207"/>
          </a:xfrm>
          <a:prstGeom prst="rect">
            <a:avLst/>
          </a:prstGeom>
          <a:solidFill>
            <a:srgbClr val="C2857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99248" y="4114800"/>
            <a:ext cx="438912" cy="1280160"/>
          </a:xfrm>
          <a:prstGeom prst="rect">
            <a:avLst/>
          </a:prstGeom>
          <a:solidFill>
            <a:srgbClr val="4C7CA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94192" y="3218688"/>
            <a:ext cx="438912" cy="2176272"/>
          </a:xfrm>
          <a:prstGeom prst="rect">
            <a:avLst/>
          </a:prstGeom>
          <a:solidFill>
            <a:srgbClr val="C2857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089136" y="3858768"/>
            <a:ext cx="438912" cy="1536192"/>
          </a:xfrm>
          <a:prstGeom prst="rect">
            <a:avLst/>
          </a:prstGeom>
          <a:solidFill>
            <a:srgbClr val="4C7CA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784080" y="2962656"/>
            <a:ext cx="438912" cy="2432303"/>
          </a:xfrm>
          <a:prstGeom prst="rect">
            <a:avLst/>
          </a:prstGeom>
          <a:solidFill>
            <a:srgbClr val="C2857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479024" y="3602736"/>
            <a:ext cx="438912" cy="1792223"/>
          </a:xfrm>
          <a:prstGeom prst="rect">
            <a:avLst/>
          </a:prstGeom>
          <a:solidFill>
            <a:srgbClr val="4C7CA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QUOTES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金句墙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3344570" cy="18150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2128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743200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在此输入短句一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3562" y="2103120"/>
            <a:ext cx="3344570" cy="18150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79594" y="22128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16170" y="2743200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在此输入短句二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4164" y="2103120"/>
            <a:ext cx="3344570" cy="18150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0196" y="22128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6772" y="2743200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在此输入短句三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174235"/>
            <a:ext cx="3344570" cy="18150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28396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4814316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在此输入短句四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23562" y="4174235"/>
            <a:ext cx="3344570" cy="18150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79594" y="428396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16170" y="4814316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在此输入短句五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常见问题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42416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0704" y="2322576"/>
            <a:ext cx="402336" cy="402336"/>
          </a:xfrm>
          <a:prstGeom prst="ellipse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232257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24942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在此输入问题一？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596896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63239"/>
            <a:ext cx="1042416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0704" y="3282696"/>
            <a:ext cx="402336" cy="402336"/>
          </a:xfrm>
          <a:prstGeom prst="ellipse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328269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20954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在此输入问题二？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557015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023360"/>
            <a:ext cx="1042416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60704" y="4242816"/>
            <a:ext cx="402336" cy="402336"/>
          </a:xfrm>
          <a:prstGeom prst="ellipse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424281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16966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在此输入问题三？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517136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