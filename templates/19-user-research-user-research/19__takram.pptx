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示例构成（右键 → 编辑数据）</c:v>
                </c:pt>
              </c:strCache>
            </c:strRef>
          </c:tx>
          <c:dPt>
            <c:idx val="0"/>
            <c:spPr>
              <a:solidFill>
                <a:srgbClr val="3FA88C"/>
              </a:solidFill>
            </c:spPr>
          </c:dPt>
          <c:dPt>
            <c:idx val="1"/>
            <c:spPr>
              <a:solidFill>
                <a:srgbClr val="E2A03F"/>
              </a:solidFill>
            </c:spPr>
          </c:dPt>
          <c:dPt>
            <c:idx val="2"/>
            <c:spPr>
              <a:solidFill>
                <a:srgbClr val="3FA88C"/>
              </a:solidFill>
            </c:spPr>
          </c:dPt>
          <c:dPt>
            <c:idx val="3"/>
            <c:spPr>
              <a:solidFill>
                <a:srgbClr val="E2A03F"/>
              </a:solidFill>
            </c:spPr>
          </c:dPt>
          <c:cat>
            <c:strRef>
              <c:f>Sheet1!$A$2:$A$5</c:f>
              <c:strCache>
                <c:ptCount val="4"/>
                <c:pt idx="0">
                  <c:v>板块一</c:v>
                </c:pt>
                <c:pt idx="1">
                  <c:v>板块二</c:v>
                </c:pt>
                <c:pt idx="2">
                  <c:v>板块三</c:v>
                </c:pt>
                <c:pt idx="3">
                  <c:v>板块四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【页面定位】在此输入一条用户洞察。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【页面定位】INTERSECTION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3FA88C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用户调研与访谈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用户调研与访谈 · 在此输入副标题 / 项目名称</a:t>
            </a:r>
          </a:p>
        </p:txBody>
      </p:sp>
    </p:spTree>
  </p:cSld>
  <p:clrMapOvr>
    <a:masterClrMapping/>
  </p:clrMapOvr>
  <p:transition spd="med" advClick="1" advTm="6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结论与建议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在此输入「研究目标」的要点一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在此输入「研究目标」的要点二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在此输入「研究目标」的要点三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在此输入「研究目标」的要点四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A · 研究目标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B · 方法与样本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69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结论与建议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设计问卷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招募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访谈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371600" y="2286000"/>
          <a:ext cx="548640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在此输入一条用户洞察。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INTERSECTION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三要素交集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06040" y="868680"/>
            <a:ext cx="2834640" cy="2834640"/>
          </a:xfrm>
          <a:prstGeom prst="ellipse">
            <a:avLst/>
          </a:prstGeom>
          <a:solidFill>
            <a:srgbClr val="3FA88C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要素一</a:t>
            </a:r>
          </a:p>
        </p:txBody>
      </p:sp>
      <p:sp>
        <p:nvSpPr>
          <p:cNvPr id="8" name="Oval 7"/>
          <p:cNvSpPr/>
          <p:nvPr/>
        </p:nvSpPr>
        <p:spPr>
          <a:xfrm>
            <a:off x="4617720" y="868680"/>
            <a:ext cx="2834640" cy="2834640"/>
          </a:xfrm>
          <a:prstGeom prst="ellipse">
            <a:avLst/>
          </a:prstGeom>
          <a:solidFill>
            <a:srgbClr val="E2A03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要素二</a:t>
            </a:r>
          </a:p>
        </p:txBody>
      </p:sp>
      <p:sp>
        <p:nvSpPr>
          <p:cNvPr id="10" name="Oval 9"/>
          <p:cNvSpPr/>
          <p:nvPr/>
        </p:nvSpPr>
        <p:spPr>
          <a:xfrm>
            <a:off x="3611880" y="2423160"/>
            <a:ext cx="2834640" cy="2834640"/>
          </a:xfrm>
          <a:prstGeom prst="ellipse">
            <a:avLst/>
          </a:prstGeom>
          <a:solidFill>
            <a:srgbClr val="9A9A9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46634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要素三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383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交集 / 协同点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要素一：在此输入一句要点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要素二：在此输入一句要点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要素三：在此输入一句要点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24000"/>
            </a:avLst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motion:hero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00" fill="hold" nodeType="afterEffect" grpId="0" presetID="6" presetClass="emph" presetSubtype="0">
                            <p:stCondLst>
                              <p:cond delay="820"/>
                            </p:stCondLst>
                            <p:childTnLst>
                              <p:animScale>
                                <p:cBhvr>
                                  <p:cTn id="81" dur="500" fill="hold"/>
                                  <p:tgtEl>
                                    <p:spTgt spid="5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柔和科技图表">
  <a:themeElements>
    <a:clrScheme name="SlideForge 柔和科技图表">
      <a:dk1>
        <a:srgbClr val="2B2B2B"/>
      </a:dk1>
      <a:lt1>
        <a:srgbClr val="F5F3EF"/>
      </a:lt1>
      <a:dk2>
        <a:srgbClr val="9A9A93"/>
      </a:dk2>
      <a:lt2>
        <a:srgbClr val="FFFFFF"/>
      </a:lt2>
      <a:accent1>
        <a:srgbClr val="3FA88C"/>
      </a:accent1>
      <a:accent2>
        <a:srgbClr val="E2A03F"/>
      </a:accent2>
      <a:accent3>
        <a:srgbClr val="E2A03F"/>
      </a:accent3>
      <a:accent4>
        <a:srgbClr val="E4E0D8"/>
      </a:accent4>
      <a:accent5>
        <a:srgbClr val="9A9A93"/>
      </a:accent5>
      <a:accent6>
        <a:srgbClr val="FFFFFF"/>
      </a:accent6>
      <a:hlink>
        <a:srgbClr val="3FA88C"/>
      </a:hlink>
      <a:folHlink>
        <a:srgbClr val="9A9A93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