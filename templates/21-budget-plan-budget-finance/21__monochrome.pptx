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0A0A0A"/>
              </a:solidFill>
            </c:spPr>
          </c:dPt>
          <c:dPt>
            <c:idx val="1"/>
            <c:spPr>
              <a:solidFill>
                <a:srgbClr val="3D3D3D"/>
              </a:solidFill>
            </c:spPr>
          </c:dPt>
          <c:dPt>
            <c:idx val="2"/>
            <c:spPr>
              <a:solidFill>
                <a:srgbClr val="0A0A0A"/>
              </a:solidFill>
            </c:spPr>
          </c:dPt>
          <c:dPt>
            <c:idx val="3"/>
            <c:spPr>
              <a:solidFill>
                <a:srgbClr val="3D3D3D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【页面定位】在此输入一条财务原则。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【页面定位】CONVERSION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【页面定位】QUOTES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【页面定位】VENN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预算与财务计划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预算与财务计划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在此输入「预算总览」的要点一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在此输入「预算总览」的要点二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在此输入「预算总览」的要点三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在此输入「预算总览」的要点四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A · 预算总览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B · 分项明细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2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4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6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01" dur="69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预算总览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分项明细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风险与预案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编制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审批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0A0A0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结算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2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4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收支平衡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在此输入一条财务原则。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转化 / 分配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0A0A0A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3D3D3D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0A0A0A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3D3D3D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阶段四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金句墙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在此输入短句五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四象限分析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3D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3D3D3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4F4F4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VENN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三圆交集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06040" y="868680"/>
            <a:ext cx="2834640" cy="2834640"/>
          </a:xfrm>
          <a:prstGeom prst="ellipse">
            <a:avLst/>
          </a:prstGeom>
          <a:solidFill>
            <a:srgbClr val="0A0A0A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主题一</a:t>
            </a:r>
          </a:p>
        </p:txBody>
      </p:sp>
      <p:sp>
        <p:nvSpPr>
          <p:cNvPr id="8" name="Oval 7"/>
          <p:cNvSpPr/>
          <p:nvPr/>
        </p:nvSpPr>
        <p:spPr>
          <a:xfrm>
            <a:off x="4617720" y="868680"/>
            <a:ext cx="2834640" cy="2834640"/>
          </a:xfrm>
          <a:prstGeom prst="ellipse">
            <a:avLst/>
          </a:prstGeom>
          <a:solidFill>
            <a:srgbClr val="3D3D3D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59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主题二</a:t>
            </a:r>
          </a:p>
        </p:txBody>
      </p:sp>
      <p:sp>
        <p:nvSpPr>
          <p:cNvPr id="10" name="Oval 9"/>
          <p:cNvSpPr/>
          <p:nvPr/>
        </p:nvSpPr>
        <p:spPr>
          <a:xfrm>
            <a:off x="3611880" y="2423160"/>
            <a:ext cx="2834640" cy="2834640"/>
          </a:xfrm>
          <a:prstGeom prst="ellipse">
            <a:avLst/>
          </a:prstGeom>
          <a:solidFill>
            <a:srgbClr val="8C8C8C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6634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主题三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38328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交集 / 协同点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37744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主题一：在此输入一句要点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主题二：在此输入一句要点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839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0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主题三：在此输入一句要点</a:t>
            </a:r>
          </a:p>
        </p:txBody>
      </p:sp>
      <p:sp>
        <p:nvSpPr>
          <p:cNvPr id="1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0A0A0A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  <a:latin typeface="Segoe UI"/>
                <a:ea typeface="微软雅黑"/>
                <a:cs typeface="微软雅黑"/>
              </a:rPr>
              <a:t>单色印刷极简  ·  Monochrome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单色印刷极简">
  <a:themeElements>
    <a:clrScheme name="SlideForge 单色印刷极简">
      <a:dk1>
        <a:srgbClr val="0A0A0A"/>
      </a:dk1>
      <a:lt1>
        <a:srgbClr val="FFFFFF"/>
      </a:lt1>
      <a:dk2>
        <a:srgbClr val="8C8C8C"/>
      </a:dk2>
      <a:lt2>
        <a:srgbClr val="F4F4F4"/>
      </a:lt2>
      <a:accent1>
        <a:srgbClr val="0A0A0A"/>
      </a:accent1>
      <a:accent2>
        <a:srgbClr val="3D3D3D"/>
      </a:accent2>
      <a:accent3>
        <a:srgbClr val="3D3D3D"/>
      </a:accent3>
      <a:accent4>
        <a:srgbClr val="E0E0E0"/>
      </a:accent4>
      <a:accent5>
        <a:srgbClr val="8C8C8C"/>
      </a:accent5>
      <a:accent6>
        <a:srgbClr val="F4F4F4"/>
      </a:accent6>
      <a:hlink>
        <a:srgbClr val="0A0A0A"/>
      </a:hlink>
      <a:folHlink>
        <a:srgbClr val="8C8C8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