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示例系列（右键 → 编辑数据）</c:v>
                </c:pt>
              </c:strCache>
            </c:strRef>
          </c:tx>
          <c:spPr>
            <a:solidFill>
              <a:srgbClr val="4C7CA8"/>
            </a:solidFill>
          </c:spPr>
          <c:cat>
            <c:strRef>
              <c:f>Sheet1!$A$2:$A$7</c:f>
              <c:strCache>
                <c:ptCount val="6"/>
                <c:pt idx="0">
                  <c:v>指标一</c:v>
                </c:pt>
                <c:pt idx="1">
                  <c:v>指标二</c:v>
                </c:pt>
                <c:pt idx="2">
                  <c:v>指标三</c:v>
                </c:pt>
                <c:pt idx="3">
                  <c:v>指标四</c:v>
                </c:pt>
                <c:pt idx="4">
                  <c:v>指标五</c:v>
                </c:pt>
                <c:pt idx="5">
                  <c:v>指标六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80</c:v>
                </c:pt>
                <c:pt idx="2">
                  <c:v>45</c:v>
                </c:pt>
                <c:pt idx="3">
                  <c:v>95</c:v>
                </c:pt>
                <c:pt idx="4">
                  <c:v>70</c:v>
                </c:pt>
                <c:pt idx="5">
                  <c:v>60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【页面定位】预算与财务计划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【页面定位】在此输入一条财务原则。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【页面定位】CONVERSION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【页面定位】PYRAMID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【页面定位】GLOSSARY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预算与财务计划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预算与财务计划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l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分项明细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收支平衡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风险与预案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8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6000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在此输入「预算总览」的要点一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在此输入「预算总览」的要点二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在此输入「预算总览」的要点三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在此输入「预算总览」的要点四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分项明细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A · 预算总览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28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B · 分项明细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7F8FA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01" dur="57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分项明细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收支平衡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风险与预案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4C7CA8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编制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审批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4C7CA8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结算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6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allery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收支平衡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6000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在此输入一条财务原则。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CONVERSION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转化 / 分配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706727" y="2194560"/>
            <a:ext cx="8778240" cy="786384"/>
          </a:xfrm>
          <a:prstGeom prst="roundRect">
            <a:avLst>
              <a:gd name="adj" fmla="val 18000"/>
            </a:avLst>
          </a:prstGeom>
          <a:solidFill>
            <a:srgbClr val="4C7CA8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2487" y="2414015"/>
            <a:ext cx="67665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367" y="2414015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100%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21127" y="3127248"/>
            <a:ext cx="6949440" cy="786384"/>
          </a:xfrm>
          <a:prstGeom prst="roundRect">
            <a:avLst>
              <a:gd name="adj" fmla="val 18000"/>
            </a:avLst>
          </a:prstGeom>
          <a:solidFill>
            <a:srgbClr val="C2857A">
              <a:alpha val="8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6887" y="3346704"/>
            <a:ext cx="4937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8967" y="3346704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35527" y="4059935"/>
            <a:ext cx="5120640" cy="786384"/>
          </a:xfrm>
          <a:prstGeom prst="roundRect">
            <a:avLst>
              <a:gd name="adj" fmla="val 18000"/>
            </a:avLst>
          </a:prstGeom>
          <a:solidFill>
            <a:srgbClr val="4C7CA8">
              <a:alpha val="7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01287" y="4279392"/>
            <a:ext cx="3108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84567" y="4279392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49927" y="4992624"/>
            <a:ext cx="3291840" cy="786384"/>
          </a:xfrm>
          <a:prstGeom prst="roundRect">
            <a:avLst>
              <a:gd name="adj" fmla="val 18000"/>
            </a:avLst>
          </a:prstGeom>
          <a:solidFill>
            <a:srgbClr val="C2857A">
              <a:alpha val="6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5687" y="521208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167" y="521208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conveyor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0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PYRAMID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金字塔结构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>
            <a:off x="4907127" y="2240280"/>
            <a:ext cx="2377440" cy="1078992"/>
          </a:xfrm>
          <a:prstGeom prst="triangl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07127" y="262432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顶层</a:t>
            </a:r>
          </a:p>
        </p:txBody>
      </p:sp>
      <p:sp>
        <p:nvSpPr>
          <p:cNvPr id="8" name="Trapezoid 7"/>
          <p:cNvSpPr/>
          <p:nvPr/>
        </p:nvSpPr>
        <p:spPr>
          <a:xfrm>
            <a:off x="3809847" y="3447288"/>
            <a:ext cx="4572000" cy="1078992"/>
          </a:xfrm>
          <a:prstGeom prst="trapezoid">
            <a:avLst>
              <a:gd name="adj" fmla="val 22000"/>
            </a:avLst>
          </a:prstGeom>
          <a:solidFill>
            <a:srgbClr val="C28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7047" y="3813048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中层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10447" y="379476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在此输入说明（占位）</a:t>
            </a:r>
          </a:p>
        </p:txBody>
      </p:sp>
      <p:sp>
        <p:nvSpPr>
          <p:cNvPr id="11" name="Trapezoid 10"/>
          <p:cNvSpPr/>
          <p:nvPr/>
        </p:nvSpPr>
        <p:spPr>
          <a:xfrm>
            <a:off x="2712567" y="4654296"/>
            <a:ext cx="6766560" cy="1078992"/>
          </a:xfrm>
          <a:prstGeom prst="trapezoid">
            <a:avLst>
              <a:gd name="adj" fmla="val 22000"/>
            </a:avLst>
          </a:prstGeom>
          <a:solidFill>
            <a:srgbClr val="7C8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69767" y="5020056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基础层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07727" y="500176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在此输入说明（占位）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motion:hero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C285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C285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C285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00" fill="hold" nodeType="afterEffect" grpId="0" presetID="6" presetClass="emph" presetSubtype="0">
                            <p:stCondLst>
                              <p:cond delay="950"/>
                            </p:stCondLst>
                            <p:childTnLst>
                              <p:animScale>
                                <p:cBhvr>
                                  <p:cTn id="101" dur="500" fill="hold"/>
                                  <p:tgtEl>
                                    <p:spTgt spid="6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北欧灰蓝">
  <a:themeElements>
    <a:clrScheme name="SlideForge 北欧灰蓝">
      <a:dk1>
        <a:srgbClr val="22303C"/>
      </a:dk1>
      <a:lt1>
        <a:srgbClr val="F7F8FA"/>
      </a:lt1>
      <a:dk2>
        <a:srgbClr val="7C8A99"/>
      </a:dk2>
      <a:lt2>
        <a:srgbClr val="FFFFFF"/>
      </a:lt2>
      <a:accent1>
        <a:srgbClr val="4C7CA8"/>
      </a:accent1>
      <a:accent2>
        <a:srgbClr val="C2857A"/>
      </a:accent2>
      <a:accent3>
        <a:srgbClr val="C2857A"/>
      </a:accent3>
      <a:accent4>
        <a:srgbClr val="E2E7EC"/>
      </a:accent4>
      <a:accent5>
        <a:srgbClr val="7C8A99"/>
      </a:accent5>
      <a:accent6>
        <a:srgbClr val="FFFFFF"/>
      </a:accent6>
      <a:hlink>
        <a:srgbClr val="4C7CA8"/>
      </a:hlink>
      <a:folHlink>
        <a:srgbClr val="7C8A99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