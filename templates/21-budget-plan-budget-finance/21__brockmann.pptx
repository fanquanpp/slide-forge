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示例系列（右键 → 编辑数据）</c:v>
                </c:pt>
              </c:strCache>
            </c:strRef>
          </c:tx>
          <c:spPr>
            <a:solidFill>
              <a:srgbClr val="E2231A"/>
            </a:solidFill>
          </c:spPr>
          <c:cat>
            <c:strRef>
              <c:f>Sheet1!$A$2:$A$7</c:f>
              <c:strCache>
                <c:ptCount val="6"/>
                <c:pt idx="0">
                  <c:v>指标一</c:v>
                </c:pt>
                <c:pt idx="1">
                  <c:v>指标二</c:v>
                </c:pt>
                <c:pt idx="2">
                  <c:v>指标三</c:v>
                </c:pt>
                <c:pt idx="3">
                  <c:v>指标四</c:v>
                </c:pt>
                <c:pt idx="4">
                  <c:v>指标五</c:v>
                </c:pt>
                <c:pt idx="5">
                  <c:v>指标六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80</c:v>
                </c:pt>
                <c:pt idx="2">
                  <c:v>45</c:v>
                </c:pt>
                <c:pt idx="3">
                  <c:v>95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【页面定位】预算与财务计划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【页面定位】在此输入一条财务原则。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【页面定位】CONVERSION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【页面定位】RISK MATRIX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【页面定位】OPTIONS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【页面定位】MATRIX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:decor-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decor-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decor-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decor-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decor-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decor-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decor-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:decor-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:decor-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decor-13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预算与财务计划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预算与财务计划 · 在此输入副标题 / 项目名称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l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风险与预案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:decor-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decor-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decor-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decor-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decor-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decor-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decor-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:decor-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:decor-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decor-13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在此输入「预算总览」的要点一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在此输入「预算总览」的要点二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在此输入「预算总览」的要点三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在此输入「预算总览」的要点四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A · 预算总览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B · 分项明细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81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风险与预案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E2231A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编制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E2231A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结算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:decor-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decor-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decor-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decor-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decor-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decor-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decor-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:decor-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:decor-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decor-13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:decor-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decor-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decor-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decor-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decor-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decor-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decor-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:decor-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:decor-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decor-13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在此输入一条财务原则。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2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转化 / 分配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6727" y="2194560"/>
            <a:ext cx="8778240" cy="786384"/>
          </a:xfrm>
          <a:prstGeom prst="roundRect">
            <a:avLst>
              <a:gd name="adj" fmla="val 18000"/>
            </a:avLst>
          </a:prstGeom>
          <a:solidFill>
            <a:srgbClr val="E2231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2487" y="2414015"/>
            <a:ext cx="6766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367" y="2414015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1127" y="3127248"/>
            <a:ext cx="6949440" cy="786384"/>
          </a:xfrm>
          <a:prstGeom prst="roundRect">
            <a:avLst>
              <a:gd name="adj" fmla="val 18000"/>
            </a:avLst>
          </a:prstGeom>
          <a:solidFill>
            <a:srgbClr val="111111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887" y="334670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334670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5527" y="4059935"/>
            <a:ext cx="5120640" cy="786384"/>
          </a:xfrm>
          <a:prstGeom prst="roundRect">
            <a:avLst>
              <a:gd name="adj" fmla="val 18000"/>
            </a:avLst>
          </a:prstGeom>
          <a:solidFill>
            <a:srgbClr val="E2231A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1287" y="4279392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567" y="427939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9927" y="4992624"/>
            <a:ext cx="3291840" cy="786384"/>
          </a:xfrm>
          <a:prstGeom prst="roundRect">
            <a:avLst>
              <a:gd name="adj" fmla="val 18000"/>
            </a:avLst>
          </a:prstGeom>
          <a:solidFill>
            <a:srgbClr val="111111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5687" y="52120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52120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概率 × 影响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2148840"/>
            <a:ext cx="2194560" cy="896112"/>
          </a:xfrm>
          <a:prstGeom prst="rect">
            <a:avLst/>
          </a:prstGeom>
          <a:solidFill>
            <a:srgbClr val="111111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1104" y="2148840"/>
            <a:ext cx="2194560" cy="896112"/>
          </a:xfrm>
          <a:prstGeom prst="rect">
            <a:avLst/>
          </a:prstGeom>
          <a:solidFill>
            <a:srgbClr val="111111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0528" y="2148840"/>
            <a:ext cx="2194560" cy="896112"/>
          </a:xfrm>
          <a:prstGeom prst="rect">
            <a:avLst/>
          </a:prstGeom>
          <a:solidFill>
            <a:srgbClr val="111111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59952" y="2148840"/>
            <a:ext cx="2194560" cy="896112"/>
          </a:xfrm>
          <a:prstGeom prst="rect">
            <a:avLst/>
          </a:prstGeom>
          <a:solidFill>
            <a:srgbClr val="E2231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3099816"/>
            <a:ext cx="2194560" cy="896112"/>
          </a:xfrm>
          <a:prstGeom prst="rect">
            <a:avLst/>
          </a:prstGeom>
          <a:solidFill>
            <a:srgbClr val="111111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1104" y="3099816"/>
            <a:ext cx="2194560" cy="896112"/>
          </a:xfrm>
          <a:prstGeom prst="rect">
            <a:avLst/>
          </a:prstGeom>
          <a:solidFill>
            <a:srgbClr val="111111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0528" y="3099816"/>
            <a:ext cx="2194560" cy="896112"/>
          </a:xfrm>
          <a:prstGeom prst="rect">
            <a:avLst/>
          </a:prstGeom>
          <a:solidFill>
            <a:srgbClr val="E2231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59952" y="3099816"/>
            <a:ext cx="2194560" cy="896112"/>
          </a:xfrm>
          <a:prstGeom prst="rect">
            <a:avLst/>
          </a:prstGeom>
          <a:solidFill>
            <a:srgbClr val="E2231A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4050791"/>
            <a:ext cx="2194560" cy="896112"/>
          </a:xfrm>
          <a:prstGeom prst="rect">
            <a:avLst/>
          </a:prstGeom>
          <a:solidFill>
            <a:srgbClr val="111111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4050791"/>
            <a:ext cx="2194560" cy="896112"/>
          </a:xfrm>
          <a:prstGeom prst="rect">
            <a:avLst/>
          </a:prstGeom>
          <a:solidFill>
            <a:srgbClr val="E2231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0528" y="4050791"/>
            <a:ext cx="2194560" cy="896112"/>
          </a:xfrm>
          <a:prstGeom prst="rect">
            <a:avLst/>
          </a:prstGeom>
          <a:solidFill>
            <a:srgbClr val="E2231A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9952" y="4050791"/>
            <a:ext cx="2194560" cy="896112"/>
          </a:xfrm>
          <a:prstGeom prst="rect">
            <a:avLst/>
          </a:prstGeom>
          <a:solidFill>
            <a:srgbClr val="111111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5001768"/>
            <a:ext cx="2194560" cy="896112"/>
          </a:xfrm>
          <a:prstGeom prst="rect">
            <a:avLst/>
          </a:prstGeom>
          <a:solidFill>
            <a:srgbClr val="E2231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1104" y="5001768"/>
            <a:ext cx="2194560" cy="896112"/>
          </a:xfrm>
          <a:prstGeom prst="rect">
            <a:avLst/>
          </a:prstGeom>
          <a:solidFill>
            <a:srgbClr val="E2231A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0528" y="5001768"/>
            <a:ext cx="2194560" cy="896112"/>
          </a:xfrm>
          <a:prstGeom prst="rect">
            <a:avLst/>
          </a:prstGeom>
          <a:solidFill>
            <a:srgbClr val="111111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9952" y="5001768"/>
            <a:ext cx="2194560" cy="896112"/>
          </a:xfrm>
          <a:prstGeom prst="rect">
            <a:avLst/>
          </a:prstGeom>
          <a:solidFill>
            <a:srgbClr val="111111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175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影响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943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概率 →</a:t>
            </a:r>
          </a:p>
        </p:txBody>
      </p:sp>
      <p:sp>
        <p:nvSpPr>
          <p:cNvPr id="24" name="Oval 23"/>
          <p:cNvSpPr/>
          <p:nvPr/>
        </p:nvSpPr>
        <p:spPr>
          <a:xfrm>
            <a:off x="5202936" y="2441448"/>
            <a:ext cx="310896" cy="310896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2936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21945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1 · 风险一</a:t>
            </a:r>
          </a:p>
        </p:txBody>
      </p:sp>
      <p:sp>
        <p:nvSpPr>
          <p:cNvPr id="27" name="Oval 26"/>
          <p:cNvSpPr/>
          <p:nvPr/>
        </p:nvSpPr>
        <p:spPr>
          <a:xfrm>
            <a:off x="7452360" y="3392424"/>
            <a:ext cx="310896" cy="310896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33924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27614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2 · 风险二</a:t>
            </a:r>
          </a:p>
        </p:txBody>
      </p:sp>
      <p:sp>
        <p:nvSpPr>
          <p:cNvPr id="30" name="Oval 29"/>
          <p:cNvSpPr/>
          <p:nvPr/>
        </p:nvSpPr>
        <p:spPr>
          <a:xfrm>
            <a:off x="9701784" y="4343400"/>
            <a:ext cx="310896" cy="310896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1784" y="43434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3328415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3 · 风险三</a:t>
            </a:r>
          </a:p>
        </p:txBody>
      </p:sp>
      <p:sp>
        <p:nvSpPr>
          <p:cNvPr id="33" name="Oval 32"/>
          <p:cNvSpPr/>
          <p:nvPr/>
        </p:nvSpPr>
        <p:spPr>
          <a:xfrm>
            <a:off x="2953512" y="2441448"/>
            <a:ext cx="310896" cy="310896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53512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3895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4 · 风险四</a:t>
            </a:r>
          </a:p>
        </p:txBody>
      </p:sp>
      <p:sp>
        <p:nvSpPr>
          <p:cNvPr id="3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69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81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45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57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69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81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0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E2231A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:decor-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decor-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decor-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decor-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decor-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decor-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decor-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:decor-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:decor-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decor-13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1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数学网格功能主义">
  <a:themeElements>
    <a:clrScheme name="SlideForge 数学网格功能主义">
      <a:dk1>
        <a:srgbClr val="111111"/>
      </a:dk1>
      <a:lt1>
        <a:srgbClr val="FFFFFF"/>
      </a:lt1>
      <a:dk2>
        <a:srgbClr val="6B6B6B"/>
      </a:dk2>
      <a:lt2>
        <a:srgbClr val="F7F7F5"/>
      </a:lt2>
      <a:accent1>
        <a:srgbClr val="E2231A"/>
      </a:accent1>
      <a:accent2>
        <a:srgbClr val="111111"/>
      </a:accent2>
      <a:accent3>
        <a:srgbClr val="111111"/>
      </a:accent3>
      <a:accent4>
        <a:srgbClr val="D8D8D4"/>
      </a:accent4>
      <a:accent5>
        <a:srgbClr val="6B6B6B"/>
      </a:accent5>
      <a:accent6>
        <a:srgbClr val="F7F7F5"/>
      </a:accent6>
      <a:hlink>
        <a:srgbClr val="E2231A"/>
      </a:hlink>
      <a:folHlink>
        <a:srgbClr val="6B6B6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