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示例系列（右键 → 编辑数据）</c:v>
                </c:pt>
              </c:strCache>
            </c:strRef>
          </c:tx>
          <c:spPr>
            <a:solidFill>
              <a:srgbClr val="1E5FBF"/>
            </a:solidFill>
          </c:spPr>
          <c:cat>
            <c:strRef>
              <c:f>Sheet1!$A$2:$A$7</c:f>
              <c:strCache>
                <c:ptCount val="6"/>
                <c:pt idx="0">
                  <c:v>指标一</c:v>
                </c:pt>
                <c:pt idx="1">
                  <c:v>指标二</c:v>
                </c:pt>
                <c:pt idx="2">
                  <c:v>指标三</c:v>
                </c:pt>
                <c:pt idx="3">
                  <c:v>指标四</c:v>
                </c:pt>
                <c:pt idx="4">
                  <c:v>指标五</c:v>
                </c:pt>
                <c:pt idx="5">
                  <c:v>指标六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80</c:v>
                </c:pt>
                <c:pt idx="2">
                  <c:v>45</c:v>
                </c:pt>
                <c:pt idx="3">
                  <c:v>95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【页面定位】竞聘述职与答辩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【页面定位】在此输入一句竞选宣言。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【页面定位】SWOT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【页面定位】CHECKLIST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【页面定位】DASHBOARD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【页面定位】RISK MATRIX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竞聘述职与答辩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竞聘述职与答辩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l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个人优势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工作设想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承诺与计划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在此输入「岗位理解」的要点一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在此输入「岗位理解」的要点二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在此输入「岗位理解」的要点三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在此输入「岗位理解」的要点四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个人优势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A · 岗位理解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B · 个人优势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57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个人优势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工作设想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承诺与计划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竞选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陈述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答辩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公示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工作设想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在此输入一句竞选宣言。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态势分析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182880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03120"/>
            <a:ext cx="109728" cy="18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劣势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69080"/>
            <a:ext cx="109728" cy="1828800"/>
          </a:xfrm>
          <a:prstGeom prst="rect">
            <a:avLst/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06908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069080"/>
            <a:ext cx="109728" cy="182880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挑战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1E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1E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1E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1E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指标看板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38404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tion:hero"/>
          <p:cNvSpPr txBox="1"/>
          <p:nvPr/>
        </p:nvSpPr>
        <p:spPr>
          <a:xfrm>
            <a:off x="1097280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093207"/>
            <a:ext cx="219456" cy="256032"/>
          </a:xfrm>
          <a:prstGeom prst="rect">
            <a:avLst/>
          </a:prstGeom>
          <a:solidFill>
            <a:srgbClr val="1E5FB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8176" y="4965192"/>
            <a:ext cx="219456" cy="384048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9072" y="4837175"/>
            <a:ext cx="219456" cy="512064"/>
          </a:xfrm>
          <a:prstGeom prst="rect">
            <a:avLst/>
          </a:prstGeom>
          <a:solidFill>
            <a:srgbClr val="1E5FB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7" y="4709159"/>
            <a:ext cx="219456" cy="640080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864" y="5093207"/>
            <a:ext cx="219456" cy="256032"/>
          </a:xfrm>
          <a:prstGeom prst="rect">
            <a:avLst/>
          </a:prstGeom>
          <a:solidFill>
            <a:srgbClr val="1E5FB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7983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2303" y="2423160"/>
            <a:ext cx="38404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tent:kpi"/>
          <p:cNvSpPr txBox="1"/>
          <p:nvPr/>
        </p:nvSpPr>
        <p:spPr>
          <a:xfrm>
            <a:off x="3802303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2303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2303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2303" y="4965192"/>
            <a:ext cx="219456" cy="384048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3199" y="4837175"/>
            <a:ext cx="219456" cy="512064"/>
          </a:xfrm>
          <a:prstGeom prst="rect">
            <a:avLst/>
          </a:prstGeom>
          <a:solidFill>
            <a:srgbClr val="1E5FB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4095" y="4709159"/>
            <a:ext cx="219456" cy="640080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4991" y="5093207"/>
            <a:ext cx="219456" cy="256032"/>
          </a:xfrm>
          <a:prstGeom prst="rect">
            <a:avLst/>
          </a:prstGeom>
          <a:solidFill>
            <a:srgbClr val="1E5FB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5887" y="4965192"/>
            <a:ext cx="219456" cy="384048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3007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7327" y="2423160"/>
            <a:ext cx="38404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tent:kpi"/>
          <p:cNvSpPr txBox="1"/>
          <p:nvPr/>
        </p:nvSpPr>
        <p:spPr>
          <a:xfrm>
            <a:off x="6507327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4837175"/>
            <a:ext cx="219456" cy="512064"/>
          </a:xfrm>
          <a:prstGeom prst="rect">
            <a:avLst/>
          </a:prstGeom>
          <a:solidFill>
            <a:srgbClr val="1E5FB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8223" y="4709159"/>
            <a:ext cx="219456" cy="640080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29119" y="5093207"/>
            <a:ext cx="219456" cy="256032"/>
          </a:xfrm>
          <a:prstGeom prst="rect">
            <a:avLst/>
          </a:prstGeom>
          <a:solidFill>
            <a:srgbClr val="1E5FB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0015" y="4965192"/>
            <a:ext cx="219456" cy="384048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50911" y="4837175"/>
            <a:ext cx="219456" cy="512064"/>
          </a:xfrm>
          <a:prstGeom prst="rect">
            <a:avLst/>
          </a:prstGeom>
          <a:solidFill>
            <a:srgbClr val="1E5FB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38031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2351" y="2423160"/>
            <a:ext cx="38404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ntent:kpi"/>
          <p:cNvSpPr txBox="1"/>
          <p:nvPr/>
        </p:nvSpPr>
        <p:spPr>
          <a:xfrm>
            <a:off x="9212351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2351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2351" y="4709159"/>
            <a:ext cx="219456" cy="640080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3247" y="5093207"/>
            <a:ext cx="219456" cy="256032"/>
          </a:xfrm>
          <a:prstGeom prst="rect">
            <a:avLst/>
          </a:prstGeom>
          <a:solidFill>
            <a:srgbClr val="1E5FB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34143" y="4965192"/>
            <a:ext cx="219456" cy="384048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45039" y="4837175"/>
            <a:ext cx="219456" cy="512064"/>
          </a:xfrm>
          <a:prstGeom prst="rect">
            <a:avLst/>
          </a:prstGeom>
          <a:solidFill>
            <a:srgbClr val="1E5FB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5935" y="4709159"/>
            <a:ext cx="219456" cy="640080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81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45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81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45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00" fill="hold" nodeType="afterEffect" grpId="0" presetID="6" presetClass="emph" presetSubtype="0">
                            <p:stCondLst>
                              <p:cond delay="1870"/>
                            </p:stCondLst>
                            <p:childTnLst>
                              <p:animScale>
                                <p:cBhvr>
                                  <p:cTn id="261" dur="500" fill="hold"/>
                                  <p:tgtEl>
                                    <p:spTgt spid="8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概率 × 影响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2148840"/>
            <a:ext cx="2194560" cy="896112"/>
          </a:xfrm>
          <a:prstGeom prst="rect">
            <a:avLst/>
          </a:prstGeom>
          <a:solidFill>
            <a:srgbClr val="C9A227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1104" y="2148840"/>
            <a:ext cx="2194560" cy="896112"/>
          </a:xfrm>
          <a:prstGeom prst="rect">
            <a:avLst/>
          </a:prstGeom>
          <a:solidFill>
            <a:srgbClr val="C9A227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0528" y="2148840"/>
            <a:ext cx="2194560" cy="896112"/>
          </a:xfrm>
          <a:prstGeom prst="rect">
            <a:avLst/>
          </a:prstGeom>
          <a:solidFill>
            <a:srgbClr val="C9A227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59952" y="2148840"/>
            <a:ext cx="2194560" cy="896112"/>
          </a:xfrm>
          <a:prstGeom prst="rect">
            <a:avLst/>
          </a:prstGeom>
          <a:solidFill>
            <a:srgbClr val="1E5FBF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3099816"/>
            <a:ext cx="2194560" cy="896112"/>
          </a:xfrm>
          <a:prstGeom prst="rect">
            <a:avLst/>
          </a:prstGeom>
          <a:solidFill>
            <a:srgbClr val="C9A227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3099816"/>
            <a:ext cx="2194560" cy="896112"/>
          </a:xfrm>
          <a:prstGeom prst="rect">
            <a:avLst/>
          </a:prstGeom>
          <a:solidFill>
            <a:srgbClr val="C9A227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0528" y="3099816"/>
            <a:ext cx="2194560" cy="896112"/>
          </a:xfrm>
          <a:prstGeom prst="rect">
            <a:avLst/>
          </a:prstGeom>
          <a:solidFill>
            <a:srgbClr val="1E5FBF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59952" y="3099816"/>
            <a:ext cx="2194560" cy="896112"/>
          </a:xfrm>
          <a:prstGeom prst="rect">
            <a:avLst/>
          </a:prstGeom>
          <a:solidFill>
            <a:srgbClr val="1E5FBF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4050791"/>
            <a:ext cx="2194560" cy="896112"/>
          </a:xfrm>
          <a:prstGeom prst="rect">
            <a:avLst/>
          </a:prstGeom>
          <a:solidFill>
            <a:srgbClr val="C9A227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4050791"/>
            <a:ext cx="2194560" cy="896112"/>
          </a:xfrm>
          <a:prstGeom prst="rect">
            <a:avLst/>
          </a:prstGeom>
          <a:solidFill>
            <a:srgbClr val="1E5FBF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4050791"/>
            <a:ext cx="2194560" cy="896112"/>
          </a:xfrm>
          <a:prstGeom prst="rect">
            <a:avLst/>
          </a:prstGeom>
          <a:solidFill>
            <a:srgbClr val="1E5FBF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4050791"/>
            <a:ext cx="2194560" cy="896112"/>
          </a:xfrm>
          <a:prstGeom prst="rect">
            <a:avLst/>
          </a:prstGeom>
          <a:solidFill>
            <a:srgbClr val="10233F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5001768"/>
            <a:ext cx="2194560" cy="896112"/>
          </a:xfrm>
          <a:prstGeom prst="rect">
            <a:avLst/>
          </a:prstGeom>
          <a:solidFill>
            <a:srgbClr val="1E5FBF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4" y="5001768"/>
            <a:ext cx="2194560" cy="896112"/>
          </a:xfrm>
          <a:prstGeom prst="rect">
            <a:avLst/>
          </a:prstGeom>
          <a:solidFill>
            <a:srgbClr val="1E5FBF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8" y="5001768"/>
            <a:ext cx="2194560" cy="896112"/>
          </a:xfrm>
          <a:prstGeom prst="rect">
            <a:avLst/>
          </a:prstGeom>
          <a:solidFill>
            <a:srgbClr val="10233F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5001768"/>
            <a:ext cx="2194560" cy="896112"/>
          </a:xfrm>
          <a:prstGeom prst="rect">
            <a:avLst/>
          </a:prstGeom>
          <a:solidFill>
            <a:srgbClr val="10233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175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影响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943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概率 →</a:t>
            </a:r>
          </a:p>
        </p:txBody>
      </p:sp>
      <p:sp>
        <p:nvSpPr>
          <p:cNvPr id="24" name="Oval 23"/>
          <p:cNvSpPr/>
          <p:nvPr/>
        </p:nvSpPr>
        <p:spPr>
          <a:xfrm>
            <a:off x="5202936" y="2441448"/>
            <a:ext cx="310896" cy="31089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2936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21945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1 · 风险一</a:t>
            </a:r>
          </a:p>
        </p:txBody>
      </p:sp>
      <p:sp>
        <p:nvSpPr>
          <p:cNvPr id="27" name="Oval 26"/>
          <p:cNvSpPr/>
          <p:nvPr/>
        </p:nvSpPr>
        <p:spPr>
          <a:xfrm>
            <a:off x="7452360" y="3392424"/>
            <a:ext cx="310896" cy="31089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27614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2 · 风险二</a:t>
            </a:r>
          </a:p>
        </p:txBody>
      </p:sp>
      <p:sp>
        <p:nvSpPr>
          <p:cNvPr id="30" name="Oval 29"/>
          <p:cNvSpPr/>
          <p:nvPr/>
        </p:nvSpPr>
        <p:spPr>
          <a:xfrm>
            <a:off x="9701784" y="4343400"/>
            <a:ext cx="310896" cy="31089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4343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3328415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3 · 风险三</a:t>
            </a:r>
          </a:p>
        </p:txBody>
      </p:sp>
      <p:sp>
        <p:nvSpPr>
          <p:cNvPr id="33" name="Oval 32"/>
          <p:cNvSpPr/>
          <p:nvPr/>
        </p:nvSpPr>
        <p:spPr>
          <a:xfrm>
            <a:off x="2953512" y="2441448"/>
            <a:ext cx="310896" cy="31089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512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3895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4 · 风险四</a:t>
            </a:r>
          </a:p>
        </p:txBody>
      </p:sp>
      <p:sp>
        <p:nvSpPr>
          <p:cNvPr id="3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69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81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45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57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69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81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商务蓝调">
  <a:themeElements>
    <a:clrScheme name="SlideForge 商务蓝调">
      <a:dk1>
        <a:srgbClr val="10233F"/>
      </a:dk1>
      <a:lt1>
        <a:srgbClr val="FFFFFF"/>
      </a:lt1>
      <a:dk2>
        <a:srgbClr val="5B6B82"/>
      </a:dk2>
      <a:lt2>
        <a:srgbClr val="F2F5FA"/>
      </a:lt2>
      <a:accent1>
        <a:srgbClr val="1E5FBF"/>
      </a:accent1>
      <a:accent2>
        <a:srgbClr val="C9A227"/>
      </a:accent2>
      <a:accent3>
        <a:srgbClr val="C9A227"/>
      </a:accent3>
      <a:accent4>
        <a:srgbClr val="D7E0EE"/>
      </a:accent4>
      <a:accent5>
        <a:srgbClr val="5B6B82"/>
      </a:accent5>
      <a:accent6>
        <a:srgbClr val="F2F5FA"/>
      </a:accent6>
      <a:hlink>
        <a:srgbClr val="1E5FBF"/>
      </a:hlink>
      <a:folHlink>
        <a:srgbClr val="5B6B8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