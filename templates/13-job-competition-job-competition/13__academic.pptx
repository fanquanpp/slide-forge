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4937760" cy="6858000"/>
          </a:xfrm>
          <a:prstGeom prst="rect">
            <a:avLst/>
          </a:prstGeom>
          <a:solidFill>
            <a:srgbClr val="34508C">
              <a:alpha val="9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2194560"/>
            <a:ext cx="3657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SECTION</a:t>
            </a:r>
          </a:p>
          <a:p>
            <a:pPr algn="l">
              <a:lnSpc>
                <a:spcPct val="105000"/>
              </a:lnSpc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0" y="2286000"/>
            <a:ext cx="6035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Aft>
                <a:spcPts val="400"/>
              </a:spcAft>
            </a:pPr>
            <a:r>
              <a:rPr sz="36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竞聘述职与答辩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4206240"/>
            <a:ext cx="58521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7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竞聘述职与答辩 · 在此输入副标题 / 项目名称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目录  CONTENTS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岗位理解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7983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8023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8023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个人优势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3007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53047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53047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工作设想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38031" y="2377440"/>
            <a:ext cx="2430703" cy="219456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58071" y="2606040"/>
            <a:ext cx="1790623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58071" y="3383280"/>
            <a:ext cx="1790623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承诺与计划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岗位理解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岗位理解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57400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10312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在此输入「岗位理解」的要点一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20240" y="2660904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22960" y="284378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889503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在此输入「岗位理解」的要点二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1920240" y="3447288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822960" y="363016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3675887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在此输入「岗位理解」的要点三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920240" y="4233672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822960" y="4416552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20240" y="4462272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在此输入「岗位理解」的要点四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1920240" y="5020056"/>
            <a:ext cx="9418320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个人优势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2103120"/>
            <a:ext cx="5029200" cy="10972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8872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A · 岗位理解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5080" y="2103120"/>
            <a:ext cx="5029200" cy="384048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55080" y="2103120"/>
            <a:ext cx="5029200" cy="109728"/>
          </a:xfrm>
          <a:prstGeom prst="rect">
            <a:avLst/>
          </a:prstGeom>
          <a:solidFill>
            <a:srgbClr val="B455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20840" y="2377440"/>
            <a:ext cx="42976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B · 个人优势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20840" y="3063240"/>
            <a:ext cx="429768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100"/>
              </a:spcAft>
            </a:pPr>
            <a:r>
              <a:rPr sz="1014">
                <a:solidFill>
                  <a:srgbClr val="B4552D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4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4" name="Oval 13"/>
          <p:cNvSpPr/>
          <p:nvPr/>
        </p:nvSpPr>
        <p:spPr>
          <a:xfrm>
            <a:off x="5711799" y="3703320"/>
            <a:ext cx="768096" cy="768096"/>
          </a:xfrm>
          <a:prstGeom prst="ellipse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11799" y="3703320"/>
            <a:ext cx="768096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VS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METRICS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关键数据一览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43000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527983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848023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48023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8023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8023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33007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553047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53047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53047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3047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938031" y="2103120"/>
            <a:ext cx="2430703" cy="388620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9258071" y="2468879"/>
            <a:ext cx="457200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58071" y="2651760"/>
            <a:ext cx="1790623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58071" y="4590288"/>
            <a:ext cx="17906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指标四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58071" y="5212080"/>
            <a:ext cx="1790623" cy="11658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排期 / 路线图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>
            <a:off x="1234440" y="3063240"/>
            <a:ext cx="9722815" cy="0"/>
          </a:xfrm>
          <a:prstGeom prst="line">
            <a:avLst/>
          </a:prstGeom>
          <a:ln w="2540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Oval 6"/>
          <p:cNvSpPr/>
          <p:nvPr/>
        </p:nvSpPr>
        <p:spPr>
          <a:xfrm>
            <a:off x="1088136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岗位理解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0040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1" name="Oval 10"/>
          <p:cNvSpPr/>
          <p:nvPr/>
        </p:nvSpPr>
        <p:spPr>
          <a:xfrm>
            <a:off x="4329074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09618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60978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个人优势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0978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5" name="Oval 14"/>
          <p:cNvSpPr/>
          <p:nvPr/>
        </p:nvSpPr>
        <p:spPr>
          <a:xfrm>
            <a:off x="7570012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50556" y="2496312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916" y="182880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工作设想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01916" y="221284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19" name="Oval 18"/>
          <p:cNvSpPr/>
          <p:nvPr/>
        </p:nvSpPr>
        <p:spPr>
          <a:xfrm>
            <a:off x="10810951" y="2916936"/>
            <a:ext cx="292608" cy="292608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91495" y="3154680"/>
            <a:ext cx="731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042855" y="3474720"/>
            <a:ext cx="1828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承诺与计划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042855" y="3858768"/>
            <a:ext cx="1828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在此输入说明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PROCESS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工作流程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4128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竞选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6241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16553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717721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陈述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99835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147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34508C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11315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FFFFFF"/>
                </a:solidFill>
                <a:latin typeface="Georgia"/>
                <a:ea typeface="宋体"/>
                <a:cs typeface="宋体"/>
              </a:rPr>
              <a:t>答辩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93429" y="3246120"/>
            <a:ext cx="19202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800" b="0" i="0">
                <a:solidFill>
                  <a:srgbClr val="6B7280"/>
                </a:solidFill>
                <a:latin typeface="Georgia"/>
                <a:ea typeface="宋体"/>
                <a:cs typeface="宋体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03741" y="2743200"/>
            <a:ext cx="2464993" cy="1371600"/>
          </a:xfrm>
          <a:prstGeom prst="roundRect">
            <a:avLst>
              <a:gd name="adj" fmla="val 12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4909" y="3246120"/>
            <a:ext cx="206265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公示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数据图表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7680960" cy="388620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3291840" y="2743200"/>
            <a:ext cx="2560320" cy="2560320"/>
          </a:xfrm>
          <a:prstGeom prst="ellipse">
            <a:avLst/>
          </a:prstGeom>
          <a:solidFill>
            <a:srgbClr val="34508C">
              <a:alpha val="2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114800" y="3566160"/>
            <a:ext cx="914400" cy="914400"/>
          </a:xfrm>
          <a:prstGeom prst="ellipse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566160"/>
            <a:ext cx="914400" cy="9144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5623560"/>
            <a:ext cx="5852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0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图表占位 · 在 PowerPoint 中插入图表替换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0" y="224028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关键结论 / 解读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869680" y="2743200"/>
            <a:ext cx="26517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在此输入要点一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在此输入要点二</a:t>
            </a:r>
          </a:p>
          <a:p>
            <a:pPr>
              <a:lnSpc>
                <a:spcPct val="115000"/>
              </a:lnSpc>
              <a:spcAft>
                <a:spcPts val="1000"/>
              </a:spcAft>
            </a:pPr>
            <a:r>
              <a:rPr sz="875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●  </a:t>
            </a:r>
            <a:r>
              <a:rPr sz="125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在此输入要点三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明细表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48840"/>
            <a:ext cx="10545775" cy="64008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项目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1098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36356" y="227685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备注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788920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>
            <a:off x="822960" y="278892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05840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36356" y="291693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22960" y="3429000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05840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1098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36356" y="3557016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069079"/>
            <a:ext cx="10545775" cy="640080"/>
          </a:xfrm>
          <a:prstGeom prst="rect">
            <a:avLst/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0" name="Connector 19"/>
          <p:cNvCxnSpPr/>
          <p:nvPr/>
        </p:nvCxnSpPr>
        <p:spPr>
          <a:xfrm>
            <a:off x="822960" y="4069079"/>
            <a:ext cx="10545775" cy="0"/>
          </a:xfrm>
          <a:prstGeom prst="line">
            <a:avLst/>
          </a:prstGeom>
          <a:ln w="7620">
            <a:solidFill>
              <a:srgbClr val="DDE3EA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005840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项三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在此填内容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36356" y="4197095"/>
            <a:ext cx="3149498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250" b="0" i="0">
                <a:solidFill>
                  <a:srgbClr val="22252A"/>
                </a:solidFill>
                <a:latin typeface="Segoe UI"/>
                <a:ea typeface="微软雅黑"/>
                <a:cs typeface="微软雅黑"/>
              </a:rPr>
              <a:t>在此填备注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KEY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图集 / 案例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2960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1</a:t>
            </a:r>
          </a:p>
        </p:txBody>
      </p:sp>
      <p:sp>
        <p:nvSpPr>
          <p:cNvPr id="8" name="Rectangle 7"/>
          <p:cNvSpPr/>
          <p:nvPr/>
        </p:nvSpPr>
        <p:spPr>
          <a:xfrm>
            <a:off x="4429658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9658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36356" y="2103120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36356" y="284149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9658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29658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5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36356" y="4183379"/>
            <a:ext cx="3332378" cy="1805940"/>
          </a:xfrm>
          <a:prstGeom prst="rect">
            <a:avLst/>
          </a:prstGeom>
          <a:solidFill>
            <a:srgbClr val="F4F6F8"/>
          </a:solidFill>
          <a:ln w="12700">
            <a:solidFill>
              <a:srgbClr val="DDE3E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36356" y="4921757"/>
            <a:ext cx="3332378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作品 6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27432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96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3520440"/>
            <a:ext cx="566928" cy="54864"/>
          </a:xfrm>
          <a:prstGeom prst="rect">
            <a:avLst/>
          </a:prstGeom>
          <a:solidFill>
            <a:srgbClr val="2225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3703320"/>
            <a:ext cx="8686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工作设想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7863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在此输入本章导语 · 一句话点题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463040"/>
            <a:ext cx="1828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0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651760"/>
            <a:ext cx="96012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26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在此输入一句竞选宣言。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4754880"/>
            <a:ext cx="566928" cy="54864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493776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— 署名 / 出处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团队 / 分工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879549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79549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44898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501487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01487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27778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7778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66836" y="2286000"/>
            <a:ext cx="3301898" cy="3291840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123426" y="2697480"/>
            <a:ext cx="1188720" cy="1188720"/>
          </a:xfrm>
          <a:prstGeom prst="ellipse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23426" y="2697480"/>
            <a:ext cx="118872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1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头像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49716" y="411480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5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姓名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49716" y="4526280"/>
            <a:ext cx="2936138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200" b="0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角色三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HIGHLIGHT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关键指标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194560"/>
            <a:ext cx="45720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72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00%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749039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5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在此输入指标说明 · 占位文本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0" y="2194560"/>
            <a:ext cx="5394960" cy="3566160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09360" y="4370832"/>
            <a:ext cx="438912" cy="1024127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004304" y="3730752"/>
            <a:ext cx="438912" cy="1664207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4114800"/>
            <a:ext cx="438912" cy="1280160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394192" y="3218688"/>
            <a:ext cx="438912" cy="2176272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089136" y="3858768"/>
            <a:ext cx="438912" cy="1536192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784080" y="2962656"/>
            <a:ext cx="438912" cy="2432303"/>
          </a:xfrm>
          <a:prstGeom prst="rect">
            <a:avLst/>
          </a:prstGeom>
          <a:solidFill>
            <a:srgbClr val="B4552D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0479024" y="3602736"/>
            <a:ext cx="438912" cy="1792223"/>
          </a:xfrm>
          <a:prstGeom prst="rect">
            <a:avLst/>
          </a:prstGeom>
          <a:solidFill>
            <a:srgbClr val="34508C">
              <a:alpha val="9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QUOTES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金句墙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23562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79594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16170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4164" y="2103120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80196" y="2212848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16772" y="2743200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在此输入短句三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78992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在此输入短句四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23562" y="4174235"/>
            <a:ext cx="3344570" cy="1815084"/>
          </a:xfrm>
          <a:prstGeom prst="roundRect">
            <a:avLst>
              <a:gd name="adj" fmla="val 6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679594" y="4283964"/>
            <a:ext cx="914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3400" b="1" i="0">
                <a:solidFill>
                  <a:srgbClr val="34508C"/>
                </a:solidFill>
                <a:latin typeface="Georgia"/>
                <a:ea typeface="宋体"/>
                <a:cs typeface="宋体"/>
              </a:rPr>
              <a:t>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716170" y="4814316"/>
            <a:ext cx="2759354" cy="90068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300" b="0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在此输入短句五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66928"/>
            <a:ext cx="7772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1" i="0">
                <a:solidFill>
                  <a:srgbClr val="34508C"/>
                </a:solidFill>
                <a:latin typeface="Segoe UI"/>
                <a:ea typeface="微软雅黑"/>
                <a:cs typeface="微软雅黑"/>
              </a:rPr>
              <a:t>FAQ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常见问题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572768"/>
            <a:ext cx="566928" cy="50292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10312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060704" y="232257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0704" y="232257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91640" y="224942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在此输入问题一？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259689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3063239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060704" y="328269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60704" y="328269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320954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在此输入问题二？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3557015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023360"/>
            <a:ext cx="10424160" cy="841248"/>
          </a:xfrm>
          <a:prstGeom prst="roundRect">
            <a:avLst>
              <a:gd name="adj" fmla="val 5000"/>
            </a:avLst>
          </a:prstGeom>
          <a:solidFill>
            <a:srgbClr val="F4F6F8"/>
          </a:solidFill>
          <a:ln w="9525">
            <a:solidFill>
              <a:srgbClr val="DDE3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060704" y="4242816"/>
            <a:ext cx="402336" cy="402336"/>
          </a:xfrm>
          <a:prstGeom prst="ellipse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60704" y="4242816"/>
            <a:ext cx="402336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Segoe UI"/>
                <a:ea typeface="微软雅黑"/>
                <a:cs typeface="微软雅黑"/>
              </a:rPr>
              <a:t>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4169664"/>
            <a:ext cx="9235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4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在此输入问题三？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4517136"/>
            <a:ext cx="92354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在此输入回答（占位）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475488"/>
            <a:ext cx="2194560" cy="18288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2651760"/>
            <a:ext cx="99669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4800" b="1" i="0">
                <a:solidFill>
                  <a:srgbClr val="22252A"/>
                </a:solidFill>
                <a:latin typeface="Georgia"/>
                <a:ea typeface="宋体"/>
                <a:cs typeface="宋体"/>
              </a:rPr>
              <a:t>谢谢观看</a:t>
            </a:r>
          </a:p>
        </p:txBody>
      </p:sp>
      <p:sp>
        <p:nvSpPr>
          <p:cNvPr id="5" name="Rectangle 4"/>
          <p:cNvSpPr/>
          <p:nvPr/>
        </p:nvSpPr>
        <p:spPr>
          <a:xfrm>
            <a:off x="5684367" y="3931920"/>
            <a:ext cx="822960" cy="91440"/>
          </a:xfrm>
          <a:prstGeom prst="rect">
            <a:avLst/>
          </a:prstGeom>
          <a:solidFill>
            <a:srgbClr val="345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420624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400"/>
              </a:spcAft>
            </a:pPr>
            <a:r>
              <a:rPr sz="16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在此输入联系方式 / 二维码 / 致谢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6291072"/>
            <a:ext cx="10545775" cy="7315"/>
          </a:xfrm>
          <a:prstGeom prst="rect">
            <a:avLst/>
          </a:prstGeom>
          <a:solidFill>
            <a:srgbClr val="DDE3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6355080"/>
            <a:ext cx="6583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900" b="0" i="0">
                <a:solidFill>
                  <a:srgbClr val="6B7280"/>
                </a:solidFill>
                <a:latin typeface="Segoe UI"/>
                <a:ea typeface="微软雅黑"/>
                <a:cs typeface="微软雅黑"/>
              </a:rPr>
              <a:t>学术严谨  ·  Academic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