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示例趋势（右键 → 编辑数据）</c:v>
                </c:pt>
              </c:strCache>
            </c:strRef>
          </c:tx>
          <c:spPr>
            <a:ln w="31750">
              <a:solidFill>
                <a:srgbClr val="4C7CA8"/>
              </a:solidFill>
            </a:ln>
          </c:spPr>
          <c:cat>
            <c:strRef>
              <c:f>Sheet1!$A$2:$A$7</c:f>
              <c:strCache>
                <c:ptCount val="6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  <c:pt idx="3">
                  <c:v>四月</c:v>
                </c:pt>
                <c:pt idx="4">
                  <c:v>五月</c:v>
                </c:pt>
                <c:pt idx="5">
                  <c:v>六月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44</c:v>
                </c:pt>
                <c:pt idx="2">
                  <c:v>40</c:v>
                </c:pt>
                <c:pt idx="3">
                  <c:v>56</c:v>
                </c:pt>
                <c:pt idx="4">
                  <c:v>50</c:v>
                </c:pt>
                <c:pt idx="5">
                  <c:v>66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【页面定位】竞聘述职与答辩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【页面定位】在此输入一句竞选宣言。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【页面定位】SWOT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【页面定位】CHECKLIST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【页面定位】DASHBOARD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【页面定位】RISK MATRIX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竞聘述职与答辩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竞聘述职与答辩 · 在此输入副标题 / 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 advClick="1" advTm="6000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岗位理解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个人优势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工作设想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承诺与计划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0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4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6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8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0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2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4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6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8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岗位理解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flash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岗位理解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在此输入「岗位理解」的要点一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在此输入「岗位理解」的要点二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在此输入「岗位理解」的要点三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在此输入「岗位理解」的要点四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2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4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6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8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2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4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8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0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个人优势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A · 岗位理解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C28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B · 个人优势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285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285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285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7F8FA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0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2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4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8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0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2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4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6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0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2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41" dur="57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6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21" dur="57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4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6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1" dur="57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岗位理解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个人优势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工作设想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承诺与计划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2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4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2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4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4C7CA8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竞选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陈述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4C7CA8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答辩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公示</a:t>
            </a:r>
          </a:p>
        </p:txBody>
      </p:sp>
      <p:sp>
        <p:nvSpPr>
          <p:cNvPr id="1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 advClick="1" advTm="800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2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4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8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0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2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6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188720" y="2331720"/>
          <a:ext cx="585216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0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4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2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4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6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8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2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4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6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conveyor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0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2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4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6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2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6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8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工作设想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flash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4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在此输入一句竞选宣言。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0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SWOT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态势分析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109728" cy="1828800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942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77439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优势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88036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103120"/>
            <a:ext cx="50292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2103120"/>
            <a:ext cx="109728" cy="1828800"/>
          </a:xfrm>
          <a:prstGeom prst="rect">
            <a:avLst/>
          </a:prstGeom>
          <a:solidFill>
            <a:srgbClr val="C28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24942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C2857A"/>
                </a:solidFill>
                <a:latin typeface="Segoe UI"/>
                <a:ea typeface="微软雅黑"/>
                <a:cs typeface="微软雅黑"/>
              </a:rPr>
              <a:t>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377439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劣势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88036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C285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C285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69080"/>
            <a:ext cx="50292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069080"/>
            <a:ext cx="109728" cy="1828800"/>
          </a:xfrm>
          <a:prstGeom prst="rect">
            <a:avLst/>
          </a:prstGeom>
          <a:solidFill>
            <a:srgbClr val="7C8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21538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3434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机会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84632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069080"/>
            <a:ext cx="50292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4069080"/>
            <a:ext cx="109728" cy="1828800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21538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43434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挑战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84632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4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6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8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2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4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6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pan dir="l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4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8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0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2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4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6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8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0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4C7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4C7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4C7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4C7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2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4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6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0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2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4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8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指标看板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2430703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423160"/>
            <a:ext cx="38404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otion:hero"/>
          <p:cNvSpPr txBox="1"/>
          <p:nvPr/>
        </p:nvSpPr>
        <p:spPr>
          <a:xfrm>
            <a:off x="1097280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5093207"/>
            <a:ext cx="219456" cy="256032"/>
          </a:xfrm>
          <a:prstGeom prst="rect">
            <a:avLst/>
          </a:prstGeom>
          <a:solidFill>
            <a:srgbClr val="4C7CA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08176" y="4965192"/>
            <a:ext cx="219456" cy="384048"/>
          </a:xfrm>
          <a:prstGeom prst="rect">
            <a:avLst/>
          </a:prstGeom>
          <a:solidFill>
            <a:srgbClr val="C2857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9072" y="4837175"/>
            <a:ext cx="219456" cy="512064"/>
          </a:xfrm>
          <a:prstGeom prst="rect">
            <a:avLst/>
          </a:prstGeom>
          <a:solidFill>
            <a:srgbClr val="4C7CA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29967" y="4709159"/>
            <a:ext cx="219456" cy="640080"/>
          </a:xfrm>
          <a:prstGeom prst="rect">
            <a:avLst/>
          </a:prstGeom>
          <a:solidFill>
            <a:srgbClr val="C2857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40864" y="5093207"/>
            <a:ext cx="219456" cy="256032"/>
          </a:xfrm>
          <a:prstGeom prst="rect">
            <a:avLst/>
          </a:prstGeom>
          <a:solidFill>
            <a:srgbClr val="4C7CA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27983" y="2148840"/>
            <a:ext cx="2430703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02303" y="2423160"/>
            <a:ext cx="384048" cy="50292"/>
          </a:xfrm>
          <a:prstGeom prst="rect">
            <a:avLst/>
          </a:prstGeom>
          <a:solidFill>
            <a:srgbClr val="C28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ntent:kpi"/>
          <p:cNvSpPr txBox="1"/>
          <p:nvPr/>
        </p:nvSpPr>
        <p:spPr>
          <a:xfrm>
            <a:off x="3802303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C2857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2303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2303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02303" y="4965192"/>
            <a:ext cx="219456" cy="384048"/>
          </a:xfrm>
          <a:prstGeom prst="rect">
            <a:avLst/>
          </a:prstGeom>
          <a:solidFill>
            <a:srgbClr val="C2857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3199" y="4837175"/>
            <a:ext cx="219456" cy="512064"/>
          </a:xfrm>
          <a:prstGeom prst="rect">
            <a:avLst/>
          </a:prstGeom>
          <a:solidFill>
            <a:srgbClr val="4C7CA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24095" y="4709159"/>
            <a:ext cx="219456" cy="640080"/>
          </a:xfrm>
          <a:prstGeom prst="rect">
            <a:avLst/>
          </a:prstGeom>
          <a:solidFill>
            <a:srgbClr val="C2857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34991" y="5093207"/>
            <a:ext cx="219456" cy="256032"/>
          </a:xfrm>
          <a:prstGeom prst="rect">
            <a:avLst/>
          </a:prstGeom>
          <a:solidFill>
            <a:srgbClr val="4C7CA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45887" y="4965192"/>
            <a:ext cx="219456" cy="384048"/>
          </a:xfrm>
          <a:prstGeom prst="rect">
            <a:avLst/>
          </a:prstGeom>
          <a:solidFill>
            <a:srgbClr val="C2857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33007" y="2148840"/>
            <a:ext cx="2430703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07327" y="2423160"/>
            <a:ext cx="38404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ntent:kpi"/>
          <p:cNvSpPr txBox="1"/>
          <p:nvPr/>
        </p:nvSpPr>
        <p:spPr>
          <a:xfrm>
            <a:off x="6507327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7327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7327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07327" y="4837175"/>
            <a:ext cx="219456" cy="512064"/>
          </a:xfrm>
          <a:prstGeom prst="rect">
            <a:avLst/>
          </a:prstGeom>
          <a:solidFill>
            <a:srgbClr val="4C7CA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18223" y="4709159"/>
            <a:ext cx="219456" cy="640080"/>
          </a:xfrm>
          <a:prstGeom prst="rect">
            <a:avLst/>
          </a:prstGeom>
          <a:solidFill>
            <a:srgbClr val="C2857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29119" y="5093207"/>
            <a:ext cx="219456" cy="256032"/>
          </a:xfrm>
          <a:prstGeom prst="rect">
            <a:avLst/>
          </a:prstGeom>
          <a:solidFill>
            <a:srgbClr val="4C7CA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40015" y="4965192"/>
            <a:ext cx="219456" cy="384048"/>
          </a:xfrm>
          <a:prstGeom prst="rect">
            <a:avLst/>
          </a:prstGeom>
          <a:solidFill>
            <a:srgbClr val="C2857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50911" y="4837175"/>
            <a:ext cx="219456" cy="512064"/>
          </a:xfrm>
          <a:prstGeom prst="rect">
            <a:avLst/>
          </a:prstGeom>
          <a:solidFill>
            <a:srgbClr val="4C7CA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938031" y="2148840"/>
            <a:ext cx="2430703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12351" y="2423160"/>
            <a:ext cx="384048" cy="50292"/>
          </a:xfrm>
          <a:prstGeom prst="rect">
            <a:avLst/>
          </a:prstGeom>
          <a:solidFill>
            <a:srgbClr val="C28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ntent:kpi"/>
          <p:cNvSpPr txBox="1"/>
          <p:nvPr/>
        </p:nvSpPr>
        <p:spPr>
          <a:xfrm>
            <a:off x="9212351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C2857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2351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2351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12351" y="4709159"/>
            <a:ext cx="219456" cy="640080"/>
          </a:xfrm>
          <a:prstGeom prst="rect">
            <a:avLst/>
          </a:prstGeom>
          <a:solidFill>
            <a:srgbClr val="C2857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23247" y="5093207"/>
            <a:ext cx="219456" cy="256032"/>
          </a:xfrm>
          <a:prstGeom prst="rect">
            <a:avLst/>
          </a:prstGeom>
          <a:solidFill>
            <a:srgbClr val="4C7CA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834143" y="4965192"/>
            <a:ext cx="219456" cy="384048"/>
          </a:xfrm>
          <a:prstGeom prst="rect">
            <a:avLst/>
          </a:prstGeom>
          <a:solidFill>
            <a:srgbClr val="C2857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45039" y="4837175"/>
            <a:ext cx="219456" cy="512064"/>
          </a:xfrm>
          <a:prstGeom prst="rect">
            <a:avLst/>
          </a:prstGeom>
          <a:solidFill>
            <a:srgbClr val="4C7CA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455935" y="4709159"/>
            <a:ext cx="219456" cy="640080"/>
          </a:xfrm>
          <a:prstGeom prst="rect">
            <a:avLst/>
          </a:prstGeom>
          <a:solidFill>
            <a:srgbClr val="C2857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0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1" dur="81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41" dur="45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6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8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01" dur="81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21" dur="45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4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00" fill="hold" nodeType="afterEffect" grpId="0" presetID="6" presetClass="emph" presetSubtype="0">
                            <p:stCondLst>
                              <p:cond delay="1870"/>
                            </p:stCondLst>
                            <p:childTnLst>
                              <p:animScale>
                                <p:cBhvr>
                                  <p:cTn id="261" dur="500" fill="hold"/>
                                  <p:tgtEl>
                                    <p:spTgt spid="8"/>
                                  </p:tgtEl>
                                </p:cBhvr>
                                <p:by x="108000" y="108000"/>
                              </p:animScale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81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45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RISK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概率 × 影响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2148840"/>
            <a:ext cx="2194560" cy="896112"/>
          </a:xfrm>
          <a:prstGeom prst="rect">
            <a:avLst/>
          </a:prstGeom>
          <a:solidFill>
            <a:srgbClr val="C2857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61104" y="2148840"/>
            <a:ext cx="2194560" cy="896112"/>
          </a:xfrm>
          <a:prstGeom prst="rect">
            <a:avLst/>
          </a:prstGeom>
          <a:solidFill>
            <a:srgbClr val="C2857A">
              <a:alpha val="24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10528" y="2148840"/>
            <a:ext cx="2194560" cy="896112"/>
          </a:xfrm>
          <a:prstGeom prst="rect">
            <a:avLst/>
          </a:prstGeom>
          <a:solidFill>
            <a:srgbClr val="C2857A">
              <a:alpha val="32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59952" y="2148840"/>
            <a:ext cx="2194560" cy="896112"/>
          </a:xfrm>
          <a:prstGeom prst="rect">
            <a:avLst/>
          </a:prstGeom>
          <a:solidFill>
            <a:srgbClr val="4C7CA8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0" y="3099816"/>
            <a:ext cx="2194560" cy="896112"/>
          </a:xfrm>
          <a:prstGeom prst="rect">
            <a:avLst/>
          </a:prstGeom>
          <a:solidFill>
            <a:srgbClr val="C2857A">
              <a:alpha val="24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61104" y="3099816"/>
            <a:ext cx="2194560" cy="896112"/>
          </a:xfrm>
          <a:prstGeom prst="rect">
            <a:avLst/>
          </a:prstGeom>
          <a:solidFill>
            <a:srgbClr val="C2857A">
              <a:alpha val="32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10528" y="3099816"/>
            <a:ext cx="2194560" cy="896112"/>
          </a:xfrm>
          <a:prstGeom prst="rect">
            <a:avLst/>
          </a:prstGeom>
          <a:solidFill>
            <a:srgbClr val="4C7CA8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59952" y="3099816"/>
            <a:ext cx="2194560" cy="896112"/>
          </a:xfrm>
          <a:prstGeom prst="rect">
            <a:avLst/>
          </a:prstGeom>
          <a:solidFill>
            <a:srgbClr val="4C7CA8">
              <a:alpha val="49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0" y="4050791"/>
            <a:ext cx="2194560" cy="896112"/>
          </a:xfrm>
          <a:prstGeom prst="rect">
            <a:avLst/>
          </a:prstGeom>
          <a:solidFill>
            <a:srgbClr val="C2857A">
              <a:alpha val="32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1104" y="4050791"/>
            <a:ext cx="2194560" cy="896112"/>
          </a:xfrm>
          <a:prstGeom prst="rect">
            <a:avLst/>
          </a:prstGeom>
          <a:solidFill>
            <a:srgbClr val="4C7CA8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10528" y="4050791"/>
            <a:ext cx="2194560" cy="896112"/>
          </a:xfrm>
          <a:prstGeom prst="rect">
            <a:avLst/>
          </a:prstGeom>
          <a:solidFill>
            <a:srgbClr val="4C7CA8">
              <a:alpha val="49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59952" y="4050791"/>
            <a:ext cx="2194560" cy="896112"/>
          </a:xfrm>
          <a:prstGeom prst="rect">
            <a:avLst/>
          </a:prstGeom>
          <a:solidFill>
            <a:srgbClr val="22303C">
              <a:alpha val="57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0" y="5001768"/>
            <a:ext cx="2194560" cy="896112"/>
          </a:xfrm>
          <a:prstGeom prst="rect">
            <a:avLst/>
          </a:prstGeom>
          <a:solidFill>
            <a:srgbClr val="4C7CA8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61104" y="5001768"/>
            <a:ext cx="2194560" cy="896112"/>
          </a:xfrm>
          <a:prstGeom prst="rect">
            <a:avLst/>
          </a:prstGeom>
          <a:solidFill>
            <a:srgbClr val="4C7CA8">
              <a:alpha val="49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10528" y="5001768"/>
            <a:ext cx="2194560" cy="896112"/>
          </a:xfrm>
          <a:prstGeom prst="rect">
            <a:avLst/>
          </a:prstGeom>
          <a:solidFill>
            <a:srgbClr val="22303C">
              <a:alpha val="57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59952" y="5001768"/>
            <a:ext cx="2194560" cy="896112"/>
          </a:xfrm>
          <a:prstGeom prst="rect">
            <a:avLst/>
          </a:prstGeom>
          <a:solidFill>
            <a:srgbClr val="22303C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01752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影响 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9436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概率 →</a:t>
            </a:r>
          </a:p>
        </p:txBody>
      </p:sp>
      <p:sp>
        <p:nvSpPr>
          <p:cNvPr id="24" name="Oval 23"/>
          <p:cNvSpPr/>
          <p:nvPr/>
        </p:nvSpPr>
        <p:spPr>
          <a:xfrm>
            <a:off x="5202936" y="2441448"/>
            <a:ext cx="310896" cy="310896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02936" y="2441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219456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1 · 风险一</a:t>
            </a:r>
          </a:p>
        </p:txBody>
      </p:sp>
      <p:sp>
        <p:nvSpPr>
          <p:cNvPr id="27" name="Oval 26"/>
          <p:cNvSpPr/>
          <p:nvPr/>
        </p:nvSpPr>
        <p:spPr>
          <a:xfrm>
            <a:off x="7452360" y="3392424"/>
            <a:ext cx="310896" cy="310896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33924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276148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2 · 风险二</a:t>
            </a:r>
          </a:p>
        </p:txBody>
      </p:sp>
      <p:sp>
        <p:nvSpPr>
          <p:cNvPr id="30" name="Oval 29"/>
          <p:cNvSpPr/>
          <p:nvPr/>
        </p:nvSpPr>
        <p:spPr>
          <a:xfrm>
            <a:off x="9701784" y="4343400"/>
            <a:ext cx="310896" cy="310896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01784" y="434340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3328415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3 · 风险三</a:t>
            </a:r>
          </a:p>
        </p:txBody>
      </p:sp>
      <p:sp>
        <p:nvSpPr>
          <p:cNvPr id="33" name="Oval 32"/>
          <p:cNvSpPr/>
          <p:nvPr/>
        </p:nvSpPr>
        <p:spPr>
          <a:xfrm>
            <a:off x="2953512" y="2441448"/>
            <a:ext cx="310896" cy="310896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53512" y="2441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389534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4 · 风险四</a:t>
            </a:r>
          </a:p>
        </p:txBody>
      </p:sp>
      <p:sp>
        <p:nvSpPr>
          <p:cNvPr id="3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2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4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61" dur="69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81" dur="81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01" dur="45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21" dur="57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1" dur="69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61" dur="81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81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0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lideForge 北欧灰蓝">
  <a:themeElements>
    <a:clrScheme name="SlideForge 北欧灰蓝">
      <a:dk1>
        <a:srgbClr val="22303C"/>
      </a:dk1>
      <a:lt1>
        <a:srgbClr val="F7F8FA"/>
      </a:lt1>
      <a:dk2>
        <a:srgbClr val="7C8A99"/>
      </a:dk2>
      <a:lt2>
        <a:srgbClr val="FFFFFF"/>
      </a:lt2>
      <a:accent1>
        <a:srgbClr val="4C7CA8"/>
      </a:accent1>
      <a:accent2>
        <a:srgbClr val="C2857A"/>
      </a:accent2>
      <a:accent3>
        <a:srgbClr val="C2857A"/>
      </a:accent3>
      <a:accent4>
        <a:srgbClr val="E2E7EC"/>
      </a:accent4>
      <a:accent5>
        <a:srgbClr val="7C8A99"/>
      </a:accent5>
      <a:accent6>
        <a:srgbClr val="FFFFFF"/>
      </a:accent6>
      <a:hlink>
        <a:srgbClr val="4C7CA8"/>
      </a:hlink>
      <a:folHlink>
        <a:srgbClr val="7C8A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