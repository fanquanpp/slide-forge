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示例系列（右键 → 编辑数据）</c:v>
                </c:pt>
              </c:strCache>
            </c:strRef>
          </c:tx>
          <c:spPr>
            <a:solidFill>
              <a:srgbClr val="2F6BFF"/>
            </a:solidFill>
          </c:spPr>
          <c:cat>
            <c:strRef>
              <c:f>Sheet1!$A$2:$A$7</c:f>
              <c:strCache>
                <c:ptCount val="6"/>
                <c:pt idx="0">
                  <c:v>指标一</c:v>
                </c:pt>
                <c:pt idx="1">
                  <c:v>指标二</c:v>
                </c:pt>
                <c:pt idx="2">
                  <c:v>指标三</c:v>
                </c:pt>
                <c:pt idx="3">
                  <c:v>指标四</c:v>
                </c:pt>
                <c:pt idx="4">
                  <c:v>指标五</c:v>
                </c:pt>
                <c:pt idx="5">
                  <c:v>指标六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80</c:v>
                </c:pt>
                <c:pt idx="2">
                  <c:v>45</c:v>
                </c:pt>
                <c:pt idx="3">
                  <c:v>95</c:v>
                </c:pt>
                <c:pt idx="4">
                  <c:v>70</c:v>
                </c:pt>
                <c:pt idx="5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【页面定位】竞聘述职与答辩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【页面定位】在此输入一句竞选宣言。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【页面定位】ROADMAP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【页面定位】CHECKLIST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【页面定位】DASHBOARD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竞聘述职与答辩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竞聘述职与答辩 · 在此输入副标题 / 项目名称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l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在此输入「岗位理解」的要点一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在此输入「岗位理解」的要点二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在此输入「岗位理解」的要点三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在此输入「岗位理解」的要点四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A · 岗位理解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B · 个人优势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69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岗位理解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个人优势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承诺与计划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竞选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陈述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公示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188720" y="2331720"/>
          <a:ext cx="58521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工作设想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6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在此输入一句竞选宣言。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态势分析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2F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4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8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指标看板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38404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motion:hero"/>
          <p:cNvSpPr txBox="1"/>
          <p:nvPr/>
        </p:nvSpPr>
        <p:spPr>
          <a:xfrm>
            <a:off x="1097280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5093207"/>
            <a:ext cx="219456" cy="256032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08176" y="4965192"/>
            <a:ext cx="219456" cy="384048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9072" y="4837175"/>
            <a:ext cx="219456" cy="512064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29967" y="4709159"/>
            <a:ext cx="219456" cy="640080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40864" y="5093207"/>
            <a:ext cx="219456" cy="256032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7983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02303" y="242316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ntent:kpi"/>
          <p:cNvSpPr txBox="1"/>
          <p:nvPr/>
        </p:nvSpPr>
        <p:spPr>
          <a:xfrm>
            <a:off x="3802303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2303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2303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02303" y="4965192"/>
            <a:ext cx="219456" cy="384048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3199" y="4837175"/>
            <a:ext cx="219456" cy="512064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24095" y="4709159"/>
            <a:ext cx="219456" cy="640080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4991" y="5093207"/>
            <a:ext cx="219456" cy="256032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45887" y="4965192"/>
            <a:ext cx="219456" cy="384048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33007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07327" y="2423160"/>
            <a:ext cx="38404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ntent:kpi"/>
          <p:cNvSpPr txBox="1"/>
          <p:nvPr/>
        </p:nvSpPr>
        <p:spPr>
          <a:xfrm>
            <a:off x="6507327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7327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7327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7327" y="4837175"/>
            <a:ext cx="219456" cy="512064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18223" y="4709159"/>
            <a:ext cx="219456" cy="640080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29119" y="5093207"/>
            <a:ext cx="219456" cy="256032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40015" y="4965192"/>
            <a:ext cx="219456" cy="384048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50911" y="4837175"/>
            <a:ext cx="219456" cy="512064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38031" y="2148840"/>
            <a:ext cx="2430703" cy="3566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12351" y="2423160"/>
            <a:ext cx="384048" cy="5029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ntent:kpi"/>
          <p:cNvSpPr txBox="1"/>
          <p:nvPr/>
        </p:nvSpPr>
        <p:spPr>
          <a:xfrm>
            <a:off x="9212351" y="2606040"/>
            <a:ext cx="18820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2351" y="3566160"/>
            <a:ext cx="18820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2351" y="3950208"/>
            <a:ext cx="188206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趋势 / 备注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12351" y="4709159"/>
            <a:ext cx="219456" cy="640080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23247" y="5093207"/>
            <a:ext cx="219456" cy="256032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34143" y="4965192"/>
            <a:ext cx="219456" cy="384048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45039" y="4837175"/>
            <a:ext cx="219456" cy="512064"/>
          </a:xfrm>
          <a:prstGeom prst="rect">
            <a:avLst/>
          </a:prstGeom>
          <a:solidFill>
            <a:srgbClr val="2F6B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455935" y="4709159"/>
            <a:ext cx="219456" cy="640080"/>
          </a:xfrm>
          <a:prstGeom prst="rect">
            <a:avLst/>
          </a:prstGeom>
          <a:solidFill>
            <a:srgbClr val="1A1A1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57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690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570"/>
                                  <p:tgtEl>
                                    <p:spTgt spid="2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690"/>
                                  <p:tgtEl>
                                    <p:spTgt spid="3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00" fill="hold" nodeType="afterEffect" grpId="0" presetID="6" presetClass="emph" presetSubtype="0">
                            <p:stCondLst>
                              <p:cond delay="2110"/>
                            </p:stCondLst>
                            <p:childTnLst>
                              <p:animScale>
                                <p:cBhvr>
                                  <p:cTn id="261" dur="500" fill="hold"/>
                                  <p:tgtEl>
                                    <p:spTgt spid="8"/>
                                  </p:tgtEl>
                                </p:cBhvr>
                                <p:by x="108000" y="108000"/>
                              </p:animScale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2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3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呼吸留白极简">
  <a:themeElements>
    <a:clrScheme name="SlideForge 呼吸留白极简">
      <a:dk1>
        <a:srgbClr val="1A1A1A"/>
      </a:dk1>
      <a:lt1>
        <a:srgbClr val="FBFBFA"/>
      </a:lt1>
      <a:dk2>
        <a:srgbClr val="8A8A8A"/>
      </a:dk2>
      <a:lt2>
        <a:srgbClr val="FFFFFF"/>
      </a:lt2>
      <a:accent1>
        <a:srgbClr val="2F6BFF"/>
      </a:accent1>
      <a:accent2>
        <a:srgbClr val="1A1A1A"/>
      </a:accent2>
      <a:accent3>
        <a:srgbClr val="1A1A1A"/>
      </a:accent3>
      <a:accent4>
        <a:srgbClr val="E6E6E6"/>
      </a:accent4>
      <a:accent5>
        <a:srgbClr val="8A8A8A"/>
      </a:accent5>
      <a:accent6>
        <a:srgbClr val="FFFFFF"/>
      </a:accent6>
      <a:hlink>
        <a:srgbClr val="2F6BFF"/>
      </a:hlink>
      <a:folHlink>
        <a:srgbClr val="8A8A8A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